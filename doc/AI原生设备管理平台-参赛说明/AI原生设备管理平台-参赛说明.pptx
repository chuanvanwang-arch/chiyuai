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background: '#0C0E14', paddingTop: 20, paddingBottom: 20, paddingLeft: 64, paddingRight: 64, fontFamily: 'Microsoft YaHei', flexDirection: 'row', alignItems: 'center', gap: 40 }}&gt;&#10;&#10;  &lt;Box style={{ flex: 1, flexDirection: 'column', justifyContent: 'center' }}&gt;&#10;    &lt;Box style={{ flexDirection: 'row', alignItems: 'center', gap: 12, marginBottom: 26 }}&gt;&#10;      &lt;Box style={{ width: 44, height: 4, background: '#22D3EE' }} /&gt;&#10;      &lt;Text style={{ fontSize: 16, color: '#22D3EE', letterSpacing: 3, fontWeight: 'bold' }}&gt;AI 应用大赛 · 参赛作品说明&lt;/Text&gt;&#10;    &lt;/Box&gt;&#10;&#10;    &lt;Text style={{ fontSize: 62, fontWeight: 'bold', lineHeight: 1.15, color: '#EEF1F6' }}&gt;&#10;      AI 原生&lt;br /&gt;设备管理平台&#10;    &lt;/Text&gt;&#10;&#10;    &lt;Box style={{ width: 96, height: 5, background: 'linear-gradient(135deg,#22D3EE 0%,#34D399 100%)', marginTop: 24, marginBottom: 24 }} /&gt;&#10;&#10;    &lt;Text style={{ fontSize: 23, color: '#A4ABBD', lineHeight: 1.6 }}&gt;&#10;      把老师傅的经验、判断与处置记忆，&lt;br /&gt;变成设备群自己的&lt;span style={{ color: '#34D399', fontWeight: 'bold' }}&gt;认知与闭环&lt;/span&gt;&#10;    &lt;/Text&gt;&#10;&#10;    &lt;Box style={{ flexDirection: 'row', gap: 12, marginTop: 34 }}&gt;&#10;      &lt;Box style={{ paddingTop: 8, paddingBottom: 8, paddingLeft: 18, paddingRight: 18, borderRadius: 999, border: '1px solid #2C3346', background: 'rgba(34,211,238,.12)' }}&gt;&#10;        &lt;Text style={{ fontSize: 15, color: '#22D3EE', fontWeight: 'bold' }}&gt;边缘研判 · 集群归因 · 业务闭环&lt;/Text&gt;&#10;      &lt;/Box&gt;&#10;      &lt;Box style={{ paddingTop: 8, paddingBottom: 8, paddingLeft: 18, paddingRight: 18, borderRadius: 999, border: '1px solid #2C3346' }}&gt;&#10;        &lt;Text style={{ fontSize: 15, color: '#A4ABBD', fontWeight: 'bold' }}&gt;K-M-D 认知决策&lt;/Text&gt;&#10;      &lt;/Box&gt;&#10;    &lt;/Box&gt;&#10;&#10;    &lt;Text style={{ fontSize: 16, color: '#666D80', marginTop: 40, lineHeight: 1.7 }}&gt;&#10;      北京青羽智行科技有限公司 · ChiYu AI&lt;br /&gt;2026 年 9 月&#10;    &lt;/Text&gt;&#10;  &lt;/Box&gt;&#10;&#10;  &lt;Box style={{ width: 470, height: 470, alignItems: 'center', justifyContent: 'center' }}&gt;&#10;    &lt;svg width={470} height={470} viewBox='0 0 470 470'&gt;&#10;      &lt;circle cx='235' cy='235' r='200' fill='none' stroke='#232838' strokeWidth='1' /&gt;&#10;      &lt;circle cx='235' cy='235' r='140' fill='none' stroke='#232838' strokeWidth='1' /&gt;&#10;      &lt;circle cx='235' cy='235' r='80' fill='none' stroke='#2C3346' strokeWidth='1' /&gt;&#10;      &lt;path d='M235 35 L235 435 M35 235 L435 235 M94 94 L376 376 M376 94 L94 376' stroke='#1F2532' strokeWidth='1' /&gt;&#10;      &lt;path d='M235 235 L150 120' stroke='#22D3EE' strokeWidth='2' opacity='0.7' /&gt;&#10;      &lt;path d='M235 235 L360 165' stroke='#22D3EE' strokeWidth='2' opacity='0.5' /&gt;&#10;      &lt;path d='M235 235 L175 350' stroke='#34D399' strokeWidth='2' opacity='0.7' /&gt;&#10;      &lt;path d='M235 235 L345 330' stroke='#34D399' strokeWidth='2' opacity='0.5' /&gt;&#10;      &lt;path d='M150 120 L360 165 L345 330 L175 350 Z' fill='none' stroke='#2C3346' strokeWidth='1.5' /&gt;&#10;      &lt;circle cx='150' cy='120' r='15' fill='#161A24' stroke='#22D3EE' strokeWidth='2' /&gt;&#10;      &lt;circle cx='360' cy='165' r='15' fill='#161A24' stroke='#22D3EE' strokeWidth='2' /&gt;&#10;      &lt;circle cx='175' cy='350' r='15' fill='#161A24' stroke='#34D399' strokeWidth='2' /&gt;&#10;      &lt;circle cx='345' cy='330' r='15' fill='#161A24' stroke='#34D399' strokeWidth='2' /&gt;&#10;      &lt;circle cx='235' cy='235' r='34' fill='#13161E' stroke='#22D3EE' strokeWidth='3' /&gt;&#10;      &lt;text x='235' y='229' fill='#EEF1F6' fontSize='13' fontWeight='bold' textAnchor='middle' fontFamily='Microsoft YaHei'&gt;K-M-D&lt;/text&gt;&#10;      &lt;text x='235' y='248' fill='#666D80' fontSize='10' textAnchor='middle' fontFamily='Microsoft YaHei'&gt;认知支柱&lt;/text&gt;&#10;      &lt;text x='150' y='155' fill='#A4ABBD' fontSize='11' textAnchor='middle' fontFamily='Microsoft YaHei'&gt;边缘智能体&lt;/text&gt;&#10;      &lt;text x='360' y='200' fill='#A4ABBD' fontSize='11' textAnchor='middle' fontFamily='Microsoft YaHei'&gt;边缘智能体&lt;/text&gt;&#10;      &lt;text x='175' y='385' fill='#A4ABBD' fontSize='11' textAnchor='middle' fontFamily='Microsoft YaHei'&gt;工单 / 备件&lt;/text&gt;&#10;      &lt;text x='345' y='365' fill='#A4ABBD' fontSize='11' textAnchor='middle' fontFamily='Microsoft YaHei'&gt;复盘回写&lt;/text&gt;&#10;    &lt;/svg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962025"/>
            <a:ext cx="4191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143000" y="885825"/>
            <a:ext cx="2352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22D3EE"/>
                </a:solidFill>
                <a:latin typeface="Microsoft YaHei"/>
                <a:ea typeface="Microsoft YaHei"/>
              </a:rPr>
              <a:t>AI </a:t>
            </a:r>
            <a:r>
              <a:rPr lang="zh-CN" sz="1200" b="1" spc="225">
                <a:solidFill>
                  <a:srgbClr val="22D3EE"/>
                </a:solidFill>
                <a:latin typeface="Microsoft YaHei"/>
                <a:ea typeface="Microsoft YaHei"/>
              </a:rPr>
              <a:t>应用大赛</a:t>
            </a:r>
            <a:r>
              <a:rPr lang="en-US" sz="1200" b="1" spc="225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200" b="1" spc="225">
                <a:solidFill>
                  <a:srgbClr val="22D3EE"/>
                </a:solidFill>
                <a:latin typeface="Microsoft YaHei"/>
                <a:ea typeface="Microsoft YaHei"/>
              </a:rPr>
              <a:t>参赛作品说明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323975"/>
            <a:ext cx="6115050" cy="1638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650" b="1">
                <a:solidFill>
                  <a:srgbClr val="EEF1F6"/>
                </a:solidFill>
                <a:latin typeface="Microsoft YaHei"/>
                <a:ea typeface="Microsoft YaHei"/>
              </a:rPr>
              <a:t>AI </a:t>
            </a:r>
            <a:r>
              <a:rPr lang="zh-CN" sz="4650" b="1">
                <a:solidFill>
                  <a:srgbClr val="EEF1F6"/>
                </a:solidFill>
                <a:latin typeface="Microsoft YaHei"/>
                <a:ea typeface="Microsoft YaHei"/>
              </a:rPr>
              <a:t>原生</a:t>
            </a:r>
            <a:endParaRPr/>
          </a:p>
          <a:p>
            <a:pPr>
              <a:lnSpc>
                <a:spcPct val="114999"/>
              </a:lnSpc>
            </a:pPr>
            <a:r>
              <a:rPr lang="zh-CN" sz="4650" b="1">
                <a:solidFill>
                  <a:srgbClr val="EEF1F6"/>
                </a:solidFill>
                <a:latin typeface="Microsoft YaHei"/>
                <a:ea typeface="Microsoft YaHei"/>
              </a:rPr>
              <a:t>设备管理平台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190875"/>
            <a:ext cx="914400" cy="47625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34D39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467100"/>
            <a:ext cx="6115050" cy="8477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A4ABBD"/>
                </a:solidFill>
                <a:latin typeface="Microsoft YaHei"/>
                <a:ea typeface="Microsoft YaHei"/>
              </a:rPr>
              <a:t>把老师傅的经验、判断与处置记忆，</a:t>
            </a:r>
            <a:endParaRPr/>
          </a:p>
          <a:p>
            <a:pPr>
              <a:lnSpc>
                <a:spcPct val="160000"/>
              </a:lnSpc>
            </a:pPr>
            <a:r>
              <a:rPr lang="zh-CN" sz="1725">
                <a:solidFill>
                  <a:srgbClr val="A4ABBD"/>
                </a:solidFill>
                <a:latin typeface="Microsoft YaHei"/>
                <a:ea typeface="Microsoft YaHei"/>
              </a:rPr>
              <a:t>变成设备群自己的</a:t>
            </a:r>
            <a:r>
              <a:rPr lang="zh-CN" sz="1725" b="1">
                <a:solidFill>
                  <a:srgbClr val="34D399"/>
                </a:solidFill>
                <a:latin typeface="Microsoft YaHei"/>
                <a:ea typeface="Microsoft YaHei"/>
              </a:rPr>
              <a:t>认知与闭环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638675"/>
            <a:ext cx="2362200" cy="323850"/>
          </a:xfrm>
          <a:prstGeom prst="roundRect">
            <a:avLst>
              <a:gd name="adj" fmla="val 2938235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81050" y="471487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边缘研判</a:t>
            </a:r>
            <a:r>
              <a:rPr lang="en-US" sz="1125" b="1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集群归因</a:t>
            </a:r>
            <a:r>
              <a:rPr lang="en-US" sz="1125" b="1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业务闭环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3086100" y="4638675"/>
            <a:ext cx="1447800" cy="323850"/>
          </a:xfrm>
          <a:prstGeom prst="roundRect">
            <a:avLst>
              <a:gd name="adj" fmla="val 2938235"/>
            </a:avLst>
          </a:prstGeom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257550" y="4714875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4ABBD"/>
                </a:solidFill>
                <a:latin typeface="Microsoft YaHei"/>
                <a:ea typeface="Microsoft YaHei"/>
              </a:rPr>
              <a:t>K-M-D </a:t>
            </a:r>
            <a:r>
              <a:rPr lang="zh-CN" sz="1125" b="1">
                <a:solidFill>
                  <a:srgbClr val="A4ABBD"/>
                </a:solidFill>
                <a:latin typeface="Microsoft YaHei"/>
                <a:ea typeface="Microsoft YaHei"/>
              </a:rPr>
              <a:t>认知决策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5343525"/>
            <a:ext cx="611505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北京青羽智行科技有限公司</a:t>
            </a:r>
            <a:r>
              <a:rPr lang="en-US" sz="1200">
                <a:solidFill>
                  <a:srgbClr val="666D80"/>
                </a:solidFill>
                <a:latin typeface="Microsoft YaHei"/>
                <a:ea typeface="Microsoft YaHei"/>
              </a:rPr>
              <a:t> · ChiYu AI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666D80"/>
                </a:solidFill>
                <a:latin typeface="Microsoft YaHei"/>
                <a:ea typeface="Microsoft YaHei"/>
              </a:rPr>
              <a:t>2026 </a:t>
            </a: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666D80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pic>
        <p:nvPicPr>
          <p:cNvPr id="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105650" y="1190625"/>
            <a:ext cx="4476750" cy="447675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73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22D3EE' }} /&gt;&#10;      &lt;Text style={{ fontSize: 15, color: '#22D3EE', letterSpacing: 2, fontWeight: 'bold' }}&gt;CONTENTS&lt;/Text&gt;&#10;    &lt;/Box&gt;&#10;    &lt;Text style={{ fontSize: 34, fontWeight: 'bold', color: '#EEF1F6' }}&gt;目录&lt;/Text&gt;&#10;  &lt;/Box&gt;&#10;&#10;  &lt;Box style={{ flex: 1, marginTop: 24, flexDirection: 'row', gap: 20 }}&gt;&#10;&#10;    &lt;Box style={{ flex: 1, background: '#161A24', borderRadius: 14, border: '1px solid #232838', borderTop: '3px solid #22D3EE', padding: 26, justifyContent: 'space-between' }}&gt;&#10;      &lt;Box&gt;&#10;        &lt;Text style={{ fontSize: 46, fontWeight: 'bold', color: '#22D3EE', lineHeight: 1 }}&gt;01&lt;/Text&gt;&#10;        &lt;Text style={{ fontSize: 24, fontWeight: 'bold', color: '#EEF1F6', marginTop: 14 }}&gt;技术方案&lt;/Text&gt;&#10;        &lt;Text style={{ fontSize: 16, color: '#A4ABBD', lineHeight: 1.65, marginTop: 12 }}&gt;&#10;          边缘研判—集群归因—业务闭环三层智能体，叠加 K-M-D 认知决策管道与设备记忆体，说明判断如何产生、如何被校验。&#10;        &lt;/Text&gt;&#10;      &lt;/Box&gt;&#10;      &lt;Text style={{ fontSize: 14, color: '#666D80', marginTop: 16 }}&gt;架构 · 管道 · 记忆 · 校验&lt;/Text&gt;&#10;    &lt;/Box&gt;&#10;&#10;    &lt;Box style={{ flex: 1, background: '#161A24', borderRadius: 14, border: '1px solid #232838', borderTop: '3px solid #60A5FA', padding: 26, justifyContent: 'space-between' }}&gt;&#10;      &lt;Box&gt;&#10;        &lt;Text style={{ fontSize: 46, fontWeight: 'bold', color: '#60A5FA', lineHeight: 1 }}&gt;02&lt;/Text&gt;&#10;        &lt;Text style={{ fontSize: 24, fontWeight: 'bold', color: '#EEF1F6', marginTop: 14 }}&gt;应用场景&lt;/Text&gt;&#10;        &lt;Text style={{ fontSize: 16, color: '#A4ABBD', lineHeight: 1.65, marginTop: 12 }}&gt;&#10;          锅炉、泵站、空压机、暖通等设备集群：告警风暴收敛、跨设备连锁根因判别、重复故障根治、新人接手陌生设备。&#10;        &lt;/Text&gt;&#10;      &lt;/Box&gt;&#10;      &lt;Text style={{ fontSize: 14, color: '#666D80', marginTop: 16 }}&gt;集群监控 · 根因 · 处置 · 传承&lt;/Text&gt;&#10;    &lt;/Box&gt;&#10;&#10;    &lt;Box style={{ flex: 1, background: '#161A24', borderRadius: 14, border: '1px solid #232838', borderTop: '3px solid #34D399', padding: 26, justifyContent: 'space-between' }}&gt;&#10;      &lt;Box&gt;&#10;        &lt;Text style={{ fontSize: 46, fontWeight: 'bold', color: '#34D399', lineHeight: 1 }}&gt;03&lt;/Text&gt;&#10;        &lt;Text style={{ fontSize: 24, fontWeight: 'bold', color: '#EEF1F6', marginTop: 14 }}&gt;落地效果&lt;/Text&gt;&#10;        &lt;Text style={{ fontSize: 16, color: '#A4ABBD', lineHeight: 1.65, marginTop: 12 }}&gt;&#10;          平台底座已在 ChiYu AI 销售管理平台生产运行；设备域处于 PoC 准备阶段，验证路径与指标口径如实说明。&#10;        &lt;/Text&gt;&#10;      &lt;/Box&gt;&#10;      &lt;Text style={{ fontSize: 14, color: '#666D80', marginTop: 16 }}&gt;底座已上线 · 设备域 PoC · 指标待实测&lt;/Text&gt;&#10;    &lt;/Box&gt;&#10;&#10;    &lt;Box style={{ flex: 1, background: '#161A24', borderRadius: 14, border: '1px solid #232838', borderTop: '3px solid #FBBF24', padding: 26, justifyContent: 'space-between' }}&gt;&#10;      &lt;Box&gt;&#10;        &lt;Text style={{ fontSize: 46, fontWeight: 'bold', color: '#FBBF24', lineHeight: 1 }}&gt;04&lt;/Text&gt;&#10;        &lt;Text style={{ fontSize: 24, fontWeight: 'bold', color: '#EEF1F6', marginTop: 14 }}&gt;团队介绍&lt;/Text&gt;&#10;        &lt;Text style={{ fontSize: 16, color: '#A4ABBD', lineHeight: 1.65, marginTop: 12 }}&gt;&#10;          北京青羽智行科技有限公司（ChiYu AI），AI 原生架构与行业落地团队，已形成软著与发明专利积累。&#10;        &lt;/Text&gt;&#10;      &lt;/Box&gt;&#10;      &lt;Text style={{ fontSize: 14, color: '#666D80', marginTop: 16 }}&gt;团队 · 知识产权 · 路线图&lt;/Text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AI 原生设备管理平台&lt;/Text&gt;&#10;    &lt;Text style={{ fontSize: 14, color: '#666D80' }}&gt;02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962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09600" y="1362075"/>
            <a:ext cx="2600325" cy="4953000"/>
          </a:xfrm>
          <a:prstGeom prst="roundRect">
            <a:avLst>
              <a:gd name="adj" fmla="val 5128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609600" y="1362075"/>
            <a:ext cx="2600325" cy="4953000"/>
          </a:xfrm>
          <a:custGeom>
            <a:pathLst>
              <a:path w="273" h="520">
                <a:moveTo>
                  <a:pt x="260" y="0"/>
                </a:moveTo>
                <a:cubicBezTo>
                  <a:pt x="266" y="0"/>
                  <a:pt x="271" y="5"/>
                  <a:pt x="273" y="11"/>
                </a:cubicBezTo>
                <a:cubicBezTo>
                  <a:pt x="271" y="6"/>
                  <a:pt x="267" y="3"/>
                  <a:pt x="262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57250" y="1609725"/>
            <a:ext cx="21050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57250" y="227647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EF1F6"/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57250" y="2667000"/>
            <a:ext cx="2105025" cy="1514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边缘研判—集群归因—业务闭环三层智能体，叠加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K-M-D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认知决策管道与设备记忆体，说明判断如何产生、如何被校验。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57250" y="5876925"/>
            <a:ext cx="2105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架构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管道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记忆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校验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3400425" y="1362075"/>
            <a:ext cx="2600325" cy="4953000"/>
          </a:xfrm>
          <a:prstGeom prst="roundRect">
            <a:avLst>
              <a:gd name="adj" fmla="val 5128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3400425" y="1362075"/>
            <a:ext cx="2600325" cy="4953000"/>
          </a:xfrm>
          <a:custGeom>
            <a:pathLst>
              <a:path w="273" h="520">
                <a:moveTo>
                  <a:pt x="260" y="0"/>
                </a:moveTo>
                <a:cubicBezTo>
                  <a:pt x="266" y="0"/>
                  <a:pt x="271" y="5"/>
                  <a:pt x="273" y="11"/>
                </a:cubicBezTo>
                <a:cubicBezTo>
                  <a:pt x="271" y="6"/>
                  <a:pt x="267" y="3"/>
                  <a:pt x="262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60A5FA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3648075" y="1609725"/>
            <a:ext cx="21050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60A5FA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3648075" y="227647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EF1F6"/>
                </a:solidFill>
                <a:latin typeface="Microsoft YaHei"/>
                <a:ea typeface="Microsoft YaHei"/>
              </a:rPr>
              <a:t>应用场景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648075" y="2667000"/>
            <a:ext cx="2105025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锅炉、泵站、空压机、暖通等设备集群：告警风暴收敛、跨设备连锁根因判别、重复故障根治、新人接手陌生设备。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3648075" y="5876925"/>
            <a:ext cx="2105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集群监控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根因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处置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传承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191250" y="1362075"/>
            <a:ext cx="2600325" cy="4953000"/>
          </a:xfrm>
          <a:prstGeom prst="roundRect">
            <a:avLst>
              <a:gd name="adj" fmla="val 5128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6191250" y="1362075"/>
            <a:ext cx="2600325" cy="4953000"/>
          </a:xfrm>
          <a:custGeom>
            <a:pathLst>
              <a:path w="273" h="520">
                <a:moveTo>
                  <a:pt x="260" y="0"/>
                </a:moveTo>
                <a:cubicBezTo>
                  <a:pt x="266" y="0"/>
                  <a:pt x="271" y="5"/>
                  <a:pt x="273" y="11"/>
                </a:cubicBezTo>
                <a:cubicBezTo>
                  <a:pt x="271" y="6"/>
                  <a:pt x="267" y="3"/>
                  <a:pt x="262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438900" y="1609725"/>
            <a:ext cx="21050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34D399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438900" y="227647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EF1F6"/>
                </a:solidFill>
                <a:latin typeface="Microsoft YaHei"/>
                <a:ea typeface="Microsoft YaHei"/>
              </a:rPr>
              <a:t>落地效果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438900" y="2667000"/>
            <a:ext cx="2105025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平台底座已在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ChiYu AI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销售管理平台生产运行；设备域处于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PoC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准备阶段，验证路径与指标口径如实说明。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438900" y="5715000"/>
            <a:ext cx="210502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底座已上线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设备域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PoC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指标待实测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8982075" y="1362075"/>
            <a:ext cx="2600325" cy="4953000"/>
          </a:xfrm>
          <a:prstGeom prst="roundRect">
            <a:avLst>
              <a:gd name="adj" fmla="val 5128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197" name=""/>
          <p:cNvSpPr/>
          <p:nvPr/>
        </p:nvSpPr>
        <p:spPr>
          <a:xfrm rot="0" flipH="0" flipV="0">
            <a:off x="8982075" y="1362075"/>
            <a:ext cx="2600325" cy="4953000"/>
          </a:xfrm>
          <a:custGeom>
            <a:pathLst>
              <a:path w="273" h="520">
                <a:moveTo>
                  <a:pt x="260" y="0"/>
                </a:moveTo>
                <a:cubicBezTo>
                  <a:pt x="266" y="0"/>
                  <a:pt x="271" y="5"/>
                  <a:pt x="273" y="11"/>
                </a:cubicBezTo>
                <a:cubicBezTo>
                  <a:pt x="271" y="6"/>
                  <a:pt x="267" y="3"/>
                  <a:pt x="262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FBBF24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9229725" y="1609725"/>
            <a:ext cx="21050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BB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9229725" y="227647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EF1F6"/>
                </a:solidFill>
                <a:latin typeface="Microsoft YaHei"/>
                <a:ea typeface="Microsoft YaHei"/>
              </a:rPr>
              <a:t>团队介绍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229725" y="2667000"/>
            <a:ext cx="2105025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北京青羽智行科技有限公司（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ChiYu AI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），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AI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原生架构与行业落地团队，已形成软著与发明专利积累。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229725" y="5876925"/>
            <a:ext cx="2105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团队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知识产权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路线图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AI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原生设备管理平台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05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34D399' }} /&gt;&#10;      &lt;Text style={{ fontSize: 15, color: '#34D399', letterSpacing: 2, fontWeight: 'bold' }}&gt;THE POSITION&lt;/Text&gt;&#10;    &lt;/Box&gt;&#10;    &lt;Text style={{ fontSize: 34, fontWeight: 'bold', color: '#EEF1F6' }}&gt;立论：数据之后，谁来判断&lt;/Text&gt;&#10;  &lt;/Box&gt;&#10;&#10;  &lt;Box style={{ flex: 1, marginTop: 20, flexDirection: 'row', alignItems: 'center', gap: 56 }}&gt;&#10;&#10;    &lt;Box style={{ width: 430, alignItems: 'center', justifyContent: 'center' }}&gt;&#10;      &lt;svg width={430} height={330} viewBox='0 0 430 330'&gt;&#10;        &lt;text x='40' y='150' fill='#4B5468' fontSize='96' fontWeight='bold' textAnchor='middle' fontFamily='Arial'&gt;N&lt;/text&gt;&#10;        &lt;path d='M90 118 L180 118' stroke='#34D399' strokeWidth='6' strokeLinecap='round' /&gt;&#10;        &lt;path d='M160 100 L186 118 L160 136' fill='none' stroke='#34D399' strokeWidth='6' strokeLinecap='round' /&gt;&#10;        &lt;text x='270' y='150' fill='#34D399' fontSize='132' fontWeight='bold' textAnchor='middle' fontFamily='Arial'&gt;1&lt;/text&gt;&#10;        &lt;text x='60' y='196' fill='#666D80' fontSize='18' textAnchor='middle' fontFamily='Microsoft YaHei'&gt;条并发告警&lt;/text&gt;&#10;        &lt;text x='272' y='196' fill='#34D399' fontSize='18' fontWeight='bold' textAnchor='middle' fontFamily='Microsoft YaHei'&gt;条根因&lt;/text&gt;&#10;        &lt;rect x='40' y='240' width='350' height='56' rx='10' fill='#161A24' stroke='#2C3346' /&gt;&#10;        &lt;text x='215' y='274' fill='#A4ABBD' fontSize='17' textAnchor='middle' fontFamily='Microsoft YaHei'&gt;收敛发生在边缘过滤与集群归因之后&lt;/text&gt;&#10;      &lt;/svg&gt;&#10;    &lt;/Box&gt;&#10;&#10;    &lt;Box style={{ flex: 1, justifyContent: 'center' }}&gt;&#10;      &lt;Text style={{ fontSize: 26, fontWeight: 'bold', color: '#EEF1F6', lineHeight: 1.55 }}&gt;&#10;        连接与可视化&lt;span style={{ color: '#22D3EE' }}&gt;已被解决&lt;/span&gt;，&lt;br /&gt;判断与闭环&lt;span style={{ color: '#34D399' }}&gt;仍是空白&lt;/span&gt;。&#10;      &lt;/Text&gt;&#10;&#10;      &lt;Box style={{ marginTop: 28, paddingLeft: 20, borderLeft: '3px solid #232838' }}&gt;&#10;        &lt;Text style={{ fontSize: 18, color: '#A4ABBD', lineHeight: 1.75 }}&gt;&#10;          工业互联网平台把设备上云、时序存储、组态看板、阈值告警做到了成熟。告警出来之后——哪一条是源头、该怎么处置、下次怎么更快——依然靠人。&#10;        &lt;/Text&gt;&#10;      &lt;/Box&gt;&#10;&#10;      &lt;Box style={{ marginTop: 24, flexDirection: 'column', gap: 14 }}&gt;&#10;        &lt;Box style={{ flexDirection: 'row', alignItems: 'flex-start', gap: 12 }}&gt;&#10;          &lt;Box style={{ width: 10, height: 10, borderRadius: 5, background: '#22D3EE', marginTop: 7 }} /&gt;&#10;          &lt;Text style={{ fontSize: 18, color: '#EEF1F6', lineHeight: 1.6, flex: 1 }}&gt;把经验变成可检索的记忆——设备记忆体&lt;/Text&gt;&#10;        &lt;/Box&gt;&#10;        &lt;Box style={{ flexDirection: 'row', alignItems: 'flex-start', gap: 12 }}&gt;&#10;          &lt;Box style={{ width: 10, height: 10, borderRadius: 5, background: '#34D399', marginTop: 7 }} /&gt;&#10;          &lt;Text style={{ fontSize: 18, color: '#EEF1F6', lineHeight: 1.6, flex: 1 }}&gt;把判断变成可解释的决策——九尺子校验&lt;/Text&gt;&#10;        &lt;/Box&gt;&#10;        &lt;Box style={{ flexDirection: 'row', alignItems: 'flex-start', gap: 12 }}&gt;&#10;          &lt;Box style={{ width: 10, height: 10, borderRadius: 5, background: '#FBBF24', marginTop: 7 }} /&gt;&#10;          &lt;Text style={{ fontSize: 18, color: '#EEF1F6', lineHeight: 1.6, flex: 1 }}&gt;把处置变成可复用的 SOP——复盘回写&lt;/Text&gt;&#10;        &lt;/Box&gt;&#10;      &lt;/Box&gt;&#10;&#10;      &lt;Text style={{ fontSize: 15, color: '#666D80', marginTop: 26, lineHeight: 1.6 }}&gt;&#10;        我们不做连接层的重复建设：协议、组态、生态成熟度不如存量平台，选择集成而非重建。&#10;      &lt;/Text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AI 原生设备管理平台&lt;/Text&gt;&#10;    &lt;Text style={{ fontSize: 14, color: '#666D80' }}&gt;03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34D399"/>
                </a:solidFill>
                <a:latin typeface="Microsoft YaHei"/>
                <a:ea typeface="Microsoft YaHei"/>
              </a:rPr>
              <a:t>THE POSITION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立论：数据之后，谁来判断</a:t>
            </a:r>
            <a:endParaRPr/>
          </a:p>
        </p:txBody>
      </p:sp>
      <p:pic>
        <p:nvPicPr>
          <p:cNvPr id="2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2219325"/>
            <a:ext cx="4095750" cy="3143250"/>
          </a:xfrm>
          <a:prstGeom prst="rect">
            <a:avLst/>
          </a:prstGeom>
          <a:ln/>
        </p:spPr>
      </p:pic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238750" y="1828800"/>
            <a:ext cx="634365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950" b="1">
                <a:solidFill>
                  <a:srgbClr val="EEF1F6"/>
                </a:solidFill>
                <a:latin typeface="Microsoft YaHei"/>
                <a:ea typeface="Microsoft YaHei"/>
              </a:rPr>
              <a:t>连接与可视化</a:t>
            </a:r>
            <a:r>
              <a:rPr lang="zh-CN" sz="1950" b="1">
                <a:solidFill>
                  <a:srgbClr val="22D3EE"/>
                </a:solidFill>
                <a:latin typeface="Microsoft YaHei"/>
                <a:ea typeface="Microsoft YaHei"/>
              </a:rPr>
              <a:t>已被解决</a:t>
            </a:r>
            <a:r>
              <a:rPr lang="zh-CN" sz="1950" b="1">
                <a:solidFill>
                  <a:srgbClr val="EEF1F6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55000"/>
              </a:lnSpc>
            </a:pPr>
            <a:r>
              <a:rPr lang="zh-CN" sz="1950" b="1">
                <a:solidFill>
                  <a:srgbClr val="EEF1F6"/>
                </a:solidFill>
                <a:latin typeface="Microsoft YaHei"/>
                <a:ea typeface="Microsoft YaHei"/>
              </a:rPr>
              <a:t>判断与闭环</a:t>
            </a:r>
            <a:r>
              <a:rPr lang="zh-CN" sz="1950" b="1">
                <a:solidFill>
                  <a:srgbClr val="34D399"/>
                </a:solidFill>
                <a:latin typeface="Microsoft YaHei"/>
                <a:ea typeface="Microsoft YaHei"/>
              </a:rPr>
              <a:t>仍是空白</a:t>
            </a:r>
            <a:r>
              <a:rPr lang="zh-CN" sz="1950" b="1">
                <a:solidFill>
                  <a:srgbClr val="EEF1F6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5238750" y="3019425"/>
            <a:ext cx="6372225" cy="723900"/>
          </a:xfrm>
          <a:custGeom>
            <a:pathLst>
              <a:path w="669" h="76">
                <a:moveTo>
                  <a:pt x="0" y="0"/>
                </a:moveTo>
                <a:lnTo>
                  <a:pt x="3" y="0"/>
                </a:lnTo>
                <a:lnTo>
                  <a:pt x="3" y="76"/>
                </a:lnTo>
                <a:lnTo>
                  <a:pt x="0" y="76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457825" y="3019425"/>
            <a:ext cx="6124575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A4ABBD"/>
                </a:solidFill>
                <a:latin typeface="Microsoft YaHei"/>
                <a:ea typeface="Microsoft YaHei"/>
              </a:rPr>
              <a:t>工业互联网平台把设备上云、时序存储、组态看板、阈值告警做到了成熟。告警出来之后——哪一条是源头、该怎么处置、下次怎么更快——依然靠人。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238750" y="40386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448300" y="3971925"/>
            <a:ext cx="61341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EF1F6"/>
                </a:solidFill>
                <a:latin typeface="Microsoft YaHei"/>
                <a:ea typeface="Microsoft YaHei"/>
              </a:rPr>
              <a:t>把经验变成可检索的记忆——设备记忆体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5238750" y="4505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448300" y="4438650"/>
            <a:ext cx="61341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EF1F6"/>
                </a:solidFill>
                <a:latin typeface="Microsoft YaHei"/>
                <a:ea typeface="Microsoft YaHei"/>
              </a:rPr>
              <a:t>把判断变成可解释的决策——九尺子校验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5238750" y="4972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448300" y="4905375"/>
            <a:ext cx="61341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EF1F6"/>
                </a:solidFill>
                <a:latin typeface="Microsoft YaHei"/>
                <a:ea typeface="Microsoft YaHei"/>
              </a:rPr>
              <a:t>把处置变成可复用的</a:t>
            </a:r>
            <a:r>
              <a:rPr lang="en-US" sz="1350">
                <a:solidFill>
                  <a:srgbClr val="EEF1F6"/>
                </a:solidFill>
                <a:latin typeface="Microsoft YaHei"/>
                <a:ea typeface="Microsoft YaHei"/>
              </a:rPr>
              <a:t> SOP——</a:t>
            </a:r>
            <a:r>
              <a:rPr lang="zh-CN" sz="1350">
                <a:solidFill>
                  <a:srgbClr val="EEF1F6"/>
                </a:solidFill>
                <a:latin typeface="Microsoft YaHei"/>
                <a:ea typeface="Microsoft YaHei"/>
              </a:rPr>
              <a:t>复盘回写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238750" y="5486400"/>
            <a:ext cx="63436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我们不做连接层的重复建设：协议、组态、生态成熟度不如存量平台，选择集成而非重建。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AI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原生设备管理平台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24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FBBF24' }} /&gt;&#10;      &lt;Text style={{ fontSize: 15, color: '#FBBF24', letterSpacing: 2, fontWeight: 'bold' }}&gt;PAIN POINTS&lt;/Text&gt;&#10;    &lt;/Box&gt;&#10;    &lt;Text style={{ fontSize: 34, fontWeight: 'bold', color: '#EEF1F6' }}&gt;四个痛点，都发生在告警之后&lt;/Text&gt;&#10;  &lt;/Box&gt;&#10;&#10;  &lt;Box style={{ flex: 1, marginTop: 20, flexDirection: 'column', gap: 18 }}&gt;&#10;&#10;    &lt;Box style={{ flex: 1, flexDirection: 'row', gap: 18 }}&gt;&#10;      &lt;Box style={{ flex: 1, background: '#161A24', borderRadius: 14, border: '1px solid #232838', borderTop: '3px solid #FBBF24', padding: 24, justifyContent: 'space-between' }}&gt;&#10;        &lt;Box&gt;&#10;          &lt;Text style={{ fontSize: 24, fontWeight: 'bold', color: '#EEF1F6' }}&gt;告警风暴&lt;/Text&gt;&#10;          &lt;Text style={{ fontSize: 17, color: '#A4ABBD', lineHeight: 1.7, marginTop: 12 }}&gt;&#10;            几十上百台异构设备并发告警，阈值体系各自为政。运维真正缺的不是更多告警，而是&quot;哪一条才是源头&quot;。&#10;          &lt;/Text&gt;&#10;        &lt;/Box&gt;&#10;        &lt;Text style={{ fontSize: 15, color: '#FBBF24', marginTop: 14, fontWeight: 'bold' }}&gt;后果：真正故障被噪音淹没&lt;/Text&gt;&#10;      &lt;/Box&gt;&#10;&#10;      &lt;Box style={{ flex: 1, background: '#161A24', borderRadius: 14, border: '1px solid #232838', borderTop: '3px solid #F87171', padding: 24, justifyContent: 'space-between' }}&gt;&#10;        &lt;Box&gt;&#10;          &lt;Text style={{ fontSize: 24, fontWeight: 'bold', color: '#EEF1F6' }}&gt;连锁传导&lt;/Text&gt;&#10;          &lt;Text style={{ fontSize: 17, color: '#A4ABBD', lineHeight: 1.7, marginTop: 12 }}&gt;&#10;            A 设备异常引发 B、C 连锁告警。只看单机的系统必然误判源头，抢修方向错一次的代价远高于误报本身。&#10;          &lt;/Text&gt;&#10;        &lt;/Box&gt;&#10;        &lt;Text style={{ fontSize: 15, color: '#F87171', marginTop: 14, fontWeight: 'bold' }}&gt;后果：抢修人力投向次生告警&lt;/Text&gt;&#10;      &lt;/Box&gt;&#10;    &lt;/Box&gt;&#10;&#10;    &lt;Box style={{ flex: 1, flexDirection: 'row', gap: 18 }}&gt;&#10;      &lt;Box style={{ flex: 1, background: '#161A24', borderRadius: 14, border: '1px solid #232838', borderTop: '3px solid #60A5FA', padding: 24, justifyContent: 'space-between' }}&gt;&#10;        &lt;Box&gt;&#10;          &lt;Text style={{ fontSize: 24, fontWeight: 'bold', color: '#EEF1F6' }}&gt;经验不可继承&lt;/Text&gt;&#10;          &lt;Text style={{ fontSize: 17, color: '#A4ABBD', lineHeight: 1.7, marginTop: 12 }}&gt;&#10;            老师傅的判别直觉留在人脑里，工单只记&quot;已处理&quot;。人员流动一次，组织的设备记忆就归零一次。&#10;          &lt;/Text&gt;&#10;        &lt;/Box&gt;&#10;        &lt;Text style={{ fontSize: 15, color: '#60A5FA', marginTop: 14, fontWeight: 'bold' }}&gt;后果：同类故障反复从头判断&lt;/Text&gt;&#10;      &lt;/Box&gt;&#10;&#10;      &lt;Box style={{ flex: 1, background: '#161A24', borderRadius: 14, border: '1px solid #232838', borderTop: '3px solid #A78BFA', padding: 24, justifyContent: 'space-between' }}&gt;&#10;        &lt;Box&gt;&#10;          &lt;Text style={{ fontSize: 24, fontWeight: 'bold', color: '#EEF1F6' }}&gt;闭环断裂&lt;/Text&gt;&#10;          &lt;Text style={{ fontSize: 17, color: '#A4ABBD', lineHeight: 1.7, marginTop: 12 }}&gt;&#10;            告警到工单靠人转，备件是否齐套要另外查，处置结果很少回到知识库。看见之后没有下一步动作。&#10;          &lt;/Text&gt;&#10;        &lt;/Box&gt;&#10;        &lt;Text style={{ fontSize: 15, color: '#A78BFA', marginTop: 14, fontWeight: 'bold' }}&gt;后果：判断无法沉淀为资产&lt;/Text&gt;&#10;      &lt;/Box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AI 原生设备管理平台&lt;/Text&gt;&#10;    &lt;Text style={{ fontSize: 14, color: '#666D80' }}&gt;04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1181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FBBF24"/>
                </a:solidFill>
                <a:latin typeface="Microsoft YaHei"/>
                <a:ea typeface="Microsoft YaHei"/>
              </a:rPr>
              <a:t>PAIN POINTS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四个痛点，都发生在告警之后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09600" y="1323975"/>
            <a:ext cx="5400675" cy="2409825"/>
          </a:xfrm>
          <a:prstGeom prst="roundRect">
            <a:avLst>
              <a:gd name="adj" fmla="val 5534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609600" y="1323975"/>
            <a:ext cx="5400675" cy="2409825"/>
          </a:xfrm>
          <a:custGeom>
            <a:pathLst>
              <a:path w="567" h="253">
                <a:moveTo>
                  <a:pt x="554" y="0"/>
                </a:moveTo>
                <a:cubicBezTo>
                  <a:pt x="560" y="0"/>
                  <a:pt x="565" y="5"/>
                  <a:pt x="567" y="11"/>
                </a:cubicBezTo>
                <a:cubicBezTo>
                  <a:pt x="565" y="6"/>
                  <a:pt x="561" y="3"/>
                  <a:pt x="556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553" y="0"/>
                </a:lnTo>
                <a:close/>
              </a:path>
            </a:pathLst>
          </a:custGeom>
          <a:solidFill>
            <a:srgbClr val="FBBF24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38200" y="1552575"/>
            <a:ext cx="4943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EF1F6"/>
                </a:solidFill>
                <a:latin typeface="Microsoft YaHei"/>
                <a:ea typeface="Microsoft YaHei"/>
              </a:rPr>
              <a:t>告警风暴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38200" y="1943100"/>
            <a:ext cx="49434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几十上百台异构设备并发告警，阈值体系各自为政。运维真正缺的不是更多告警，而是</a:t>
            </a:r>
            <a:r>
              <a:rPr lang="en-US" sz="1275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哪一条才是源头</a:t>
            </a:r>
            <a:r>
              <a:rPr lang="en-US" sz="1275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38200" y="3305175"/>
            <a:ext cx="4943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BF24"/>
                </a:solidFill>
                <a:latin typeface="Microsoft YaHei"/>
                <a:ea typeface="Microsoft YaHei"/>
              </a:rPr>
              <a:t>后果：真正故障被噪音淹没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181725" y="1323975"/>
            <a:ext cx="5400675" cy="2409825"/>
          </a:xfrm>
          <a:prstGeom prst="roundRect">
            <a:avLst>
              <a:gd name="adj" fmla="val 5534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6181725" y="1323975"/>
            <a:ext cx="5400675" cy="2409825"/>
          </a:xfrm>
          <a:custGeom>
            <a:pathLst>
              <a:path w="567" h="253">
                <a:moveTo>
                  <a:pt x="554" y="0"/>
                </a:moveTo>
                <a:cubicBezTo>
                  <a:pt x="560" y="0"/>
                  <a:pt x="565" y="5"/>
                  <a:pt x="567" y="11"/>
                </a:cubicBezTo>
                <a:cubicBezTo>
                  <a:pt x="565" y="6"/>
                  <a:pt x="561" y="3"/>
                  <a:pt x="556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553" y="0"/>
                </a:lnTo>
                <a:close/>
              </a:path>
            </a:pathLst>
          </a:custGeom>
          <a:solidFill>
            <a:srgbClr val="F87171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410325" y="1552575"/>
            <a:ext cx="4943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EF1F6"/>
                </a:solidFill>
                <a:latin typeface="Microsoft YaHei"/>
                <a:ea typeface="Microsoft YaHei"/>
              </a:rPr>
              <a:t>连锁传导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410325" y="1943100"/>
            <a:ext cx="49434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75">
                <a:solidFill>
                  <a:srgbClr val="A4ABBD"/>
                </a:solidFill>
                <a:latin typeface="Microsoft YaHei"/>
                <a:ea typeface="Microsoft YaHei"/>
              </a:rPr>
              <a:t>A 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设备异常引发</a:t>
            </a:r>
            <a:r>
              <a:rPr lang="en-US" sz="1275">
                <a:solidFill>
                  <a:srgbClr val="A4ABBD"/>
                </a:solidFill>
                <a:latin typeface="Microsoft YaHei"/>
                <a:ea typeface="Microsoft YaHei"/>
              </a:rPr>
              <a:t> B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A4ABBD"/>
                </a:solidFill>
                <a:latin typeface="Microsoft YaHei"/>
                <a:ea typeface="Microsoft YaHei"/>
              </a:rPr>
              <a:t>C 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连锁告警。只看单机的系统必然误判源头，抢修方向错一次的代价远高于误报本身。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410325" y="3305175"/>
            <a:ext cx="4943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87171"/>
                </a:solidFill>
                <a:latin typeface="Microsoft YaHei"/>
                <a:ea typeface="Microsoft YaHei"/>
              </a:rPr>
              <a:t>后果：抢修人力投向次生告警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3905250"/>
            <a:ext cx="5400675" cy="2409825"/>
          </a:xfrm>
          <a:prstGeom prst="roundRect">
            <a:avLst>
              <a:gd name="adj" fmla="val 5534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609600" y="3905250"/>
            <a:ext cx="5400675" cy="2409825"/>
          </a:xfrm>
          <a:custGeom>
            <a:pathLst>
              <a:path w="567" h="253">
                <a:moveTo>
                  <a:pt x="554" y="0"/>
                </a:moveTo>
                <a:cubicBezTo>
                  <a:pt x="560" y="0"/>
                  <a:pt x="565" y="5"/>
                  <a:pt x="567" y="11"/>
                </a:cubicBezTo>
                <a:cubicBezTo>
                  <a:pt x="565" y="6"/>
                  <a:pt x="561" y="3"/>
                  <a:pt x="556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553" y="0"/>
                </a:lnTo>
                <a:close/>
              </a:path>
            </a:pathLst>
          </a:custGeom>
          <a:solidFill>
            <a:srgbClr val="60A5FA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38200" y="4133850"/>
            <a:ext cx="4943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EF1F6"/>
                </a:solidFill>
                <a:latin typeface="Microsoft YaHei"/>
                <a:ea typeface="Microsoft YaHei"/>
              </a:rPr>
              <a:t>经验不可继承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38200" y="4524375"/>
            <a:ext cx="49434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老师傅的判别直觉留在人脑里，工单只记</a:t>
            </a:r>
            <a:r>
              <a:rPr lang="en-US" sz="1275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已处理</a:t>
            </a:r>
            <a:r>
              <a:rPr lang="en-US" sz="1275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。人员流动一次，组织的设备记忆就归零一次。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38200" y="5886450"/>
            <a:ext cx="4943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0A5FA"/>
                </a:solidFill>
                <a:latin typeface="Microsoft YaHei"/>
                <a:ea typeface="Microsoft YaHei"/>
              </a:rPr>
              <a:t>后果：同类故障反复从头判断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181725" y="3905250"/>
            <a:ext cx="5400675" cy="2409825"/>
          </a:xfrm>
          <a:prstGeom prst="roundRect">
            <a:avLst>
              <a:gd name="adj" fmla="val 5534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6181725" y="3905250"/>
            <a:ext cx="5400675" cy="2409825"/>
          </a:xfrm>
          <a:custGeom>
            <a:pathLst>
              <a:path w="567" h="253">
                <a:moveTo>
                  <a:pt x="554" y="0"/>
                </a:moveTo>
                <a:cubicBezTo>
                  <a:pt x="560" y="0"/>
                  <a:pt x="565" y="5"/>
                  <a:pt x="567" y="11"/>
                </a:cubicBezTo>
                <a:cubicBezTo>
                  <a:pt x="565" y="6"/>
                  <a:pt x="561" y="3"/>
                  <a:pt x="556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553" y="0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410325" y="4133850"/>
            <a:ext cx="4943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EF1F6"/>
                </a:solidFill>
                <a:latin typeface="Microsoft YaHei"/>
                <a:ea typeface="Microsoft YaHei"/>
              </a:rPr>
              <a:t>闭环断裂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410325" y="4524375"/>
            <a:ext cx="49434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告警到工单靠人转，备件是否齐套要另外查，处置结果很少回到知识库。看见之后没有下一步动作。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410325" y="5886450"/>
            <a:ext cx="4943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78BFA"/>
                </a:solidFill>
                <a:latin typeface="Microsoft YaHei"/>
                <a:ea typeface="Microsoft YaHei"/>
              </a:rPr>
              <a:t>后果：判断无法沉淀为资产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AI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原生设备管理平台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52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22D3EE' }} /&gt;&#10;      &lt;Text style={{ fontSize: 15, color: '#22D3EE', letterSpacing: 2, fontWeight: 'bold' }}&gt;SOLUTION OVERVIEW&lt;/Text&gt;&#10;    &lt;/Box&gt;&#10;    &lt;Text style={{ fontSize: 34, fontWeight: 'bold', color: '#EEF1F6' }}&gt;方案总览：一条轨道 + 三大能力&lt;/Text&gt;&#10;  &lt;/Box&gt;&#10;&#10;  &lt;Box style={{ flex: 1, marginTop: 20, flexDirection: 'column', justifyContent: 'space-between' }}&gt;&#10;&#10;    &lt;Box style={{ background: '#161A24', borderRadius: 14, border: '1px solid #232838', padding: 22 }}&gt;&#10;      &lt;Text style={{ fontSize: 17, color: '#666D80', marginBottom: 16 }}&gt;设备全寿命周期一条轨道 · 环节断裂自动预警&lt;/Text&gt;&#10;      &lt;svg width={1090} height={92} viewBox='0 0 1090 92'&gt;&#10;        &lt;rect x='4' y='14' width='104' height='46' rx='10' fill='rgba(34,211,238,.12)' stroke='#22D3EE' /&gt;&#10;        &lt;text x='56' y='43' fill='#22D3EE' fontSize='18' fontWeight='bold' textAnchor='middle' fontFamily='Microsoft YaHei'&gt;台账&lt;/text&gt;&#10;        &lt;path d='M116 37 L134 37' stroke='#4B5468' strokeWidth='2' /&gt;&#10;        &lt;rect x='142' y='14' width='104' height='46' rx='10' fill='#13161E' stroke='#2C3346' /&gt;&#10;        &lt;text x='194' y='43' fill='#A4ABBD' fontSize='18' textAnchor='middle' fontFamily='Microsoft YaHei'&gt;点检&lt;/text&gt;&#10;        &lt;path d='M254 37 L272 37' stroke='#4B5468' strokeWidth='2' /&gt;&#10;        &lt;rect x='280' y='14' width='104' height='46' rx='10' fill='#13161E' stroke='#2C3346' /&gt;&#10;        &lt;text x='332' y='43' fill='#A4ABBD' fontSize='18' textAnchor='middle' fontFamily='Microsoft YaHei'&gt;监测&lt;/text&gt;&#10;        &lt;path d='M392 37 L410 37' stroke='#4B5468' strokeWidth='2' /&gt;&#10;        &lt;rect x='418' y='14' width='104' height='46' rx='10' fill='rgba(251,191,36,.12)' stroke='#FBBF24' /&gt;&#10;        &lt;text x='470' y='43' fill='#FBBF24' fontSize='18' fontWeight='bold' textAnchor='middle' fontFamily='Microsoft YaHei'&gt;告警&lt;/text&gt;&#10;        &lt;path d='M530 37 L548 37' stroke='#4B5468' strokeWidth='2' /&gt;&#10;        &lt;rect x='556' y='14' width='104' height='46' rx='10' fill='#13161E' stroke='#2C3346' /&gt;&#10;        &lt;text x='608' y='43' fill='#A4ABBD' fontSize='18' textAnchor='middle' fontFamily='Microsoft YaHei'&gt;诊断&lt;/text&gt;&#10;        &lt;path d='M668 37 L686 37' stroke='#4B5468' strokeWidth='2' /&gt;&#10;        &lt;rect x='694' y='14' width='104' height='46' rx='10' fill='#13161E' stroke='#2C3346' /&gt;&#10;        &lt;text x='746' y='43' fill='#A4ABBD' fontSize='18' textAnchor='middle' fontFamily='Microsoft YaHei'&gt;工单&lt;/text&gt;&#10;        &lt;path d='M806 37 L824 37' stroke='#4B5468' strokeWidth='2' /&gt;&#10;        &lt;rect x='832' y='14' width='104' height='46' rx='10' fill='#13161E' stroke='#2C3346' /&gt;&#10;        &lt;text x='884' y='43' fill='#A4ABBD' fontSize='18' textAnchor='middle' fontFamily='Microsoft YaHei'&gt;维修&lt;/text&gt;&#10;        &lt;path d='M944 37 L962 37' stroke='#4B5468' strokeWidth='2' /&gt;&#10;        &lt;rect x='970' y='14' width='104' height='46' rx='10' fill='rgba(52,211,153,.12)' stroke='#34D399' /&gt;&#10;        &lt;text x='1022' y='43' fill='#34D399' fontSize='18' fontWeight='bold' textAnchor='middle' fontFamily='Microsoft YaHei'&gt;复盘&lt;/text&gt;&#10;        &lt;text x='546' y='86' fill='#666D80' fontSize='14' textAnchor='middle' fontFamily='Microsoft YaHei'&gt;备件齐套校验贯穿工单与维修环节&lt;/text&gt;&#10;      &lt;/svg&gt;&#10;    &lt;/Box&gt;&#10;&#10;    &lt;Box style={{ flexDirection: 'row', gap: 18 }}&gt;&#10;      &lt;Box style={{ flex: 1, background: '#161A24', borderRadius: 14, border: '1px solid #232838', borderTop: '3px solid #22D3EE', padding: 22, justifyContent: 'space-between' }}&gt;&#10;        &lt;Box&gt;&#10;          &lt;Text style={{ fontSize: 22, fontWeight: 'bold', color: '#EEF1F6' }}&gt;方法论与标准内嵌&lt;/Text&gt;&#10;          &lt;Text style={{ fontSize: 16, color: '#A4ABBD', lineHeight: 1.65, marginTop: 10 }}&gt;&#10;            RCM、FMEA、FTA、5Why 与运维行为标准固化进平台，判断有章法；点检、交接班、工单闭环逐条可测评。&#10;          &lt;/Text&gt;&#10;        &lt;/Box&gt;&#10;        &lt;Text style={{ fontSize: 14, color: '#22D3EE', marginTop: 12, fontWeight: 'bold' }}&gt;判断不再拍脑袋&lt;/Text&gt;&#10;      &lt;/Box&gt;&#10;&#10;      &lt;Box style={{ flex: 1, background: '#161A24', borderRadius: 14, border: '1px solid #232838', borderTop: '3px solid #34D399', padding: 22, justifyContent: 'space-between' }}&gt;&#10;        &lt;Box&gt;&#10;          &lt;Text style={{ fontSize: 22, fontWeight: 'bold', color: '#EEF1F6' }}&gt;记忆与可解释决策&lt;/Text&gt;&#10;          &lt;Text style={{ fontSize: 16, color: '#A4ABBD', lineHeight: 1.65, marginTop: 10 }}&gt;&#10;            设备记忆体沉淀工况、故障与处置、部件备件、工艺耦合、检修记录；每条结论带依据、风险与置信度。&#10;          &lt;/Text&gt;&#10;        &lt;/Box&gt;&#10;        &lt;Text style={{ fontSize: 14, color: '#34D399', marginTop: 12, fontWeight: 'bold' }}&gt;敢用 · 能追责&lt;/Text&gt;&#10;      &lt;/Box&gt;&#10;&#10;      &lt;Box style={{ flex: 1, background: '#161A24', borderRadius: 14, border: '1px solid #232838', borderTop: '3px solid #A78BFA', padding: 22, justifyContent: 'space-between' }}&gt;&#10;        &lt;Box&gt;&#10;          &lt;Text style={{ fontSize: 22, fontWeight: 'bold', color: '#EEF1F6' }}&gt;闭环与复盘回写&lt;/Text&gt;&#10;          &lt;Text style={{ fontSize: 16, color: '#A4ABBD', lineHeight: 1.65, marginTop: 10 }}&gt;&#10;            工单、备件、排程内嵌并留痕；复盘智能体把教训转成标准处置卡，回灌设备记忆与故障知识库。&#10;          &lt;/Text&gt;&#10;        &lt;/Box&gt;&#10;        &lt;Text style={{ fontSize: 14, color: '#A78BFA', marginTop: 12, fontWeight: 'bold' }}&gt;越用越准&lt;/Text&gt;&#10;      &lt;/Box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AI 原生设备管理平台&lt;/Text&gt;&#10;    &lt;Text style={{ fontSize: 14, color: '#666D80' }}&gt;05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1924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>SOLUTION OVERVIEW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方案总览：一条轨道</a:t>
            </a:r>
            <a:r>
              <a:rPr lang="en-US" sz="2550" b="1">
                <a:solidFill>
                  <a:srgbClr val="EEF1F6"/>
                </a:solidFill>
                <a:latin typeface="Microsoft YaHei"/>
                <a:ea typeface="Microsoft YaHei"/>
              </a:rPr>
              <a:t> + </a:t>
            </a: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三大能力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09600" y="1295400"/>
            <a:ext cx="10972800" cy="1647825"/>
          </a:xfrm>
          <a:prstGeom prst="roundRect">
            <a:avLst>
              <a:gd name="adj" fmla="val 8092"/>
            </a:avLst>
          </a:prstGeom>
          <a:solidFill>
            <a:srgbClr val="161A24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19150" y="1504950"/>
            <a:ext cx="1055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66D80"/>
                </a:solidFill>
                <a:latin typeface="Microsoft YaHei"/>
                <a:ea typeface="Microsoft YaHei"/>
              </a:rPr>
              <a:t>设备全寿命周期一条轨道</a:t>
            </a:r>
            <a:r>
              <a:rPr lang="en-US" sz="1275">
                <a:solidFill>
                  <a:srgbClr val="666D8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666D80"/>
                </a:solidFill>
                <a:latin typeface="Microsoft YaHei"/>
                <a:ea typeface="Microsoft YaHei"/>
              </a:rPr>
              <a:t>环节断裂自动预警</a:t>
            </a:r>
            <a:endParaRPr/>
          </a:p>
        </p:txBody>
      </p:sp>
      <p:pic>
        <p:nvPicPr>
          <p:cNvPr id="2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857375"/>
            <a:ext cx="10382250" cy="876300"/>
          </a:xfrm>
          <a:prstGeom prst="rect">
            <a:avLst/>
          </a:prstGeom>
          <a:ln/>
        </p:spPr>
      </p:pic>
      <p:sp>
        <p:nvSpPr>
          <p:cNvPr id="260" name=""/>
          <p:cNvSpPr/>
          <p:nvPr/>
        </p:nvSpPr>
        <p:spPr>
          <a:xfrm rot="0" flipH="0" flipV="0">
            <a:off x="609600" y="4324350"/>
            <a:ext cx="3543300" cy="1990725"/>
          </a:xfrm>
          <a:prstGeom prst="roundRect">
            <a:avLst>
              <a:gd name="adj" fmla="val 6699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609600" y="4324350"/>
            <a:ext cx="3543300" cy="1990725"/>
          </a:xfrm>
          <a:custGeom>
            <a:pathLst>
              <a:path w="372" h="209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6"/>
                  <a:pt x="366" y="3"/>
                  <a:pt x="361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819150" y="4533900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EF1F6"/>
                </a:solidFill>
                <a:latin typeface="Microsoft YaHei"/>
                <a:ea typeface="Microsoft YaHei"/>
              </a:rPr>
              <a:t>方法论与标准内嵌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19150" y="4886325"/>
            <a:ext cx="31242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RCM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FMEA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FTA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5Why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与运维行为标准固化进平台，判断有章法；点检、交接班、工单闭环逐条可测评。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19150" y="5915025"/>
            <a:ext cx="312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D3EE"/>
                </a:solidFill>
                <a:latin typeface="Microsoft YaHei"/>
                <a:ea typeface="Microsoft YaHei"/>
              </a:rPr>
              <a:t>判断不再拍脑袋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4324350" y="4324350"/>
            <a:ext cx="3543300" cy="1990725"/>
          </a:xfrm>
          <a:prstGeom prst="roundRect">
            <a:avLst>
              <a:gd name="adj" fmla="val 6699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4324350" y="4324350"/>
            <a:ext cx="3543300" cy="1990725"/>
          </a:xfrm>
          <a:custGeom>
            <a:pathLst>
              <a:path w="372" h="209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6"/>
                  <a:pt x="366" y="3"/>
                  <a:pt x="361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533900" y="4533900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EF1F6"/>
                </a:solidFill>
                <a:latin typeface="Microsoft YaHei"/>
                <a:ea typeface="Microsoft YaHei"/>
              </a:rPr>
              <a:t>记忆与可解释决策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533900" y="4886325"/>
            <a:ext cx="31242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设备记忆体沉淀工况、故障与处置、部件备件、工艺耦合、检修记录；每条结论带依据、风险与置信度。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533900" y="5915025"/>
            <a:ext cx="312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4D399"/>
                </a:solidFill>
                <a:latin typeface="Microsoft YaHei"/>
                <a:ea typeface="Microsoft YaHei"/>
              </a:rPr>
              <a:t>敢用</a:t>
            </a:r>
            <a:r>
              <a:rPr lang="en-US" sz="1050" b="1">
                <a:solidFill>
                  <a:srgbClr val="34D399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34D399"/>
                </a:solidFill>
                <a:latin typeface="Microsoft YaHei"/>
                <a:ea typeface="Microsoft YaHei"/>
              </a:rPr>
              <a:t>能追责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8039100" y="4324350"/>
            <a:ext cx="3543300" cy="1990725"/>
          </a:xfrm>
          <a:prstGeom prst="roundRect">
            <a:avLst>
              <a:gd name="adj" fmla="val 6699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8039100" y="4324350"/>
            <a:ext cx="3543300" cy="1990725"/>
          </a:xfrm>
          <a:custGeom>
            <a:pathLst>
              <a:path w="372" h="209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6"/>
                  <a:pt x="366" y="3"/>
                  <a:pt x="361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248650" y="4533900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EF1F6"/>
                </a:solidFill>
                <a:latin typeface="Microsoft YaHei"/>
                <a:ea typeface="Microsoft YaHei"/>
              </a:rPr>
              <a:t>闭环与复盘回写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248650" y="4886325"/>
            <a:ext cx="31242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工单、备件、排程内嵌并留痕；复盘智能体把教训转成标准处置卡，回灌设备记忆与故障知识库。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248650" y="5915025"/>
            <a:ext cx="312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A78BFA"/>
                </a:solidFill>
                <a:latin typeface="Microsoft YaHei"/>
                <a:ea typeface="Microsoft YaHei"/>
              </a:rPr>
              <a:t>越用越准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AI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原生设备管理平台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78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22D3EE' }} /&gt;&#10;      &lt;Text style={{ fontSize: 15, color: '#22D3EE', letterSpacing: 2, fontWeight: 'bold' }}&gt;TECHNICAL ARCHITECTURE&lt;/Text&gt;&#10;    &lt;/Box&gt;&#10;    &lt;Text style={{ fontSize: 34, fontWeight: 'bold', color: '#EEF1F6' }}&gt;技术方案：三层智能体 + 一根认知支柱&lt;/Text&gt;&#10;  &lt;/Box&gt;&#10;&#10;  &lt;Box style={{ flex: 1, marginTop: 16, alignItems: 'center', justifyContent: 'center' }}&gt;&#10;    &lt;svg width={1086} height={392} viewBox='0 0 1086 392'&gt;&#10;      &lt;rect x='2' y='6' width='856' height='106' rx='12' fill='#13161E' stroke='#232838' /&gt;&#10;      &lt;rect x='2' y='6' width='98' height='106' rx='12' fill='#1A1F2B' /&gt;&#10;      &lt;text x='51' y='44' fill='#22D3EE' fontSize='15' fontWeight='bold' textAnchor='middle' fontFamily='Microsoft YaHei'&gt;L0&lt;/text&gt;&#10;      &lt;text x='51' y='70' fill='#EEF1F6' fontSize='14' fontWeight='bold' textAnchor='middle' fontFamily='Microsoft YaHei'&gt;边缘层&lt;/text&gt;&#10;      &lt;text x='51' y='92' fill='#666D80' fontSize='11' textAnchor='middle' fontFamily='Microsoft YaHei'&gt;每台设备一个&lt;/text&gt;&#10;&#10;      &lt;rect x='116' y='24' width='236' height='70' rx='9' fill='#161A24' stroke='#2C3346' /&gt;&#10;      &lt;text x='234' y='52' fill='#EEF1F6' fontSize='14' fontWeight='bold' textAnchor='middle' fontFamily='Microsoft YaHei'&gt;采集与预处理&lt;/text&gt;&#10;      &lt;text x='234' y='76' fill='#A4ABBD' fontSize='11' textAnchor='middle' fontFamily='Microsoft YaHei'&gt;温度 / 压力 / 振动 · 特征提取&lt;/text&gt;&#10;&#10;      &lt;rect x='364' y='24' width='236' height='70' rx='9' fill='#161A24' stroke='#2C3346' /&gt;&#10;      &lt;text x='482' y='52' fill='#EEF1F6' fontSize='14' fontWeight='bold' textAnchor='middle' fontFamily='Microsoft YaHei'&gt;本地异常研判&lt;/text&gt;&#10;      &lt;text x='482' y='76' fill='#A4ABBD' fontSize='11' textAnchor='middle' fontFamily='Microsoft YaHei'&gt;阈值 + 判据 · 噪声过滤&lt;/text&gt;&#10;&#10;      &lt;rect x='612' y='24' width='236' height='70' rx='9' fill='#161A24' stroke='#2C3346' /&gt;&#10;      &lt;text x='730' y='52' fill='#EEF1F6' fontSize='14' fontWeight='bold' textAnchor='middle' fontFamily='Microsoft YaHei'&gt;本地记忆单元&lt;/text&gt;&#10;      &lt;text x='730' y='76' fill='#A4ABBD' fontSize='11' textAnchor='middle' fontFamily='Microsoft YaHei'&gt;断网可用 · 断点续传&lt;/text&gt;&#10;&#10;      &lt;path d='M430 112 L430 134' stroke='#4B5468' strokeWidth='2' strokeLinecap='round' /&gt;&#10;      &lt;polygon points='425,130 435,130 430,138' fill='#4B5468' /&gt;&#10;      &lt;text x='446' y='128' fill='#666D80' fontSize='11' fontFamily='Microsoft YaHei'&gt;仅上报确认异常与跨设备疑点&lt;/text&gt;&#10;&#10;      &lt;rect x='2' y='142' width='856' height='106' rx='12' fill='#13161E' stroke='#232838' /&gt;&#10;      &lt;rect x='2' y='142' width='98' height='106' rx='12' fill='#1A1F2B' /&gt;&#10;      &lt;text x='51' y='180' fill='#60A5FA' fontSize='15' fontWeight='bold' textAnchor='middle' fontFamily='Microsoft YaHei'&gt;L1&lt;/text&gt;&#10;      &lt;text x='51' y='206' fill='#EEF1F6' fontSize='14' fontWeight='bold' textAnchor='middle' fontFamily='Microsoft YaHei'&gt;集群层&lt;/text&gt;&#10;      &lt;text x='51' y='228' fill='#666D80' fontSize='11' textAnchor='middle' fontFamily='Microsoft YaHei'&gt;全局协同&lt;/text&gt;&#10;&#10;      &lt;rect x='116' y='160' width='173' height='70' rx='9' fill='#161A24' stroke='#2C3346' /&gt;&#10;      &lt;text x='202' y='188' fill='#EEF1F6' fontSize='14' fontWeight='bold' textAnchor='middle' fontFamily='Microsoft YaHei'&gt;告警聚合&lt;/text&gt;&#10;      &lt;text x='202' y='212' fill='#A4ABBD' fontSize='11' textAnchor='middle' fontFamily='Microsoft YaHei'&gt;去重 · 抑制风暴&lt;/text&gt;&#10;&#10;      &lt;rect x='301' y='160' width='173' height='70' rx='9' fill='#161A24' stroke='#2C3346' /&gt;&#10;      &lt;text x='387' y='188' fill='#EEF1F6' fontSize='14' fontWeight='bold' textAnchor='middle' fontFamily='Microsoft YaHei'&gt;跨设备根因&lt;/text&gt;&#10;      &lt;text x='387' y='212' fill='#A4ABBD' fontSize='11' textAnchor='middle' fontFamily='Microsoft YaHei'&gt;原发 vs 次生&lt;/text&gt;&#10;&#10;      &lt;rect x='486' y='160' width='173' height='70' rx='9' fill='#161A24' stroke='#2C3346' /&gt;&#10;      &lt;text x='572' y='188' fill='#EEF1F6' fontSize='14' fontWeight='bold' textAnchor='middle' fontFamily='Microsoft YaHei'&gt;风险分级&lt;/text&gt;&#10;      &lt;text x='572' y='212' fill='#A4ABBD' fontSize='11' textAnchor='middle' fontFamily='Microsoft YaHei'&gt;紧急 / 一般 / 预警&lt;/text&gt;&#10;&#10;      &lt;rect x='671' y='160' width='177' height='70' rx='9' fill='#161A24' stroke='#2C3346' /&gt;&#10;      &lt;text x='759' y='188' fill='#EEF1F6' fontSize='14' fontWeight='bold' textAnchor='middle' fontFamily='Microsoft YaHei'&gt;任务调度&lt;/text&gt;&#10;      &lt;text x='759' y='212' fill='#A4ABBD' fontSize='11' textAnchor='middle' fontFamily='Microsoft YaHei'&gt;补采 · 下发指令&lt;/text&gt;&#10;&#10;      &lt;path d='M430 248 L430 270' stroke='#4B5468' strokeWidth='2' strokeLinecap='round' /&gt;&#10;      &lt;polygon points='425,266 435,266 430,274' fill='#4B5468' /&gt;&#10;      &lt;text x='446' y='264' fill='#666D80' fontSize='11' fontFamily='Microsoft YaHei'&gt;根因 + 风险等级 + 处置建议&lt;/text&gt;&#10;&#10;      &lt;rect x='2' y='278' width='856' height='106' rx='12' fill='#13161E' stroke='#232838' /&gt;&#10;      &lt;rect x='2' y='278' width='98' height='106' rx='12' fill='#1A1F2B' /&gt;&#10;      &lt;text x='51' y='316' fill='#34D399' fontSize='15' fontWeight='bold' textAnchor='middle' fontFamily='Microsoft YaHei'&gt;L2&lt;/text&gt;&#10;      &lt;text x='51' y='342' fill='#EEF1F6' fontSize='14' fontWeight='bold' textAnchor='middle' fontFamily='Microsoft YaHei'&gt;业务层&lt;/text&gt;&#10;      &lt;text x='51' y='364' fill='#666D80' fontSize='11' textAnchor='middle' fontFamily='Microsoft YaHei'&gt;闭环落地&lt;/text&gt;&#10;&#10;      &lt;rect x='116' y='296' width='173' height='70' rx='9' fill='#161A24' stroke='#2C3346' /&gt;&#10;      &lt;text x='202' y='324' fill='#EEF1F6' fontSize='14' fontWeight='bold' textAnchor='middle' fontFamily='Microsoft YaHei'&gt;工单派发&lt;/text&gt;&#10;      &lt;text x='202' y='348' fill='#A4ABBD' fontSize='11' textAnchor='middle' fontFamily='Microsoft YaHei'&gt;人 / 班组 / 资质&lt;/text&gt;&#10;&#10;      &lt;rect x='301' y='296' width='173' height='70' rx='9' fill='#161A24' stroke='#2C3346' /&gt;&#10;      &lt;text x='387' y='324' fill='#EEF1F6' fontSize='14' fontWeight='bold' textAnchor='middle' fontFamily='Microsoft YaHei'&gt;备件与库存&lt;/text&gt;&#10;      &lt;text x='387' y='348' fill='#A4ABBD' fontSize='11' textAnchor='middle' fontFamily='Microsoft YaHei'&gt;齐套性校验&lt;/text&gt;&#10;&#10;      &lt;rect x='486' y='296' width='173' height='70' rx='9' fill='#161A24' stroke='#2C3346' /&gt;&#10;      &lt;text x='572' y='324' fill='#EEF1F6' fontSize='14' fontWeight='bold' textAnchor='middle' fontFamily='Microsoft YaHei'&gt;排程协同&lt;/text&gt;&#10;      &lt;text x='572' y='348' fill='#A4ABBD' fontSize='11' textAnchor='middle' fontFamily='Microsoft YaHei'&gt;停机窗口评估&lt;/text&gt;&#10;&#10;      &lt;rect x='671' y='296' width='177' height='70' rx='9' fill='#161A24' stroke='#2C3346' /&gt;&#10;      &lt;text x='759' y='324' fill='#EEF1F6' fontSize='14' fontWeight='bold' textAnchor='middle' fontFamily='Microsoft YaHei'&gt;复盘归档&lt;/text&gt;&#10;      &lt;text x='759' y='348' fill='#A4ABBD' fontSize='11' textAnchor='middle' fontFamily='Microsoft YaHei'&gt;教训转处置卡&lt;/text&gt;&#10;&#10;      &lt;rect x='874' y='6' width='208' height='378' rx='12' fill='#13161E' stroke='#2C3346' strokeDasharray='6 4' /&gt;&#10;      &lt;text x='978' y='36' fill='#A78BFA' fontSize='15' fontWeight='bold' textAnchor='middle' fontFamily='Microsoft YaHei'&gt;认知支柱&lt;/text&gt;&#10;      &lt;text x='978' y='58' fill='#666D80' fontSize='11' textAnchor='middle' fontFamily='Microsoft YaHei'&gt;K-M-D · 记忆 · 复盘&lt;/text&gt;&#10;      &lt;rect x='890' y='72' width='176' height='52' rx='8' fill='#1A1F2B' stroke='#3A4258' /&gt;&#10;      &lt;text x='978' y='94' fill='#EEF1F6' fontSize='13' fontWeight='bold' textAnchor='middle' fontFamily='Microsoft YaHei'&gt;K 知识层&lt;/text&gt;&#10;      &lt;text x='978' y='113' fill='#A4ABBD' fontSize='10' textAnchor='middle' fontFamily='Microsoft YaHei'&gt;设备记忆 · 工艺本体 · 先例&lt;/text&gt;&#10;      &lt;rect x='890' y='132' width='176' height='52' rx='8' fill='#1A1F2B' stroke='#3A4258' /&gt;&#10;      &lt;text x='978' y='154' fill='#EEF1F6' fontSize='13' fontWeight='bold' textAnchor='middle' fontFamily='Microsoft YaHei'&gt;M 方法层&lt;/text&gt;&#10;      &lt;text x='978' y='173' fill='#A4ABBD' fontSize='10' textAnchor='middle' fontFamily='Microsoft YaHei'&gt;RCM / FMEA / FTA / 5Why&lt;/text&gt;&#10;      &lt;rect x='890' y='192' width='176' height='52' rx='8' fill='#1A1F2B' stroke='#3A4258' /&gt;&#10;      &lt;text x='978' y='214' fill='#EEF1F6' fontSize='13' fontWeight='bold' textAnchor='middle' fontFamily='Microsoft YaHei'&gt;D 决策层&lt;/text&gt;&#10;      &lt;text x='978' y='233' fill='#A4ABBD' fontSize='10' textAnchor='middle' fontFamily='Microsoft YaHei'&gt;九尺子 · 9 列决策记录&lt;/text&gt;&#10;      &lt;rect x='890' y='252' width='176' height='52' rx='8' fill='#1A1F2B' stroke='#3A4258' /&gt;&#10;      &lt;text x='978' y='274' fill='#EEF1F6' fontSize='13' fontWeight='bold' textAnchor='middle' fontFamily='Microsoft YaHei'&gt;决策第 0 闸&lt;/text&gt;&#10;      &lt;text x='978' y='293' fill='#A4ABBD' fontSize='10' textAnchor='middle' fontFamily='Microsoft YaHei'&gt;校验 · 人工复核入口&lt;/text&gt;&#10;      &lt;rect x='890' y='312' width='176' height='52' rx='8' fill='#1A1F2B' stroke='#3A4258' /&gt;&#10;      &lt;text x='978' y='334' fill='#34D399' fontSize='13' fontWeight='bold' textAnchor='middle' fontFamily='Microsoft YaHei'&gt;复盘回写&lt;/text&gt;&#10;      &lt;text x='978' y='353' fill='#A4ABBD' fontSize='10' textAnchor='middle' fontFamily='Microsoft YaHei'&gt;处置结果回灌知识库&lt;/text&gt;&#10;    &lt;/svg&gt;&#10;  &lt;/Box&gt;&#10;&#10;  &lt;Box style={{ height: 40, flexDirection: 'row', justifyContent: 'space-between', alignItems: 'center', borderTop: '1px solid #232838' }}&gt;&#10;    &lt;Text style={{ fontSize: 14, color: '#666D80' }}&gt;ChiYu AI · AI 原生设备管理平台 ｜ 分层智能体解决&quot;算得过来&quot;，认知支柱解决&quot;判得准&quot;&lt;/Text&gt;&#10;    &lt;Text style={{ fontSize: 14, color: '#666D80' }}&gt;06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2419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>TECHNICAL ARCHITECTURE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技术方案：三层智能体</a:t>
            </a:r>
            <a:r>
              <a:rPr lang="en-US" sz="2550" b="1">
                <a:solidFill>
                  <a:srgbClr val="EEF1F6"/>
                </a:solidFill>
                <a:latin typeface="Microsoft YaHei"/>
                <a:ea typeface="Microsoft YaHei"/>
              </a:rPr>
              <a:t> + </a:t>
            </a: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一根认知支柱</a:t>
            </a:r>
            <a:endParaRPr/>
          </a:p>
        </p:txBody>
      </p:sp>
      <p:pic>
        <p:nvPicPr>
          <p:cNvPr id="2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3925" y="1905000"/>
            <a:ext cx="10344150" cy="3733800"/>
          </a:xfrm>
          <a:prstGeom prst="rect">
            <a:avLst/>
          </a:prstGeom>
          <a:ln/>
        </p:spPr>
      </p:pic>
      <p:sp>
        <p:nvSpPr>
          <p:cNvPr id="284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513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AI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原生设备管理平台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分层智能体解决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算得过来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，认知支柱解决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判得准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87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A78BFA' }} /&gt;&#10;      &lt;Text style={{ fontSize: 15, color: '#A78BFA', letterSpacing: 2, fontWeight: 'bold' }}&gt;K-M-D PIPELINE&lt;/Text&gt;&#10;    &lt;/Box&gt;&#10;    &lt;Text style={{ fontSize: 34, fontWeight: 'bold', color: '#EEF1F6' }}&gt;K-M-D 认知决策管道：每一步都可解释&lt;/Text&gt;&#10;  &lt;/Box&gt;&#10;&#10;  &lt;Box style={{ flex: 1, marginTop: 18, flexDirection: 'column', justifyContent: 'space-between' }}&gt;&#10;&#10;    &lt;Box style={{ flexDirection: 'row', gap: 14, height: 168 }}&gt;&#10;      &lt;Box style={{ flex: 1, background: '#161A24', borderRadius: 14, border: '1px solid #232838', borderTop: '3px solid #22D3EE', padding: 22, justifyContent: 'space-between' }}&gt;&#10;        &lt;Box&gt;&#10;          &lt;Text style={{ fontSize: 15, color: '#22D3EE', fontWeight: 'bold', letterSpacing: 1 }}&gt;K · 知识层&lt;/Text&gt;&#10;          &lt;Text style={{ fontSize: 20, fontWeight: 'bold', color: '#EEF1F6', marginTop: 10 }}&gt;装配什么&lt;/Text&gt;&#10;          &lt;Text style={{ fontSize: 16, color: '#A4ABBD', lineHeight: 1.6, marginTop: 10 }}&gt;&#10;            设备记忆（工况 / 故障处置 / 备件 / 工艺耦合 / 检修）与租户级 Know-How、工艺本体一起装配进上下文。&#10;          &lt;/Text&gt;&#10;        &lt;/Box&gt;&#10;        &lt;Text style={{ fontSize: 14, color: '#666D80', marginTop: 12 }}&gt;写库即构建 · 语义检索&lt;/Text&gt;&#10;      &lt;/Box&gt;&#10;&#10;      &lt;Box style={{ flex: 1, background: '#161A24', borderRadius: 14, border: '1px solid #232838', borderTop: '3px solid #60A5FA', padding: 22, justifyContent: 'space-between' }}&gt;&#10;        &lt;Box&gt;&#10;          &lt;Text style={{ fontSize: 15, color: '#60A5FA', fontWeight: 'bold', letterSpacing: 1 }}&gt;M · 方法层&lt;/Text&gt;&#10;          &lt;Text style={{ fontSize: 20, fontWeight: 'bold', color: '#EEF1F6', marginTop: 10 }}&gt;依据什么方法&lt;/Text&gt;&#10;          &lt;Text style={{ fontSize: 16, color: '#A4ABBD', lineHeight: 1.6, marginTop: 10 }}&gt;&#10;            装载 RCM、FMEA、FTA、5Why 等诊断方法论与运维行为标准，每次判断标注&quot;用了什么方法、要什么输入&quot;。&#10;          &lt;/Text&gt;&#10;        &lt;/Box&gt;&#10;        &lt;Text style={{ fontSize: 14, color: '#666D80', marginTop: 12 }}&gt;方法论即配置 · 可替换&lt;/Text&gt;&#10;      &lt;/Box&gt;&#10;&#10;      &lt;Box style={{ flex: 1, background: '#161A24', borderRadius: 14, border: '1px solid #232838', borderTop: '3px solid #A78BFA', padding: 22, justifyContent: 'space-between' }}&gt;&#10;        &lt;Box&gt;&#10;          &lt;Text style={{ fontSize: 15, color: '#A78BFA', fontWeight: 'bold', letterSpacing: 1 }}&gt;D · 决策层&lt;/Text&gt;&#10;          &lt;Text style={{ fontSize: 20, fontWeight: 'bold', color: '#EEF1F6', marginTop: 10 }}&gt;凭什么放行&lt;/Text&gt;&#10;          &lt;Text style={{ fontSize: 16, color: '#A4ABBD', lineHeight: 1.6, marginTop: 10 }}&gt;&#10;            九尺子逐项打分，输出 9 列决策记录：场景、结论、置信度、依据、风险、概念引用等，缺信息就报缺，不放行。&#10;          &lt;/Text&gt;&#10;        &lt;/Box&gt;&#10;        &lt;Text style={{ fontSize: 14, color: '#666D80', marginTop: 12 }}&gt;8 项确定性 + 1 项可选大模型&lt;/Text&gt;&#10;      &lt;/Box&gt;&#10;    &lt;/Box&gt;&#10;&#10;    &lt;Box style={{ background: '#13161E', borderRadius: 14, border: '1px solid #232838', padding: 22 }}&gt;&#10;      &lt;Box style={{ flexDirection: 'row', gap: 22 }}&gt;&#10;        &lt;Box style={{ flex: 1 }}&gt;&#10;          &lt;Text style={{ fontSize: 20, fontWeight: 'bold', color: '#EEF1F6', marginBottom: 14 }}&gt;9 列决策记录（每一条结论都是一条）&lt;/Text&gt;&#10;          &lt;Box style={{ flexDirection: 'row', flexWrap: 'wrap', gap: 10 }}&gt;&#10;            &lt;Box style={{ paddingTop: 6, paddingBottom: 6, paddingLeft: 14, paddingRight: 14, borderRadius: 8, background: '#1A1F2B', border: '1px solid #2C3346' }}&gt;&lt;Text style={{ fontSize: 15, color: '#A4ABBD' }}&gt;场景&lt;/Text&gt;&lt;/Box&gt;&#10;            &lt;Box style={{ paddingTop: 6, paddingBottom: 6, paddingLeft: 14, paddingRight: 14, borderRadius: 8, background: '#1A1F2B', border: '1px solid #2C3346' }}&gt;&lt;Text style={{ fontSize: 15, color: '#A4ABBD' }}&gt;结论&lt;/Text&gt;&lt;/Box&gt;&#10;            &lt;Box style={{ paddingTop: 6, paddingBottom: 6, paddingLeft: 14, paddingRight: 14, borderRadius: 8, background: '#1A1F2B', border: '1px solid #2C3346' }}&gt;&lt;Text style={{ fontSize: 15, color: '#A4ABBD' }}&gt;置信度&lt;/Text&gt;&lt;/Box&gt;&#10;            &lt;Box style={{ paddingTop: 6, paddingBottom: 6, paddingLeft: 14, paddingRight: 14, borderRadius: 8, background: '#1A1F2B', border: '1px solid #2C3346' }}&gt;&lt;Text style={{ fontSize: 15, color: '#A4ABBD' }}&gt;依据&lt;/Text&gt;&lt;/Box&gt;&#10;            &lt;Box style={{ paddingTop: 6, paddingBottom: 6, paddingLeft: 14, paddingRight: 14, borderRadius: 8, background: '#1A1F2B', border: '1px solid #2C3346' }}&gt;&lt;Text style={{ fontSize: 15, color: '#A4ABBD' }}&gt;风险&lt;/Text&gt;&lt;/Box&gt;&#10;            &lt;Box style={{ paddingTop: 6, paddingBottom: 6, paddingLeft: 14, paddingRight: 14, borderRadius: 8, background: '#1A1F2B', border: '1px solid #2C3346' }}&gt;&lt;Text style={{ fontSize: 15, color: '#A4ABBD' }}&gt;概念引用&lt;/Text&gt;&lt;/Box&gt;&#10;            &lt;Box style={{ paddingTop: 6, paddingBottom: 6, paddingLeft: 14, paddingRight: 14, borderRadius: 8, background: '#1A1F2B', border: '1px solid #2C3346' }}&gt;&lt;Text style={{ fontSize: 15, color: '#A4ABBD' }}&gt;涉事实体&lt;/Text&gt;&lt;/Box&gt;&#10;            &lt;Box style={{ paddingTop: 6, paddingBottom: 6, paddingLeft: 14, paddingRight: 14, borderRadius: 8, background: '#1A1F2B', border: '1px solid #2C3346' }}&gt;&lt;Text style={{ fontSize: 15, color: '#A4ABBD' }}&gt;时间戳&lt;/Text&gt;&lt;/Box&gt;&#10;            &lt;Box style={{ paddingTop: 6, paddingBottom: 6, paddingLeft: 14, paddingRight: 14, borderRadius: 8, background: '#1A1F2B', border: '1px solid #2C3346' }}&gt;&lt;Text style={{ fontSize: 15, color: '#A4ABBD' }}&gt;决策链&lt;/Text&gt;&lt;/Box&gt;&#10;          &lt;/Box&gt;&#10;        &lt;/Box&gt;&#10;&#10;        &lt;Box style={{ width: 300, paddingLeft: 22, borderLeft: '1px solid #232838' }}&gt;&#10;          &lt;Text style={{ fontSize: 20, fontWeight: 'bold', color: '#EEF1F6', marginBottom: 12 }}&gt;决策第 0 闸&lt;/Text&gt;&#10;          &lt;Text style={{ fontSize: 16, color: '#A4ABBD', lineHeight: 1.65 }}&gt;&#10;            任何写操作先过校验闸：缺什么报什么，不静默通过；处置建议必带依据与风险，并保留&lt;span style={{ color: '#34D399', fontWeight: 'bold' }}&gt;人工复核入口&lt;/span&gt;——不自动执行生产操作。&#10;          &lt;/Text&gt;&#10;        &lt;/Box&gt;&#10;      &lt;/Box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AI 原生设备管理平台&lt;/Text&gt;&#10;    &lt;Text style={{ fontSize: 14, color: '#666D80' }}&gt;07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A78BFA"/>
                </a:solidFill>
                <a:latin typeface="Microsoft YaHei"/>
                <a:ea typeface="Microsoft YaHei"/>
              </a:rPr>
              <a:t>K-M-D PIPELINE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EF1F6"/>
                </a:solidFill>
                <a:latin typeface="Microsoft YaHei"/>
                <a:ea typeface="Microsoft YaHei"/>
              </a:rPr>
              <a:t>K-M-D </a:t>
            </a: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认知决策管道：每一步都可解释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9600" y="1304925"/>
            <a:ext cx="3571875" cy="2200275"/>
          </a:xfrm>
          <a:prstGeom prst="roundRect">
            <a:avLst>
              <a:gd name="adj" fmla="val 6061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609600" y="1304925"/>
            <a:ext cx="3571875" cy="2200275"/>
          </a:xfrm>
          <a:custGeom>
            <a:pathLst>
              <a:path w="375" h="231">
                <a:moveTo>
                  <a:pt x="362" y="0"/>
                </a:moveTo>
                <a:cubicBezTo>
                  <a:pt x="368" y="0"/>
                  <a:pt x="373" y="5"/>
                  <a:pt x="375" y="11"/>
                </a:cubicBezTo>
                <a:cubicBezTo>
                  <a:pt x="373" y="6"/>
                  <a:pt x="369" y="3"/>
                  <a:pt x="364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19150" y="1514475"/>
            <a:ext cx="3152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22D3EE"/>
                </a:solidFill>
                <a:latin typeface="Microsoft YaHei"/>
                <a:ea typeface="Microsoft YaHei"/>
              </a:rPr>
              <a:t>K · </a:t>
            </a:r>
            <a:r>
              <a:rPr lang="zh-CN" sz="1125" b="1" spc="75">
                <a:solidFill>
                  <a:srgbClr val="22D3EE"/>
                </a:solidFill>
                <a:latin typeface="Microsoft YaHei"/>
                <a:ea typeface="Microsoft YaHei"/>
              </a:rPr>
              <a:t>知识层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19150" y="1781175"/>
            <a:ext cx="3152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EF1F6"/>
                </a:solidFill>
                <a:latin typeface="Microsoft YaHei"/>
                <a:ea typeface="Microsoft YaHei"/>
              </a:rPr>
              <a:t>装配什么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19150" y="2105025"/>
            <a:ext cx="3152775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设备记忆（工况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故障处置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备件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工艺耦合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检修）与租户级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Know-How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、工艺本体一起装配进上下文。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19150" y="3105150"/>
            <a:ext cx="3152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写库即构建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语义检索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4314825" y="1304925"/>
            <a:ext cx="3562350" cy="2200275"/>
          </a:xfrm>
          <a:prstGeom prst="roundRect">
            <a:avLst>
              <a:gd name="adj" fmla="val 6061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99" name=""/>
          <p:cNvSpPr/>
          <p:nvPr/>
        </p:nvSpPr>
        <p:spPr>
          <a:xfrm rot="0" flipH="0" flipV="0">
            <a:off x="4314825" y="1304925"/>
            <a:ext cx="3562350" cy="2200275"/>
          </a:xfrm>
          <a:custGeom>
            <a:pathLst>
              <a:path w="374" h="231">
                <a:moveTo>
                  <a:pt x="361" y="0"/>
                </a:moveTo>
                <a:cubicBezTo>
                  <a:pt x="367" y="0"/>
                  <a:pt x="372" y="5"/>
                  <a:pt x="374" y="11"/>
                </a:cubicBezTo>
                <a:cubicBezTo>
                  <a:pt x="372" y="6"/>
                  <a:pt x="368" y="3"/>
                  <a:pt x="363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360" y="0"/>
                </a:lnTo>
                <a:close/>
              </a:path>
            </a:pathLst>
          </a:custGeom>
          <a:solidFill>
            <a:srgbClr val="60A5FA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524375" y="1514475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60A5FA"/>
                </a:solidFill>
                <a:latin typeface="Microsoft YaHei"/>
                <a:ea typeface="Microsoft YaHei"/>
              </a:rPr>
              <a:t>M · </a:t>
            </a:r>
            <a:r>
              <a:rPr lang="zh-CN" sz="1125" b="1" spc="75">
                <a:solidFill>
                  <a:srgbClr val="60A5FA"/>
                </a:solidFill>
                <a:latin typeface="Microsoft YaHei"/>
                <a:ea typeface="Microsoft YaHei"/>
              </a:rPr>
              <a:t>方法层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524375" y="1781175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EF1F6"/>
                </a:solidFill>
                <a:latin typeface="Microsoft YaHei"/>
                <a:ea typeface="Microsoft YaHei"/>
              </a:rPr>
              <a:t>依据什么方法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524375" y="2105025"/>
            <a:ext cx="31432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装载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RCM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FMEA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FTA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5Why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等诊断方法论与运维行为标准，每次判断标注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用了什么方法、要什么输入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524375" y="3105150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方法论即配置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可替换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8010525" y="1304925"/>
            <a:ext cx="3571875" cy="2200275"/>
          </a:xfrm>
          <a:prstGeom prst="roundRect">
            <a:avLst>
              <a:gd name="adj" fmla="val 6061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8010525" y="1304925"/>
            <a:ext cx="3571875" cy="2200275"/>
          </a:xfrm>
          <a:custGeom>
            <a:pathLst>
              <a:path w="375" h="231">
                <a:moveTo>
                  <a:pt x="362" y="0"/>
                </a:moveTo>
                <a:cubicBezTo>
                  <a:pt x="368" y="0"/>
                  <a:pt x="373" y="5"/>
                  <a:pt x="375" y="11"/>
                </a:cubicBezTo>
                <a:cubicBezTo>
                  <a:pt x="373" y="6"/>
                  <a:pt x="369" y="3"/>
                  <a:pt x="364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220075" y="1514475"/>
            <a:ext cx="3152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A78BFA"/>
                </a:solidFill>
                <a:latin typeface="Microsoft YaHei"/>
                <a:ea typeface="Microsoft YaHei"/>
              </a:rPr>
              <a:t>D · </a:t>
            </a:r>
            <a:r>
              <a:rPr lang="zh-CN" sz="1125" b="1" spc="75">
                <a:solidFill>
                  <a:srgbClr val="A78BFA"/>
                </a:solidFill>
                <a:latin typeface="Microsoft YaHei"/>
                <a:ea typeface="Microsoft YaHei"/>
              </a:rPr>
              <a:t>决策层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220075" y="1781175"/>
            <a:ext cx="3152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EF1F6"/>
                </a:solidFill>
                <a:latin typeface="Microsoft YaHei"/>
                <a:ea typeface="Microsoft YaHei"/>
              </a:rPr>
              <a:t>凭什么放行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220075" y="2105025"/>
            <a:ext cx="3152775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九尺子逐项打分，输出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列决策记录：场景、结论、置信度、依据、风险、概念引用等，缺信息就报缺，不放行。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220075" y="3105150"/>
            <a:ext cx="3152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8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项确定性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+ 1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项可选大模型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09600" y="4314825"/>
            <a:ext cx="10972800" cy="1971675"/>
          </a:xfrm>
          <a:prstGeom prst="roundRect">
            <a:avLst>
              <a:gd name="adj" fmla="val 6763"/>
            </a:avLst>
          </a:prstGeom>
          <a:solidFill>
            <a:srgbClr val="13161E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19150" y="4524375"/>
            <a:ext cx="7486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EF1F6"/>
                </a:solidFill>
                <a:latin typeface="Microsoft YaHei"/>
                <a:ea typeface="Microsoft YaHei"/>
              </a:rPr>
              <a:t>9 </a:t>
            </a:r>
            <a:r>
              <a:rPr lang="zh-CN" sz="1500" b="1">
                <a:solidFill>
                  <a:srgbClr val="EEF1F6"/>
                </a:solidFill>
                <a:latin typeface="Microsoft YaHei"/>
                <a:ea typeface="Microsoft YaHei"/>
              </a:rPr>
              <a:t>列决策记录（每一条结论都是一条）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819150" y="4886325"/>
            <a:ext cx="552450" cy="285750"/>
          </a:xfrm>
          <a:prstGeom prst="roundRect">
            <a:avLst>
              <a:gd name="adj" fmla="val 26667"/>
            </a:avLst>
          </a:prstGeom>
          <a:solidFill>
            <a:srgbClr val="1A1F2B"/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952500" y="49434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场景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1466850" y="4886325"/>
            <a:ext cx="552450" cy="285750"/>
          </a:xfrm>
          <a:prstGeom prst="roundRect">
            <a:avLst>
              <a:gd name="adj" fmla="val 26667"/>
            </a:avLst>
          </a:prstGeom>
          <a:solidFill>
            <a:srgbClr val="1A1F2B"/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600200" y="49434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2114550" y="4886325"/>
            <a:ext cx="695325" cy="285750"/>
          </a:xfrm>
          <a:prstGeom prst="roundRect">
            <a:avLst>
              <a:gd name="adj" fmla="val 26667"/>
            </a:avLst>
          </a:prstGeom>
          <a:solidFill>
            <a:srgbClr val="1A1F2B"/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2247900" y="49434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置信度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2905125" y="4886325"/>
            <a:ext cx="552450" cy="285750"/>
          </a:xfrm>
          <a:prstGeom prst="roundRect">
            <a:avLst>
              <a:gd name="adj" fmla="val 26667"/>
            </a:avLst>
          </a:prstGeom>
          <a:solidFill>
            <a:srgbClr val="1A1F2B"/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3038475" y="49434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依据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3552825" y="4886325"/>
            <a:ext cx="552450" cy="285750"/>
          </a:xfrm>
          <a:prstGeom prst="roundRect">
            <a:avLst>
              <a:gd name="adj" fmla="val 26667"/>
            </a:avLst>
          </a:prstGeom>
          <a:solidFill>
            <a:srgbClr val="1A1F2B"/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3686175" y="49434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风险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4200525" y="4886325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1A1F2B"/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333875" y="49434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概念引用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5133975" y="4886325"/>
            <a:ext cx="838200" cy="285750"/>
          </a:xfrm>
          <a:prstGeom prst="roundRect">
            <a:avLst>
              <a:gd name="adj" fmla="val 26667"/>
            </a:avLst>
          </a:prstGeom>
          <a:solidFill>
            <a:srgbClr val="1A1F2B"/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267325" y="49434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涉事实体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067425" y="4886325"/>
            <a:ext cx="695325" cy="285750"/>
          </a:xfrm>
          <a:prstGeom prst="roundRect">
            <a:avLst>
              <a:gd name="adj" fmla="val 26667"/>
            </a:avLst>
          </a:prstGeom>
          <a:solidFill>
            <a:srgbClr val="1A1F2B"/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200775" y="49434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时间戳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858000" y="4886325"/>
            <a:ext cx="695325" cy="285750"/>
          </a:xfrm>
          <a:prstGeom prst="roundRect">
            <a:avLst>
              <a:gd name="adj" fmla="val 26667"/>
            </a:avLst>
          </a:prstGeom>
          <a:solidFill>
            <a:srgbClr val="1A1F2B"/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991350" y="49434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决策链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8515350" y="4524375"/>
            <a:ext cx="2857500" cy="1552575"/>
          </a:xfrm>
          <a:custGeom>
            <a:pathLst>
              <a:path w="300" h="163">
                <a:moveTo>
                  <a:pt x="0" y="0"/>
                </a:moveTo>
                <a:lnTo>
                  <a:pt x="1" y="0"/>
                </a:lnTo>
                <a:lnTo>
                  <a:pt x="1" y="163"/>
                </a:lnTo>
                <a:lnTo>
                  <a:pt x="0" y="163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734425" y="4524375"/>
            <a:ext cx="2638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EF1F6"/>
                </a:solidFill>
                <a:latin typeface="Microsoft YaHei"/>
                <a:ea typeface="Microsoft YaHei"/>
              </a:rPr>
              <a:t>决策第</a:t>
            </a:r>
            <a:r>
              <a:rPr lang="en-US" sz="1500" b="1">
                <a:solidFill>
                  <a:srgbClr val="EEF1F6"/>
                </a:solidFill>
                <a:latin typeface="Microsoft YaHei"/>
                <a:ea typeface="Microsoft YaHei"/>
              </a:rPr>
              <a:t> 0 </a:t>
            </a:r>
            <a:r>
              <a:rPr lang="zh-CN" sz="1500" b="1">
                <a:solidFill>
                  <a:srgbClr val="EEF1F6"/>
                </a:solidFill>
                <a:latin typeface="Microsoft YaHei"/>
                <a:ea typeface="Microsoft YaHei"/>
              </a:rPr>
              <a:t>闸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734425" y="4867275"/>
            <a:ext cx="2638425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任何写操作先过校验闸：缺什么报什么，不静默通过；处置建议必带依据与风险，并保留</a:t>
            </a:r>
            <a:r>
              <a:rPr lang="zh-CN" sz="1200" b="1">
                <a:solidFill>
                  <a:srgbClr val="34D399"/>
                </a:solidFill>
                <a:latin typeface="Microsoft YaHei"/>
                <a:ea typeface="Microsoft YaHei"/>
              </a:rPr>
              <a:t>人工复核入口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——不自动执行生产操作。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AI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原生设备管理平台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36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34D399' }} /&gt;&#10;      &lt;Text style={{ fontSize: 15, color: '#34D399', letterSpacing: 2, fontWeight: 'bold' }}&gt;EQUIPMENT MEMORY&lt;/Text&gt;&#10;    &lt;/Box&gt;&#10;    &lt;Text style={{ fontSize: 34, fontWeight: 'bold', color: '#EEF1F6' }}&gt;设备记忆体：经验不再随人流失&lt;/Text&gt;&#10;  &lt;/Box&gt;&#10;&#10;  &lt;Box style={{ flex: 1, marginTop: 20, flexDirection: 'row', gap: 22 }}&gt;&#10;&#10;    &lt;Box style={{ width: 470, background: '#161A24', borderRadius: 14, border: '1px solid #232838', padding: 24, justifyContent: 'space-between' }}&gt;&#10;      &lt;Box&gt;&#10;        &lt;Text style={{ fontSize: 22, fontWeight: 'bold', color: '#EEF1F6', marginBottom: 6 }}&gt;五类高频记忆自动沉淀&lt;/Text&gt;&#10;        &lt;Text style={{ fontSize: 16, color: '#666D80', marginBottom: 18 }}&gt;写库即构建：图谱 + 向量 + 事件，无需额外维护知识库&lt;/Text&gt;&#10;&#10;        &lt;Box style={{ flexDirection: 'column', gap: 12 }}&gt;&#10;          &lt;Box style={{ flexDirection: 'row', alignItems: 'center', gap: 14, background: '#13161E', borderRadius: 10, padding: 14, border: '1px solid #232838' }}&gt;&#10;            &lt;Box style={{ width: 40, height: 40, borderRadius: 10, background: 'rgba(34,211,238,.14)', alignItems: 'center', justifyContent: 'center' }}&gt;&lt;Text style={{ fontSize: 18, color: '#22D3EE', fontWeight: 'bold' }}&gt;01&lt;/Text&gt;&lt;/Box&gt;&#10;            &lt;Box style={{ flex: 1 }}&gt;&#10;              &lt;Text style={{ fontSize: 18, fontWeight: 'bold', color: '#EEF1F6' }}&gt;运行工况&lt;/Text&gt;&#10;              &lt;Text style={{ fontSize: 15, color: '#A4ABBD' }}&gt;负载、环境、启停与工艺参数的历史轨迹&lt;/Text&gt;&#10;            &lt;/Box&gt;&#10;          &lt;/Box&gt;&#10;          &lt;Box style={{ flexDirection: 'row', alignItems: 'center', gap: 14, background: '#13161E', borderRadius: 10, padding: 14, border: '1px solid #232838' }}&gt;&#10;            &lt;Box style={{ width: 40, height: 40, borderRadius: 10, background: 'rgba(52,211,153,.14)', alignItems: 'center', justifyContent: 'center' }}&gt;&lt;Text style={{ fontSize: 18, color: '#34D399', fontWeight: 'bold' }}&gt;02&lt;/Text&gt;&lt;/Box&gt;&#10;            &lt;Box style={{ flex: 1 }}&gt;&#10;              &lt;Text style={{ fontSize: 18, fontWeight: 'bold', color: '#EEF1F6' }}&gt;故障与处置&lt;/Text&gt;&#10;              &lt;Text style={{ fontSize: 15, color: '#A4ABBD' }}&gt;现象、判据、根因、处置动作与效果回溯&lt;/Text&gt;&#10;            &lt;/Box&gt;&#10;          &lt;/Box&gt;&#10;          &lt;Box style={{ flexDirection: 'row', alignItems: 'center', gap: 14, background: '#13161E', borderRadius: 10, padding: 14, border: '1px solid #232838' }}&gt;&#10;            &lt;Box style={{ width: 40, height: 40, borderRadius: 10, background: 'rgba(96,165,250,.14)', alignItems: 'center', justifyContent: 'center' }}&gt;&lt;Text style={{ fontSize: 18, color: '#60A5FA', fontWeight: 'bold' }}&gt;03&lt;/Text&gt;&lt;/Box&gt;&#10;            &lt;Box style={{ flex: 1 }}&gt;&#10;              &lt;Text style={{ fontSize: 18, fontWeight: 'bold', color: '#EEF1F6' }}&gt;部件与备件&lt;/Text&gt;&#10;              &lt;Text style={{ fontSize: 15, color: '#A4ABBD' }}&gt;BOM 结构、寿命分布、齐套与替代关系&lt;/Text&gt;&#10;            &lt;/Box&gt;&#10;          &lt;/Box&gt;&#10;          &lt;Box style={{ flexDirection: 'row', alignItems: 'center', gap: 14, background: '#13161E', borderRadius: 10, padding: 14, border: '1px solid #232838' }}&gt;&#10;            &lt;Box style={{ width: 40, height: 40, borderRadius: 10, background: 'rgba(251,191,36,.14)', alignItems: 'center', justifyContent: 'center' }}&gt;&lt;Text style={{ fontSize: 18, color: '#FBBF24', fontWeight: 'bold' }}&gt;04&lt;/Text&gt;&lt;/Box&gt;&#10;            &lt;Box style={{ flex: 1 }}&gt;&#10;              &lt;Text style={{ fontSize: 18, fontWeight: 'bold', color: '#EEF1F6' }}&gt;工艺耦合&lt;/Text&gt;&#10;              &lt;Text style={{ fontSize: 15, color: '#A4ABBD' }}&gt;设备—产线拓扑，谁是上游、谁被牵连&lt;/Text&gt;&#10;            &lt;/Box&gt;&#10;          &lt;/Box&gt;&#10;          &lt;Box style={{ flexDirection: 'row', alignItems: 'center', gap: 14, background: '#13161E', borderRadius: 10, padding: 14, border: '1px solid #232838' }}&gt;&#10;            &lt;Box style={{ width: 40, height: 40, borderRadius: 10, background: 'rgba(167,139,250,.14)', alignItems: 'center', justifyContent: 'center' }}&gt;&lt;Text style={{ fontSize: 18, color: '#A78BFA', fontWeight: 'bold' }}&gt;05&lt;/Text&gt;&lt;/Box&gt;&#10;            &lt;Box style={{ flex: 1 }}&gt;&#10;              &lt;Text style={{ fontSize: 18, fontWeight: 'bold', color: '#EEF1F6' }}&gt;检修记录&lt;/Text&gt;&#10;              &lt;Text style={{ fontSize: 15, color: '#A4ABBD' }}&gt;点检、保养、改造、校验的完整留痕&lt;/Text&gt;&#10;            &lt;/Box&gt;&#10;          &lt;/Box&gt;&#10;        &lt;/Box&gt;&#10;      &lt;/Box&gt;&#10;&#10;      &lt;Text style={{ fontSize: 15, color: '#666D80', marginTop: 16 }}&gt;租户级隔离：你的故障库不会变成别人的训练集&lt;/Text&gt;&#10;    &lt;/Box&gt;&#10;&#10;    &lt;Box style={{ flex: 1, flexDirection: 'column', gap: 16 }}&gt;&#10;      &lt;Box style={{ background: '#13161E', borderRadius: 14, border: '1px solid #2C3346', padding: 22, flex: 1 }}&gt;&#10;        &lt;Text style={{ fontSize: 16, color: '#666D80', marginBottom: 12 }}&gt;语义检索示例&lt;/Text&gt;&#10;        &lt;Text style={{ fontSize: 21, color: '#22D3EE', fontWeight: 'bold', lineHeight: 1.6 }}&gt;&#10;          &quot;上次这台泵同样的振动频谱，是怎么处理的？&quot;&#10;        &lt;/Text&gt;&#10;        &lt;Box style={{ height: 1, background: '#232838', marginTop: 16, marginBottom: 16 }} /&gt;&#10;        &lt;Text style={{ fontSize: 16, color: '#A4ABBD', lineHeight: 1.75 }}&gt;&#10;          系统调出该设备历史同类事件的处置记录、判据与效果评价，比对本次频谱后给出&quot;沿用 / 修正 / 升级&quot;的建议与理由——不是重新从零判断。&#10;        &lt;/Text&gt;&#10;      &lt;/Box&gt;&#10;&#10;      &lt;Box style={{ background: '#13161E', borderRadius: 14, border: '1px solid #2C3346', padding: 22, flex: 1 }}&gt;&#10;        &lt;Text style={{ fontSize: 16, color: '#666D80', marginBottom: 12 }}&gt;复盘回写&lt;/Text&gt;&#10;        &lt;Text style={{ fontSize: 21, color: '#34D399', fontWeight: 'bold', lineHeight: 1.6 }}&gt;&#10;          处置结束，才是知识产生的开始&#10;        &lt;/Text&gt;&#10;        &lt;Box style={{ height: 1, background: '#232838', marginTop: 16, marginBottom: 16 }} /&gt;&#10;        &lt;Text style={{ fontSize: 16, color: '#A4ABBD', lineHeight: 1.75 }}&gt;&#10;          复盘智能体定期扫描当期决策与工单，自动归因并产出可审查的报告；误判修正判据阈值，成功处置固化为标准处置卡，审批后回灌记忆与知识库。&#10;        &lt;/Text&gt;&#10;      &lt;/Box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AI 原生设备管理平台&lt;/Text&gt;&#10;    &lt;Text style={{ fontSize: 14, color: '#666D80' }}&gt;08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1924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34D399"/>
                </a:solidFill>
                <a:latin typeface="Microsoft YaHei"/>
                <a:ea typeface="Microsoft YaHei"/>
              </a:rPr>
              <a:t>EQUIPMENT MEMORY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设备记忆体：经验不再随人流失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609600" y="1295400"/>
            <a:ext cx="4476750" cy="5153025"/>
          </a:xfrm>
          <a:prstGeom prst="roundRect">
            <a:avLst>
              <a:gd name="adj" fmla="val 2979"/>
            </a:avLst>
          </a:prstGeom>
          <a:solidFill>
            <a:srgbClr val="161A24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38200" y="1524000"/>
            <a:ext cx="401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EF1F6"/>
                </a:solidFill>
                <a:latin typeface="Microsoft YaHei"/>
                <a:ea typeface="Microsoft YaHei"/>
              </a:rPr>
              <a:t>五类高频记忆自动沉淀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38200" y="1838325"/>
            <a:ext cx="4019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写库即构建：图谱</a:t>
            </a:r>
            <a:r>
              <a:rPr lang="en-US" sz="1200">
                <a:solidFill>
                  <a:srgbClr val="666D80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向量</a:t>
            </a:r>
            <a:r>
              <a:rPr lang="en-US" sz="1200">
                <a:solidFill>
                  <a:srgbClr val="666D80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事件，无需额外维护知识库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838200" y="2200275"/>
            <a:ext cx="4019550" cy="647700"/>
          </a:xfrm>
          <a:prstGeom prst="roundRect">
            <a:avLst>
              <a:gd name="adj" fmla="val 14706"/>
            </a:avLst>
          </a:prstGeom>
          <a:solidFill>
            <a:srgbClr val="13161E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971550" y="23336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2D3EE">
              <a:alpha val="14000"/>
            </a:srgbClr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057275" y="24193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485900" y="2333625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EF1F6"/>
                </a:solidFill>
                <a:latin typeface="Microsoft YaHei"/>
                <a:ea typeface="Microsoft YaHei"/>
              </a:rPr>
              <a:t>运行工况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485900" y="2543175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负载、环境、启停与工艺参数的历史轨迹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838200" y="2962275"/>
            <a:ext cx="4019550" cy="647700"/>
          </a:xfrm>
          <a:prstGeom prst="roundRect">
            <a:avLst>
              <a:gd name="adj" fmla="val 14706"/>
            </a:avLst>
          </a:prstGeom>
          <a:solidFill>
            <a:srgbClr val="13161E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971550" y="30956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34D399">
              <a:alpha val="14000"/>
            </a:srgbClr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057275" y="31813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4D39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485900" y="3095625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EF1F6"/>
                </a:solidFill>
                <a:latin typeface="Microsoft YaHei"/>
                <a:ea typeface="Microsoft YaHei"/>
              </a:rPr>
              <a:t>故障与处置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485900" y="3305175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现象、判据、根因、处置动作与效果回溯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838200" y="3724275"/>
            <a:ext cx="4019550" cy="647700"/>
          </a:xfrm>
          <a:prstGeom prst="roundRect">
            <a:avLst>
              <a:gd name="adj" fmla="val 14706"/>
            </a:avLst>
          </a:prstGeom>
          <a:solidFill>
            <a:srgbClr val="13161E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971550" y="38576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60A5FA">
              <a:alpha val="14000"/>
            </a:srgbClr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057275" y="39433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60A5FA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485900" y="3857625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EF1F6"/>
                </a:solidFill>
                <a:latin typeface="Microsoft YaHei"/>
                <a:ea typeface="Microsoft YaHei"/>
              </a:rPr>
              <a:t>部件与备件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485900" y="4067175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BOM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结构、寿命分布、齐套与替代关系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838200" y="4486275"/>
            <a:ext cx="4019550" cy="647700"/>
          </a:xfrm>
          <a:prstGeom prst="roundRect">
            <a:avLst>
              <a:gd name="adj" fmla="val 14706"/>
            </a:avLst>
          </a:prstGeom>
          <a:solidFill>
            <a:srgbClr val="13161E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360" name=""/>
          <p:cNvSpPr/>
          <p:nvPr/>
        </p:nvSpPr>
        <p:spPr>
          <a:xfrm rot="0" flipH="0" flipV="0">
            <a:off x="971550" y="46196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BBF24">
              <a:alpha val="14000"/>
            </a:srgbClr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057275" y="47053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BB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485900" y="4619625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EF1F6"/>
                </a:solidFill>
                <a:latin typeface="Microsoft YaHei"/>
                <a:ea typeface="Microsoft YaHei"/>
              </a:rPr>
              <a:t>工艺耦合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485900" y="4829175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设备—产线拓扑，谁是上游、谁被牵连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838200" y="5248275"/>
            <a:ext cx="4019550" cy="647700"/>
          </a:xfrm>
          <a:prstGeom prst="roundRect">
            <a:avLst>
              <a:gd name="adj" fmla="val 14706"/>
            </a:avLst>
          </a:prstGeom>
          <a:solidFill>
            <a:srgbClr val="13161E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365" name=""/>
          <p:cNvSpPr/>
          <p:nvPr/>
        </p:nvSpPr>
        <p:spPr>
          <a:xfrm rot="0" flipH="0" flipV="0">
            <a:off x="971550" y="53816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A78BFA">
              <a:alpha val="14000"/>
            </a:srgbClr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057275" y="54673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A78BFA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1485900" y="5381625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EF1F6"/>
                </a:solidFill>
                <a:latin typeface="Microsoft YaHei"/>
                <a:ea typeface="Microsoft YaHei"/>
              </a:rPr>
              <a:t>检修记录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485900" y="5591175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点检、保养、改造、校验的完整留痕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38200" y="6048375"/>
            <a:ext cx="401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租户级隔离：你的故障库不会变成别人的训练集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5295900" y="1295400"/>
            <a:ext cx="6286500" cy="2505075"/>
          </a:xfrm>
          <a:prstGeom prst="roundRect">
            <a:avLst>
              <a:gd name="adj" fmla="val 5323"/>
            </a:avLst>
          </a:prstGeom>
          <a:solidFill>
            <a:srgbClr val="13161E"/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505450" y="1504950"/>
            <a:ext cx="5867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语义检索示例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505450" y="1809750"/>
            <a:ext cx="5867400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75" b="1">
                <a:solidFill>
                  <a:srgbClr val="22D3EE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22D3EE"/>
                </a:solidFill>
                <a:latin typeface="Microsoft YaHei"/>
                <a:ea typeface="Microsoft YaHei"/>
              </a:rPr>
              <a:t>上次这台泵同样的振动频谱，是怎么处理的？</a:t>
            </a:r>
            <a:r>
              <a:rPr lang="en-US" sz="1575" b="1">
                <a:solidFill>
                  <a:srgbClr val="22D3EE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5505450" y="2352675"/>
            <a:ext cx="5867400" cy="9525"/>
          </a:xfrm>
          <a:prstGeom prst="rect">
            <a:avLst/>
          </a:prstGeom>
          <a:solidFill>
            <a:srgbClr val="232838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5505450" y="2514600"/>
            <a:ext cx="58674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系统调出该设备历史同类事件的处置记录、判据与效果评价，比对本次频谱后给出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沿用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修正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升级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的建议与理由——不是重新从零判断。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5295900" y="3952875"/>
            <a:ext cx="6286500" cy="2495550"/>
          </a:xfrm>
          <a:prstGeom prst="roundRect">
            <a:avLst>
              <a:gd name="adj" fmla="val 5344"/>
            </a:avLst>
          </a:prstGeom>
          <a:solidFill>
            <a:srgbClr val="13161E"/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505450" y="4162425"/>
            <a:ext cx="5867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复盘回写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5505450" y="4467225"/>
            <a:ext cx="5867400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 b="1">
                <a:solidFill>
                  <a:srgbClr val="34D399"/>
                </a:solidFill>
                <a:latin typeface="Microsoft YaHei"/>
                <a:ea typeface="Microsoft YaHei"/>
              </a:rPr>
              <a:t>处置结束，才是知识产生的开始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5505450" y="5010150"/>
            <a:ext cx="5867400" cy="9525"/>
          </a:xfrm>
          <a:prstGeom prst="rect">
            <a:avLst/>
          </a:prstGeom>
          <a:solidFill>
            <a:srgbClr val="232838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5505450" y="5172075"/>
            <a:ext cx="58674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复盘智能体定期扫描当期决策与工单，自动归因并产出可审查的报告；误判修正判据阈值，成功处置固化为标准处置卡，审批后回灌记忆与知识库。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09600" y="6448425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AI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原生设备管理平台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11252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83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60A5FA' }} /&gt;&#10;      &lt;Text style={{ fontSize: 15, color: '#60A5FA', letterSpacing: 2, fontWeight: 'bold' }}&gt;SCENARIOS&lt;/Text&gt;&#10;    &lt;/Box&gt;&#10;    &lt;Text style={{ fontSize: 34, fontWeight: 'bold', color: '#EEF1F6' }}&gt;应用场景：面向设备集群的三类典型问题&lt;/Text&gt;&#10;  &lt;/Box&gt;&#10;&#10;  &lt;Box style={{ flex: 1, marginTop: 20, flexDirection: 'row', gap: 18 }}&gt;&#10;&#10;    &lt;Box style={{ flex: 1, background: '#161A24', borderRadius: 14, border: '1px solid #232838', borderTop: '3px solid #22D3EE', padding: 24, justifyContent: 'space-between' }}&gt;&#10;      &lt;Box&gt;&#10;        &lt;Text style={{ fontSize: 15, color: '#22D3EE', fontWeight: 'bold', letterSpacing: 1 }}&gt;场景一 · 告警收敛&lt;/Text&gt;&#10;        &lt;Text style={{ fontSize: 23, fontWeight: 'bold', color: '#EEF1F6', marginTop: 12 }}&gt;锅炉集群连锁告警&lt;/Text&gt;&#10;        &lt;Text style={{ fontSize: 16, color: '#A4ABBD', lineHeight: 1.7, marginTop: 14 }}&gt;&#10;          多台锅炉与给水泵同时告警。边缘侧过滤噪声，集群侧按时序与工艺耦合判别原发故障源，把多条告警收敛为一条根因，并给出风险等级与处置优先级，交人工复核后派单。&#10;        &lt;/Text&gt;&#10;        &lt;Text style={{ fontSize: 15, color: '#666D80', marginTop: 16, lineHeight: 1.6 }}&gt;&#10;          推演链路：边缘过滤 → 集群聚合 → 时序归因 → 风险分级 → 人工复核 → 派单&#10;        &lt;/Text&gt;&#10;      &lt;/Box&gt;&#10;      &lt;Text style={{ fontSize: 15, color: '#22D3EE', marginTop: 14, fontWeight: 'bold' }}&gt;适用：热力 · 泵站 · 暖通机组集群&lt;/Text&gt;&#10;    &lt;/Box&gt;&#10;&#10;    &lt;Box style={{ flex: 1, background: '#161A24', borderRadius: 14, border: '1px solid #232838', borderTop: '3px solid #34D399', padding: 24, justifyContent: 'space-between' }}&gt;&#10;      &lt;Box&gt;&#10;        &lt;Text style={{ fontSize: 15, color: '#34D399', fontWeight: 'bold', letterSpacing: 1 }}&gt;场景二 · 重复故障&lt;/Text&gt;&#10;        &lt;Text style={{ fontSize: 23, fontWeight: 'bold', color: '#EEF1F6', marginTop: 12 }}&gt;同一台泵的第三次告警&lt;/Text&gt;&#10;        &lt;Text style={{ fontSize: 16, color: '#A4ABBD', lineHeight: 1.7, marginTop: 14 }}&gt;&#10;          同类振动告警第三次出现。系统调出前两次的处置记录与效果评价，比对本次频谱后指出&quot;重复消警&quot;的问题，给出根治建议与判据修正方案，审批后固化进故障知识库。&#10;        &lt;/Text&gt;&#10;        &lt;Text style={{ fontSize: 15, color: '#666D80', marginTop: 16, lineHeight: 1.6 }}&gt;&#10;          推演链路：检索先例 → 效果比对 → 判据修正建议 → 复盘审批 → 固化&#10;        &lt;/Text&gt;&#10;      &lt;/Box&gt;&#10;      &lt;Text style={{ fontSize: 15, color: '#34D399', marginTop: 14, fontWeight: 'bold' }}&gt;适用：高频重复故障设备 · 老产线&lt;/Text&gt;&#10;    &lt;/Box&gt;&#10;&#10;    &lt;Box style={{ flex: 1, background: '#161A24', borderRadius: 14, border: '1px solid #232838', borderTop: '3px solid #FBBF24', padding: 24, justifyContent: 'space-between' }}&gt;&#10;      &lt;Box&gt;&#10;        &lt;Text style={{ fontSize: 15, color: '#FBBF24', fontWeight: 'bold', letterSpacing: 1 }}&gt;场景三 · 经验传承&lt;/Text&gt;&#10;        &lt;Text style={{ fontSize: 23, fontWeight: 'bold', color: '#EEF1F6', marginTop: 12 }}&gt;新人接手陌生设备&lt;/Text&gt;&#10;        &lt;Text style={{ fontSize: 16, color: '#A4ABBD', lineHeight: 1.7, marginTop: 14 }}&gt;&#10;          新人点开设备画像，看到的不是一串参数，而是历史故障、处置先例、注意事项与关联工艺；同类设备的共性问题与标准处置卡一并呈现，上手路径由系统推荐。&#10;        &lt;/Text&gt;&#10;        &lt;Text style={{ fontSize: 15, color: '#666D80', marginTop: 16, lineHeight: 1.6 }}&gt;&#10;          推演链路：设备记忆体 → 同类共性问题 → 标准处置卡 → 上手路径&#10;        &lt;/Text&gt;&#10;      &lt;/Box&gt;&#10;      &lt;Text style={{ fontSize: 15, color: '#FBBF24', marginTop: 14, fontWeight: 'bold' }}&gt;适用：人员流动频繁的运维班组&lt;/Text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AI 原生设备管理平台 ｜ 以上为能力运行逻辑推演，量化指标需实测后填充&lt;/Text&gt;&#10;    &lt;Text style={{ fontSize: 14, color: '#666D80' }}&gt;09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1019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60A5FA"/>
                </a:solidFill>
                <a:latin typeface="Microsoft YaHei"/>
                <a:ea typeface="Microsoft YaHei"/>
              </a:rPr>
              <a:t>SCENARIOS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应用场景：面向设备集群的三类典型问题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09600" y="1323975"/>
            <a:ext cx="3543300" cy="4991100"/>
          </a:xfrm>
          <a:prstGeom prst="roundRect">
            <a:avLst>
              <a:gd name="adj" fmla="val 3763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389" name=""/>
          <p:cNvSpPr/>
          <p:nvPr/>
        </p:nvSpPr>
        <p:spPr>
          <a:xfrm rot="0" flipH="0" flipV="0">
            <a:off x="609600" y="1323975"/>
            <a:ext cx="3543300" cy="4991100"/>
          </a:xfrm>
          <a:custGeom>
            <a:pathLst>
              <a:path w="372" h="524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6"/>
                  <a:pt x="366" y="3"/>
                  <a:pt x="361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838200" y="1552575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22D3EE"/>
                </a:solidFill>
                <a:latin typeface="Microsoft YaHei"/>
                <a:ea typeface="Microsoft YaHei"/>
              </a:rPr>
              <a:t>场景一</a:t>
            </a:r>
            <a:r>
              <a:rPr lang="en-US" sz="1125" b="1" spc="75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125" b="1" spc="75">
                <a:solidFill>
                  <a:srgbClr val="22D3EE"/>
                </a:solidFill>
                <a:latin typeface="Microsoft YaHei"/>
                <a:ea typeface="Microsoft YaHei"/>
              </a:rPr>
              <a:t>告警收敛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38200" y="1838325"/>
            <a:ext cx="30861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EF1F6"/>
                </a:solidFill>
                <a:latin typeface="Microsoft YaHei"/>
                <a:ea typeface="Microsoft YaHei"/>
              </a:rPr>
              <a:t>锅炉集群连锁告警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38200" y="2238375"/>
            <a:ext cx="30861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多台锅炉与给水泵同时告警。边缘侧过滤噪声，集群侧按时序与工艺耦合判别原发故障源，把多条告警收敛为一条根因，并给出风险等级与处置优先级，交人工复核后派单。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38200" y="3638550"/>
            <a:ext cx="3086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推演链路：边缘过滤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集群聚合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时序归因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风险分级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人工复核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派单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38200" y="588645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适用：热力</a:t>
            </a:r>
            <a:r>
              <a:rPr lang="en-US" sz="1125" b="1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泵站</a:t>
            </a:r>
            <a:r>
              <a:rPr lang="en-US" sz="1125" b="1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暖通机组集群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4324350" y="1323975"/>
            <a:ext cx="3543300" cy="4991100"/>
          </a:xfrm>
          <a:prstGeom prst="roundRect">
            <a:avLst>
              <a:gd name="adj" fmla="val 3763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4324350" y="1323975"/>
            <a:ext cx="3543300" cy="4991100"/>
          </a:xfrm>
          <a:custGeom>
            <a:pathLst>
              <a:path w="372" h="524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6"/>
                  <a:pt x="366" y="3"/>
                  <a:pt x="361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4552950" y="1552575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4D399"/>
                </a:solidFill>
                <a:latin typeface="Microsoft YaHei"/>
                <a:ea typeface="Microsoft YaHei"/>
              </a:rPr>
              <a:t>场景二</a:t>
            </a:r>
            <a:r>
              <a:rPr lang="en-US" sz="1125" b="1" spc="75">
                <a:solidFill>
                  <a:srgbClr val="34D399"/>
                </a:solidFill>
                <a:latin typeface="Microsoft YaHei"/>
                <a:ea typeface="Microsoft YaHei"/>
              </a:rPr>
              <a:t> · </a:t>
            </a:r>
            <a:r>
              <a:rPr lang="zh-CN" sz="1125" b="1" spc="75">
                <a:solidFill>
                  <a:srgbClr val="34D399"/>
                </a:solidFill>
                <a:latin typeface="Microsoft YaHei"/>
                <a:ea typeface="Microsoft YaHei"/>
              </a:rPr>
              <a:t>重复故障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4552950" y="1838325"/>
            <a:ext cx="30861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EF1F6"/>
                </a:solidFill>
                <a:latin typeface="Microsoft YaHei"/>
                <a:ea typeface="Microsoft YaHei"/>
              </a:rPr>
              <a:t>同一台泵的第三次告警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4552950" y="2238375"/>
            <a:ext cx="30861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同类振动告警第三次出现。系统调出前两次的处置记录与效果评价，比对本次频谱后指出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重复消警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的问题，给出根治建议与判据修正方案，审批后固化进故障知识库。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4552950" y="3638550"/>
            <a:ext cx="3086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推演链路：检索先例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效果比对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判据修正建议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复盘审批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固化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552950" y="588645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4D399"/>
                </a:solidFill>
                <a:latin typeface="Microsoft YaHei"/>
                <a:ea typeface="Microsoft YaHei"/>
              </a:rPr>
              <a:t>适用：高频重复故障设备</a:t>
            </a:r>
            <a:r>
              <a:rPr lang="en-US" sz="1125" b="1">
                <a:solidFill>
                  <a:srgbClr val="34D399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34D399"/>
                </a:solidFill>
                <a:latin typeface="Microsoft YaHei"/>
                <a:ea typeface="Microsoft YaHei"/>
              </a:rPr>
              <a:t>老产线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8039100" y="1323975"/>
            <a:ext cx="3543300" cy="4991100"/>
          </a:xfrm>
          <a:prstGeom prst="roundRect">
            <a:avLst>
              <a:gd name="adj" fmla="val 3763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403" name=""/>
          <p:cNvSpPr/>
          <p:nvPr/>
        </p:nvSpPr>
        <p:spPr>
          <a:xfrm rot="0" flipH="0" flipV="0">
            <a:off x="8039100" y="1323975"/>
            <a:ext cx="3543300" cy="4991100"/>
          </a:xfrm>
          <a:custGeom>
            <a:pathLst>
              <a:path w="372" h="524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6"/>
                  <a:pt x="366" y="3"/>
                  <a:pt x="361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FBBF24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267700" y="1552575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FBBF24"/>
                </a:solidFill>
                <a:latin typeface="Microsoft YaHei"/>
                <a:ea typeface="Microsoft YaHei"/>
              </a:rPr>
              <a:t>场景三</a:t>
            </a:r>
            <a:r>
              <a:rPr lang="en-US" sz="1125" b="1" spc="75">
                <a:solidFill>
                  <a:srgbClr val="FBBF24"/>
                </a:solidFill>
                <a:latin typeface="Microsoft YaHei"/>
                <a:ea typeface="Microsoft YaHei"/>
              </a:rPr>
              <a:t> · </a:t>
            </a:r>
            <a:r>
              <a:rPr lang="zh-CN" sz="1125" b="1" spc="75">
                <a:solidFill>
                  <a:srgbClr val="FBBF24"/>
                </a:solidFill>
                <a:latin typeface="Microsoft YaHei"/>
                <a:ea typeface="Microsoft YaHei"/>
              </a:rPr>
              <a:t>经验传承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267700" y="1838325"/>
            <a:ext cx="30861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EF1F6"/>
                </a:solidFill>
                <a:latin typeface="Microsoft YaHei"/>
                <a:ea typeface="Microsoft YaHei"/>
              </a:rPr>
              <a:t>新人接手陌生设备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267700" y="2238375"/>
            <a:ext cx="30861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新人点开设备画像，看到的不是一串参数，而是历史故障、处置先例、注意事项与关联工艺；同类设备的共性问题与标准处置卡一并呈现，上手路径由系统推荐。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267700" y="3638550"/>
            <a:ext cx="3086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推演链路：设备记忆体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同类共性问题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标准处置卡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上手路径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267700" y="588645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BF24"/>
                </a:solidFill>
                <a:latin typeface="Microsoft YaHei"/>
                <a:ea typeface="Microsoft YaHei"/>
              </a:rPr>
              <a:t>适用：人员流动频繁的运维班组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502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AI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原生设备管理平台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以上为能力运行逻辑推演，量化指标需实测后填充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4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FBBF24' }} /&gt;&#10;      &lt;Text style={{ fontSize: 15, color: '#FBBF24', letterSpacing: 2, fontWeight: 'bold' }}&gt;BENCHMARK&lt;/Text&gt;&#10;    &lt;/Box&gt;&#10;    &lt;Text style={{ fontSize: 34, fontWeight: 'bold', color: '#EEF1F6' }}&gt;对标工业互联网平台：差异在判断与闭环&lt;/Text&gt;&#10;  &lt;/Box&gt;&#10;&#10;  &lt;Box style={{ flex: 1, marginTop: 16, flexDirection: 'column' }}&gt;&#10;&#10;    &lt;Box style={{ flexDirection: 'row', background: '#1A1F2B', borderRadius: 10, padding: 14, paddingLeft: 18, paddingRight: 18 }}&gt;&#10;      &lt;Box style={{ width: 200 }}&gt;&lt;Text style={{ fontSize: 15, color: '#666D80', fontWeight: 'bold' }}&gt;能力维度&lt;/Text&gt;&lt;/Box&gt;&#10;      &lt;Box style={{ width: 320 }}&gt;&lt;Text style={{ fontSize: 15, color: '#666D80', fontWeight: 'bold' }}&gt;主流工业互联网平台&lt;/Text&gt;&lt;/Box&gt;&#10;      &lt;Box style={{ width: 380 }}&gt;&lt;Text style={{ fontSize: 15, color: '#666D80', fontWeight: 'bold' }}&gt;ChiYu AI 原生设备管理平台&lt;/Text&gt;&lt;/Box&gt;&#10;      &lt;Box style={{ flex: 1 }}&gt;&lt;Text style={{ fontSize: 15, color: '#666D80', fontWeight: 'bold' }}&gt;差异价值&lt;/Text&gt;&lt;/Box&gt;&#10;    &lt;/Box&gt;&#10;&#10;    &lt;Box style={{ flexDirection: 'row', borderBottom: '1px solid #232838', padding: 13, paddingLeft: 18, paddingRight: 18, alignItems: 'center' }}&gt;&#10;      &lt;Box style={{ width: 200 }}&gt;&lt;Text style={{ fontSize: 16, color: '#EEF1F6', fontWeight: 'bold' }}&gt;告警机制&lt;/Text&gt;&lt;/Box&gt;&#10;      &lt;Box style={{ width: 320 }}&gt;&lt;Text style={{ fontSize: 15, color: '#FBBF24' }}&gt;△ 阈值 / 规则引擎，规则需人工逐条配置&lt;/Text&gt;&lt;/Box&gt;&#10;      &lt;Box style={{ width: 380 }}&gt;&lt;Text style={{ fontSize: 15, color: '#34D399' }}&gt;✓ 边缘本地研判 + 集群关联归因，输出结论&lt;/Text&gt;&lt;/Box&gt;&#10;      &lt;Box style={{ flex: 1 }}&gt;&lt;Text style={{ fontSize: 15, color: '#EEF1F6', fontWeight: 'bold' }}&gt;从配规则到给结论&lt;/Text&gt;&lt;/Box&gt;&#10;    &lt;/Box&gt;&#10;&#10;    &lt;Box style={{ flexDirection: 'row', borderBottom: '1px solid #232838', padding: 13, paddingLeft: 18, paddingRight: 18, alignItems: 'center' }}&gt;&#10;      &lt;Box style={{ width: 200 }}&gt;&lt;Text style={{ fontSize: 16, color: '#EEF1F6', fontWeight: 'bold' }}&gt;告警风暴&lt;/Text&gt;&lt;/Box&gt;&#10;      &lt;Box style={{ width: 320 }}&gt;&lt;Text style={{ fontSize: 15, color: '#F87171' }}&gt;✗ 多设备并发刷屏，缺少收敛机制&lt;/Text&gt;&lt;/Box&gt;&#10;      &lt;Box style={{ width: 380 }}&gt;&lt;Text style={{ fontSize: 15, color: '#34D399' }}&gt;✓ 聚合去重 + 时序关联，收敛为一条根因&lt;/Text&gt;&lt;/Box&gt;&#10;      &lt;Box style={{ flex: 1 }}&gt;&lt;Text style={{ fontSize: 15, color: '#EEF1F6', fontWeight: 'bold' }}&gt;运维聚焦源头&lt;/Text&gt;&lt;/Box&gt;&#10;    &lt;/Box&gt;&#10;&#10;    &lt;Box style={{ flexDirection: 'row', borderBottom: '1px solid #232838', padding: 13, paddingLeft: 18, paddingRight: 18, alignItems: 'center' }}&gt;&#10;      &lt;Box style={{ width: 200 }}&gt;&lt;Text style={{ fontSize: 16, color: '#EEF1F6', fontWeight: 'bold' }}&gt;跨设备根因&lt;/Text&gt;&lt;/Box&gt;&#10;      &lt;Box style={{ width: 320 }}&gt;&lt;Text style={{ fontSize: 15, color: '#F87171' }}&gt;✗ 单机视角，连锁传导靠人跨系统拼&lt;/Text&gt;&lt;/Box&gt;&#10;      &lt;Box style={{ width: 380 }}&gt;&lt;Text style={{ fontSize: 15, color: '#34D399' }}&gt;✓ 设备—工艺—产线拓扑 + 时序推理&lt;/Text&gt;&lt;/Box&gt;&#10;      &lt;Box style={{ flex: 1 }}&gt;&lt;Text style={{ fontSize: 15, color: '#EEF1F6', fontWeight: 'bold' }}&gt;减少抢修方向错&lt;/Text&gt;&lt;/Box&gt;&#10;    &lt;/Box&gt;&#10;&#10;    &lt;Box style={{ flexDirection: 'row', borderBottom: '1px solid #232838', padding: 13, paddingLeft: 18, paddingRight: 18, alignItems: 'center' }}&gt;&#10;      &lt;Box style={{ width: 200 }}&gt;&lt;Text style={{ fontSize: 16, color: '#EEF1F6', fontWeight: 'bold' }}&gt;记忆与经验&lt;/Text&gt;&lt;/Box&gt;&#10;      &lt;Box style={{ width: 320 }}&gt;&lt;Text style={{ fontSize: 15, color: '#FBBF24' }}&gt;△ 有历史数据，经验非结构化易流失&lt;/Text&gt;&lt;/Box&gt;&#10;      &lt;Box style={{ width: 380 }}&gt;&lt;Text style={{ fontSize: 15, color: '#34D399' }}&gt;✓ 设备记忆体 + 向量检索，先例可调用&lt;/Text&gt;&lt;/Box&gt;&#10;      &lt;Box style={{ flex: 1 }}&gt;&lt;Text style={{ fontSize: 15, color: '#EEF1F6', fontWeight: 'bold' }}&gt;经验可继承&lt;/Text&gt;&lt;/Box&gt;&#10;    &lt;/Box&gt;&#10;&#10;    &lt;Box style={{ flexDirection: 'row', borderBottom: '1px solid #232838', padding: 13, paddingLeft: 18, paddingRight: 18, alignItems: 'center' }}&gt;&#10;      &lt;Box style={{ width: 200 }}&gt;&lt;Text style={{ fontSize: 16, color: '#EEF1F6', fontWeight: 'bold' }}&gt;决策可解释&lt;/Text&gt;&lt;/Box&gt;&#10;      &lt;Box style={{ width: 320 }}&gt;&lt;Text style={{ fontSize: 15, color: '#FBBF24' }}&gt;△ 规则触发可追，复杂判断仍是黑箱&lt;/Text&gt;&lt;/Box&gt;&#10;      &lt;Box style={{ width: 380 }}&gt;&lt;Text style={{ fontSize: 15, color: '#34D399' }}&gt;✓ 九尺子校验 + 9 列决策记录 + 概念引用&lt;/Text&gt;&lt;/Box&gt;&#10;      &lt;Box style={{ flex: 1 }}&gt;&lt;Text style={{ fontSize: 15, color: '#EEF1F6', fontWeight: 'bold' }}&gt;敢用 · 能追责&lt;/Text&gt;&lt;/Box&gt;&#10;    &lt;/Box&gt;&#10;&#10;    &lt;Box style={{ flexDirection: 'row', borderBottom: '1px solid #232838', padding: 13, paddingLeft: 18, paddingRight: 18, alignItems: 'center' }}&gt;&#10;      &lt;Box style={{ width: 200 }}&gt;&lt;Text style={{ fontSize: 16, color: '#EEF1F6', fontWeight: 'bold' }}&gt;业务闭环&lt;/Text&gt;&lt;/Box&gt;&#10;      &lt;Box style={{ width: 320 }}&gt;&lt;Text style={{ fontSize: 15, color: '#FBBF24' }}&gt;△ 告警到工单靠人转，需外挂 CMMS&lt;/Text&gt;&lt;/Box&gt;&#10;      &lt;Box style={{ width: 380 }}&gt;&lt;Text style={{ fontSize: 15, color: '#34D399' }}&gt;✓ 工单 / 备件 / 排程内嵌，闭环留痕&lt;/Text&gt;&lt;/Box&gt;&#10;      &lt;Box style={{ flex: 1 }}&gt;&lt;Text style={{ fontSize: 15, color: '#EEF1F6', fontWeight: 'bold' }}&gt;从看板到执行&lt;/Text&gt;&lt;/Box&gt;&#10;    &lt;/Box&gt;&#10;&#10;    &lt;Box style={{ marginTop: 16, background: '#13161E', borderRadius: 12, border: '1px dashed #2C3346', padding: 16, paddingLeft: 20, paddingRight: 20, flexDirection: 'row', alignItems: 'center', gap: 16 }}&gt;&#10;      &lt;Box style={{ paddingTop: 5, paddingBottom: 5, paddingLeft: 12, paddingRight: 12, borderRadius: 6, background: 'rgba(251,191,36,.14)' }}&gt;&#10;        &lt;Text style={{ fontSize: 14, color: '#FBBF24', fontWeight: 'bold' }}&gt;主动认弱&lt;/Text&gt;&#10;      &lt;/Box&gt;&#10;      &lt;Text style={{ fontSize: 16, color: '#A4ABBD', flex: 1, lineHeight: 1.6 }}&gt;&#10;        设备接入协议、组态看板、规模与生态成熟度三项，我们不如存量平台——这些维度&lt;b&gt;不宣称更强&lt;/b&gt;，采用集成而非重建。&#10;      &lt;/Text&gt;&#10;    &lt;/Box&gt;&#10;&#10;    &lt;Text style={{ fontSize: 14, color: '#666D80', marginTop: 12 }}&gt;&#10;      左列为工业互联网平台通用能力特征，不针对任何特定厂商；✓ / ✗ / △ 为三态对照标记。&#10;    &lt;/Text&gt;&#10;&#10;  &lt;/Box&gt;&#10;&#10;  &lt;Box style={{ height: 40, flexDirection: 'row', justifyContent: 'space-between', alignItems: 'center', borderTop: '1px solid #232838' }}&gt;&#10;    &lt;Text style={{ fontSize: 14, color: '#666D80' }}&gt;ChiYu AI · AI 原生设备管理平台&lt;/Text&gt;&#10;    &lt;Text style={{ fontSize: 14, color: '#666D80' }}&gt;10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FBBF24"/>
                </a:solidFill>
                <a:latin typeface="Microsoft YaHei"/>
                <a:ea typeface="Microsoft YaHei"/>
              </a:rPr>
              <a:t>BENCHMARK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对标工业互联网平台：差异在判断与闭环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" y="1257300"/>
            <a:ext cx="10972800" cy="438150"/>
          </a:xfrm>
          <a:prstGeom prst="roundRect">
            <a:avLst>
              <a:gd name="adj" fmla="val 21739"/>
            </a:avLst>
          </a:prstGeom>
          <a:solidFill>
            <a:srgbClr val="1A1F2B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81050" y="139065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66D80"/>
                </a:solidFill>
                <a:latin typeface="Microsoft YaHei"/>
                <a:ea typeface="Microsoft YaHei"/>
              </a:rPr>
              <a:t>能力维度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2686050" y="13906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66D80"/>
                </a:solidFill>
                <a:latin typeface="Microsoft YaHei"/>
                <a:ea typeface="Microsoft YaHei"/>
              </a:rPr>
              <a:t>主流工业互联网平台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734050" y="139065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666D80"/>
                </a:solidFill>
                <a:latin typeface="Microsoft YaHei"/>
                <a:ea typeface="Microsoft YaHei"/>
              </a:rPr>
              <a:t>ChiYu AI </a:t>
            </a:r>
            <a:r>
              <a:rPr lang="zh-CN" sz="1125" b="1">
                <a:solidFill>
                  <a:srgbClr val="666D80"/>
                </a:solidFill>
                <a:latin typeface="Microsoft YaHei"/>
                <a:ea typeface="Microsoft YaHei"/>
              </a:rPr>
              <a:t>原生设备管理平台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9353550" y="1390650"/>
            <a:ext cx="2057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66D80"/>
                </a:solidFill>
                <a:latin typeface="Microsoft YaHei"/>
                <a:ea typeface="Microsoft YaHei"/>
              </a:rPr>
              <a:t>差异价值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09600" y="1695450"/>
            <a:ext cx="10972800" cy="457200"/>
          </a:xfrm>
          <a:custGeom>
            <a:pathLst>
              <a:path w="1152" h="48">
                <a:moveTo>
                  <a:pt x="0" y="47"/>
                </a:moveTo>
                <a:lnTo>
                  <a:pt x="1152" y="47"/>
                </a:lnTo>
                <a:lnTo>
                  <a:pt x="1152" y="48"/>
                </a:lnTo>
                <a:lnTo>
                  <a:pt x="0" y="48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81050" y="1819275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EF1F6"/>
                </a:solidFill>
                <a:latin typeface="Microsoft YaHei"/>
                <a:ea typeface="Microsoft YaHei"/>
              </a:rPr>
              <a:t>告警机制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2686050" y="182880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BBF24"/>
                </a:solidFill>
                <a:latin typeface="Microsoft YaHei"/>
                <a:ea typeface="Microsoft YaHei"/>
              </a:rPr>
              <a:t>△ </a:t>
            </a:r>
            <a:r>
              <a:rPr lang="zh-CN" sz="1125">
                <a:solidFill>
                  <a:srgbClr val="FBBF24"/>
                </a:solidFill>
                <a:latin typeface="Microsoft YaHei"/>
                <a:ea typeface="Microsoft YaHei"/>
              </a:rPr>
              <a:t>阈值</a:t>
            </a:r>
            <a:r>
              <a:rPr lang="en-US" sz="1125">
                <a:solidFill>
                  <a:srgbClr val="FBBF24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FBBF24"/>
                </a:solidFill>
                <a:latin typeface="Microsoft YaHei"/>
                <a:ea typeface="Microsoft YaHei"/>
              </a:rPr>
              <a:t>规则引擎，规则需人工逐条配置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734050" y="182880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4D399"/>
                </a:solidFill>
                <a:latin typeface="Microsoft YaHei"/>
                <a:ea typeface="Microsoft YaHei"/>
              </a:rPr>
              <a:t>✓ </a:t>
            </a:r>
            <a:r>
              <a:rPr lang="zh-CN" sz="1125">
                <a:solidFill>
                  <a:srgbClr val="34D399"/>
                </a:solidFill>
                <a:latin typeface="Microsoft YaHei"/>
                <a:ea typeface="Microsoft YaHei"/>
              </a:rPr>
              <a:t>边缘本地研判</a:t>
            </a:r>
            <a:r>
              <a:rPr lang="en-US" sz="1125">
                <a:solidFill>
                  <a:srgbClr val="34D399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34D399"/>
                </a:solidFill>
                <a:latin typeface="Microsoft YaHei"/>
                <a:ea typeface="Microsoft YaHei"/>
              </a:rPr>
              <a:t>集群关联归因，输出结论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9353550" y="1828800"/>
            <a:ext cx="2057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从配规则到给结论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09600" y="2143125"/>
            <a:ext cx="10972800" cy="457200"/>
          </a:xfrm>
          <a:custGeom>
            <a:pathLst>
              <a:path w="1152" h="48">
                <a:moveTo>
                  <a:pt x="0" y="47"/>
                </a:moveTo>
                <a:lnTo>
                  <a:pt x="1152" y="47"/>
                </a:lnTo>
                <a:lnTo>
                  <a:pt x="1152" y="48"/>
                </a:lnTo>
                <a:lnTo>
                  <a:pt x="0" y="48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81050" y="22669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EF1F6"/>
                </a:solidFill>
                <a:latin typeface="Microsoft YaHei"/>
                <a:ea typeface="Microsoft YaHei"/>
              </a:rPr>
              <a:t>告警风暴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686050" y="2276475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87171"/>
                </a:solidFill>
                <a:latin typeface="Microsoft YaHei"/>
                <a:ea typeface="Microsoft YaHei"/>
              </a:rPr>
              <a:t>✗ </a:t>
            </a:r>
            <a:r>
              <a:rPr lang="zh-CN" sz="1125">
                <a:solidFill>
                  <a:srgbClr val="F87171"/>
                </a:solidFill>
                <a:latin typeface="Microsoft YaHei"/>
                <a:ea typeface="Microsoft YaHei"/>
              </a:rPr>
              <a:t>多设备并发刷屏，缺少收敛机制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734050" y="2276475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4D399"/>
                </a:solidFill>
                <a:latin typeface="Microsoft YaHei"/>
                <a:ea typeface="Microsoft YaHei"/>
              </a:rPr>
              <a:t>✓ </a:t>
            </a:r>
            <a:r>
              <a:rPr lang="zh-CN" sz="1125">
                <a:solidFill>
                  <a:srgbClr val="34D399"/>
                </a:solidFill>
                <a:latin typeface="Microsoft YaHei"/>
                <a:ea typeface="Microsoft YaHei"/>
              </a:rPr>
              <a:t>聚合去重</a:t>
            </a:r>
            <a:r>
              <a:rPr lang="en-US" sz="1125">
                <a:solidFill>
                  <a:srgbClr val="34D399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34D399"/>
                </a:solidFill>
                <a:latin typeface="Microsoft YaHei"/>
                <a:ea typeface="Microsoft YaHei"/>
              </a:rPr>
              <a:t>时序关联，收敛为一条根因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9353550" y="2276475"/>
            <a:ext cx="2057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运维聚焦源头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09600" y="2590800"/>
            <a:ext cx="10972800" cy="457200"/>
          </a:xfrm>
          <a:custGeom>
            <a:pathLst>
              <a:path w="1152" h="48">
                <a:moveTo>
                  <a:pt x="0" y="47"/>
                </a:moveTo>
                <a:lnTo>
                  <a:pt x="1152" y="47"/>
                </a:lnTo>
                <a:lnTo>
                  <a:pt x="1152" y="48"/>
                </a:lnTo>
                <a:lnTo>
                  <a:pt x="0" y="48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81050" y="2714625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EF1F6"/>
                </a:solidFill>
                <a:latin typeface="Microsoft YaHei"/>
                <a:ea typeface="Microsoft YaHei"/>
              </a:rPr>
              <a:t>跨设备根因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2686050" y="27241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87171"/>
                </a:solidFill>
                <a:latin typeface="Microsoft YaHei"/>
                <a:ea typeface="Microsoft YaHei"/>
              </a:rPr>
              <a:t>✗ </a:t>
            </a:r>
            <a:r>
              <a:rPr lang="zh-CN" sz="1125">
                <a:solidFill>
                  <a:srgbClr val="F87171"/>
                </a:solidFill>
                <a:latin typeface="Microsoft YaHei"/>
                <a:ea typeface="Microsoft YaHei"/>
              </a:rPr>
              <a:t>单机视角，连锁传导靠人跨系统拼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734050" y="272415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4D399"/>
                </a:solidFill>
                <a:latin typeface="Microsoft YaHei"/>
                <a:ea typeface="Microsoft YaHei"/>
              </a:rPr>
              <a:t>✓ </a:t>
            </a:r>
            <a:r>
              <a:rPr lang="zh-CN" sz="1125">
                <a:solidFill>
                  <a:srgbClr val="34D399"/>
                </a:solidFill>
                <a:latin typeface="Microsoft YaHei"/>
                <a:ea typeface="Microsoft YaHei"/>
              </a:rPr>
              <a:t>设备—工艺—产线拓扑</a:t>
            </a:r>
            <a:r>
              <a:rPr lang="en-US" sz="1125">
                <a:solidFill>
                  <a:srgbClr val="34D399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34D399"/>
                </a:solidFill>
                <a:latin typeface="Microsoft YaHei"/>
                <a:ea typeface="Microsoft YaHei"/>
              </a:rPr>
              <a:t>时序推理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9353550" y="2724150"/>
            <a:ext cx="2057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减少抢修方向错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09600" y="3038475"/>
            <a:ext cx="10972800" cy="457200"/>
          </a:xfrm>
          <a:custGeom>
            <a:pathLst>
              <a:path w="1152" h="48">
                <a:moveTo>
                  <a:pt x="0" y="47"/>
                </a:moveTo>
                <a:lnTo>
                  <a:pt x="1152" y="47"/>
                </a:lnTo>
                <a:lnTo>
                  <a:pt x="1152" y="48"/>
                </a:lnTo>
                <a:lnTo>
                  <a:pt x="0" y="48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81050" y="316230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EF1F6"/>
                </a:solidFill>
                <a:latin typeface="Microsoft YaHei"/>
                <a:ea typeface="Microsoft YaHei"/>
              </a:rPr>
              <a:t>记忆与经验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2686050" y="3171825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BBF24"/>
                </a:solidFill>
                <a:latin typeface="Microsoft YaHei"/>
                <a:ea typeface="Microsoft YaHei"/>
              </a:rPr>
              <a:t>△ </a:t>
            </a:r>
            <a:r>
              <a:rPr lang="zh-CN" sz="1125">
                <a:solidFill>
                  <a:srgbClr val="FBBF24"/>
                </a:solidFill>
                <a:latin typeface="Microsoft YaHei"/>
                <a:ea typeface="Microsoft YaHei"/>
              </a:rPr>
              <a:t>有历史数据，经验非结构化易流失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734050" y="3171825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4D399"/>
                </a:solidFill>
                <a:latin typeface="Microsoft YaHei"/>
                <a:ea typeface="Microsoft YaHei"/>
              </a:rPr>
              <a:t>✓ </a:t>
            </a:r>
            <a:r>
              <a:rPr lang="zh-CN" sz="1125">
                <a:solidFill>
                  <a:srgbClr val="34D399"/>
                </a:solidFill>
                <a:latin typeface="Microsoft YaHei"/>
                <a:ea typeface="Microsoft YaHei"/>
              </a:rPr>
              <a:t>设备记忆体</a:t>
            </a:r>
            <a:r>
              <a:rPr lang="en-US" sz="1125">
                <a:solidFill>
                  <a:srgbClr val="34D399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34D399"/>
                </a:solidFill>
                <a:latin typeface="Microsoft YaHei"/>
                <a:ea typeface="Microsoft YaHei"/>
              </a:rPr>
              <a:t>向量检索，先例可调用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9353550" y="3171825"/>
            <a:ext cx="2057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经验可继承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09600" y="3486150"/>
            <a:ext cx="10972800" cy="457200"/>
          </a:xfrm>
          <a:custGeom>
            <a:pathLst>
              <a:path w="1152" h="48">
                <a:moveTo>
                  <a:pt x="0" y="47"/>
                </a:moveTo>
                <a:lnTo>
                  <a:pt x="1152" y="47"/>
                </a:lnTo>
                <a:lnTo>
                  <a:pt x="1152" y="48"/>
                </a:lnTo>
                <a:lnTo>
                  <a:pt x="0" y="48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81050" y="3609975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EF1F6"/>
                </a:solidFill>
                <a:latin typeface="Microsoft YaHei"/>
                <a:ea typeface="Microsoft YaHei"/>
              </a:rPr>
              <a:t>决策可解释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2686050" y="361950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BBF24"/>
                </a:solidFill>
                <a:latin typeface="Microsoft YaHei"/>
                <a:ea typeface="Microsoft YaHei"/>
              </a:rPr>
              <a:t>△ </a:t>
            </a:r>
            <a:r>
              <a:rPr lang="zh-CN" sz="1125">
                <a:solidFill>
                  <a:srgbClr val="FBBF24"/>
                </a:solidFill>
                <a:latin typeface="Microsoft YaHei"/>
                <a:ea typeface="Microsoft YaHei"/>
              </a:rPr>
              <a:t>规则触发可追，复杂判断仍是黑箱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734050" y="361950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4D399"/>
                </a:solidFill>
                <a:latin typeface="Microsoft YaHei"/>
                <a:ea typeface="Microsoft YaHei"/>
              </a:rPr>
              <a:t>✓ </a:t>
            </a:r>
            <a:r>
              <a:rPr lang="zh-CN" sz="1125">
                <a:solidFill>
                  <a:srgbClr val="34D399"/>
                </a:solidFill>
                <a:latin typeface="Microsoft YaHei"/>
                <a:ea typeface="Microsoft YaHei"/>
              </a:rPr>
              <a:t>九尺子校验</a:t>
            </a:r>
            <a:r>
              <a:rPr lang="en-US" sz="1125">
                <a:solidFill>
                  <a:srgbClr val="34D399"/>
                </a:solidFill>
                <a:latin typeface="Microsoft YaHei"/>
                <a:ea typeface="Microsoft YaHei"/>
              </a:rPr>
              <a:t> + 9 </a:t>
            </a:r>
            <a:r>
              <a:rPr lang="zh-CN" sz="1125">
                <a:solidFill>
                  <a:srgbClr val="34D399"/>
                </a:solidFill>
                <a:latin typeface="Microsoft YaHei"/>
                <a:ea typeface="Microsoft YaHei"/>
              </a:rPr>
              <a:t>列决策记录</a:t>
            </a:r>
            <a:r>
              <a:rPr lang="en-US" sz="1125">
                <a:solidFill>
                  <a:srgbClr val="34D399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34D399"/>
                </a:solidFill>
                <a:latin typeface="Microsoft YaHei"/>
                <a:ea typeface="Microsoft YaHei"/>
              </a:rPr>
              <a:t>概念引用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9353550" y="3619500"/>
            <a:ext cx="2057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敢用</a:t>
            </a:r>
            <a:r>
              <a:rPr lang="en-US" sz="1125" b="1">
                <a:solidFill>
                  <a:srgbClr val="EEF1F6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能追责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09600" y="3933825"/>
            <a:ext cx="10972800" cy="457200"/>
          </a:xfrm>
          <a:custGeom>
            <a:pathLst>
              <a:path w="1152" h="48">
                <a:moveTo>
                  <a:pt x="0" y="47"/>
                </a:moveTo>
                <a:lnTo>
                  <a:pt x="1152" y="47"/>
                </a:lnTo>
                <a:lnTo>
                  <a:pt x="1152" y="48"/>
                </a:lnTo>
                <a:lnTo>
                  <a:pt x="0" y="48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81050" y="40576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EF1F6"/>
                </a:solidFill>
                <a:latin typeface="Microsoft YaHei"/>
                <a:ea typeface="Microsoft YaHei"/>
              </a:rPr>
              <a:t>业务闭环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2686050" y="4067175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BBF24"/>
                </a:solidFill>
                <a:latin typeface="Microsoft YaHei"/>
                <a:ea typeface="Microsoft YaHei"/>
              </a:rPr>
              <a:t>△ </a:t>
            </a:r>
            <a:r>
              <a:rPr lang="zh-CN" sz="1125">
                <a:solidFill>
                  <a:srgbClr val="FBBF24"/>
                </a:solidFill>
                <a:latin typeface="Microsoft YaHei"/>
                <a:ea typeface="Microsoft YaHei"/>
              </a:rPr>
              <a:t>告警到工单靠人转，需外挂</a:t>
            </a:r>
            <a:r>
              <a:rPr lang="en-US" sz="1125">
                <a:solidFill>
                  <a:srgbClr val="FBBF24"/>
                </a:solidFill>
                <a:latin typeface="Microsoft YaHei"/>
                <a:ea typeface="Microsoft YaHei"/>
              </a:rPr>
              <a:t> CMMS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734050" y="4067175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4D399"/>
                </a:solidFill>
                <a:latin typeface="Microsoft YaHei"/>
                <a:ea typeface="Microsoft YaHei"/>
              </a:rPr>
              <a:t>✓ </a:t>
            </a:r>
            <a:r>
              <a:rPr lang="zh-CN" sz="1125">
                <a:solidFill>
                  <a:srgbClr val="34D399"/>
                </a:solidFill>
                <a:latin typeface="Microsoft YaHei"/>
                <a:ea typeface="Microsoft YaHei"/>
              </a:rPr>
              <a:t>工单</a:t>
            </a:r>
            <a:r>
              <a:rPr lang="en-US" sz="1125">
                <a:solidFill>
                  <a:srgbClr val="34D399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34D399"/>
                </a:solidFill>
                <a:latin typeface="Microsoft YaHei"/>
                <a:ea typeface="Microsoft YaHei"/>
              </a:rPr>
              <a:t>备件</a:t>
            </a:r>
            <a:r>
              <a:rPr lang="en-US" sz="1125">
                <a:solidFill>
                  <a:srgbClr val="34D399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34D399"/>
                </a:solidFill>
                <a:latin typeface="Microsoft YaHei"/>
                <a:ea typeface="Microsoft YaHei"/>
              </a:rPr>
              <a:t>排程内嵌，闭环留痕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353550" y="4067175"/>
            <a:ext cx="2057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从看板到执行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09600" y="4533900"/>
            <a:ext cx="10972800" cy="600075"/>
          </a:xfrm>
          <a:prstGeom prst="roundRect">
            <a:avLst>
              <a:gd name="adj" fmla="val 19048"/>
            </a:avLst>
          </a:prstGeom>
          <a:solidFill>
            <a:srgbClr val="13161E"/>
          </a:solidFill>
          <a:ln w="12700">
            <a:solidFill>
              <a:srgbClr val="2C3346"/>
            </a:solidFill>
            <a:prstDash val="dash"/>
          </a:ln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800100" y="4705350"/>
            <a:ext cx="762000" cy="257175"/>
          </a:xfrm>
          <a:prstGeom prst="roundRect">
            <a:avLst>
              <a:gd name="adj" fmla="val 22222"/>
            </a:avLst>
          </a:prstGeom>
          <a:solidFill>
            <a:srgbClr val="FBBF24">
              <a:alpha val="14000"/>
            </a:srgbClr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14400" y="47529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BF24"/>
                </a:solidFill>
                <a:latin typeface="Microsoft YaHei"/>
                <a:ea typeface="Microsoft YaHei"/>
              </a:rPr>
              <a:t>主动认弱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714500" y="4686300"/>
            <a:ext cx="9677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设备接入协议、组态看板、规模与生态成熟度三项，我们不如存量平台——这些维度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不宣称更强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，采用集成而非重建。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09600" y="52482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左列为工业互联网平台通用能力特征，不针对任何特定厂商；✓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/ ✗ / △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为三态对照标记。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AI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原生设备管理平台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2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34D399' }} /&gt;&#10;      &lt;Text style={{ fontSize: 15, color: '#34D399', letterSpacing: 2, fontWeight: 'bold' }}&gt;DEPLOYMENT&lt;/Text&gt;&#10;    &lt;/Box&gt;&#10;    &lt;Text style={{ fontSize: 34, fontWeight: 'bold', color: '#EEF1F6' }}&gt;落地情况：底座已生产运行，设备域进入 PoC&lt;/Text&gt;&#10;  &lt;/Box&gt;&#10;&#10;  &lt;Box style={{ flex: 1, marginTop: 18, flexDirection: 'row', gap: 26 }}&gt;&#10;&#10;    &lt;Box style={{ width: 400, alignItems: 'center', justifyContent: 'center' }}&gt;&#10;      &lt;Text style={{ fontSize: 92, fontWeight: 'bold', color: '#34D399', lineHeight: 1, fontFamily: 'Arial' }}&gt;60,290&lt;/Text&gt;&#10;      &lt;Text style={{ fontSize: 18, color: '#A4ABBD', marginTop: 14 }}&gt;行源程序 · 平台底座已交付&lt;/Text&gt;&#10;      &lt;Box style={{ width: 120, height: 4, background: 'linear-gradient(135deg,#22D3EE 0%,#34D399 100%)', marginTop: 20, marginBottom: 20 }} /&gt;&#10;      &lt;Text style={{ fontSize: 17, color: '#EEF1F6', fontWeight: 'bold', lineHeight: 1.6, textAlign: 'center' }}&gt;&#10;        ChiYu AI 销售管理平台 V1.0&lt;br /&gt;软件著作权 · SaaS 已上线&#10;      &lt;/Text&gt;&#10;      &lt;Text style={{ fontSize: 15, color: '#666D80', marginTop: 18, lineHeight: 1.6, textAlign: 'center' }}&gt;&#10;        同一套记忆系统、决策系统与 K-M-D 管道，&lt;br /&gt;向设备域迁移&#10;      &lt;/Text&gt;&#10;    &lt;/Box&gt;&#10;&#10;    &lt;Box style={{ flex: 1, flexDirection: 'column', justifyContent: 'space-between' }}&gt;&#10;&#10;      &lt;Box style={{ background: '#161A24', borderRadius: 14, border: '1px solid #232838', borderTop: '3px solid #22D3EE', padding: 22, flexDirection: 'row', alignItems: 'center', gap: 18 }}&gt;&#10;        &lt;Box style={{ width: 52, height: 52, borderRadius: 12, background: 'rgba(34,211,238,.14)', alignItems: 'center', justifyContent: 'center' }}&gt;&#10;          &lt;Text style={{ fontSize: 22, color: '#22D3EE', fontWeight: 'bold' }}&gt;01&lt;/Text&gt;&#10;        &lt;/Box&gt;&#10;        &lt;Box style={{ flex: 1 }}&gt;&#10;          &lt;Text style={{ fontSize: 21, fontWeight: 'bold', color: '#EEF1F6' }}&gt;已完成：架构与能力设计&lt;/Text&gt;&#10;          &lt;Text style={{ fontSize: 16, color: '#A4ABBD', lineHeight: 1.6, marginTop: 6 }}&gt;&#10;            三层智能体架构、K-M-D 管道、设备记忆体模型与全寿命周期链路已定义，能力文档与介绍材料齐备。&#10;          &lt;/Text&gt;&#10;        &lt;/Box&gt;&#10;      &lt;/Box&gt;&#10;&#10;      &lt;Box style={{ background: '#161A24', borderRadius: 14, border: '1px solid #232838', borderTop: '3px solid #FBBF24', padding: 22, flexDirection: 'row', alignItems: 'center', gap: 18 }}&gt;&#10;        &lt;Box style={{ width: 52, height: 52, borderRadius: 12, background: 'rgba(251,191,36,.14)', alignItems: 'center', justifyContent: 'center' }}&gt;&#10;          &lt;Text style={{ fontSize: 22, color: '#FBBF24', fontWeight: 'bold' }}&gt;02&lt;/Text&gt;&#10;        &lt;/Box&gt;&#10;        &lt;Box style={{ flex: 1 }}&gt;&#10;          &lt;Text style={{ fontSize: 21, fontWeight: 'bold', color: '#EEF1F6' }}&gt;进行中：单设备类型 PoC 准备&lt;/Text&gt;&#10;          &lt;Text style={{ fontSize: 16, color: '#A4ABBD', lineHeight: 1.6, marginTop: 6 }}&gt;&#10;            选定一类设备（泵站 / 空压机 / 暖通机组）接入历史运行与故障记录，验证记忆构建、根因判别与复盘回写是否闭合。&#10;          &lt;/Text&gt;&#10;        &lt;/Box&gt;&#10;      &lt;/Box&gt;&#10;&#10;      &lt;Box style={{ background: '#161A24', borderRadius: 14, border: '1px solid #232838', borderTop: '3px solid #34D399', padding: 22, flexDirection: 'row', alignItems: 'center', gap: 18 }}&gt;&#10;        &lt;Box style={{ width: 52, height: 52, borderRadius: 12, background: 'rgba(52,211,153,.14)', alignItems: 'center', justifyContent: 'center' }}&gt;&#10;          &lt;Text style={{ fontSize: 22, color: '#34D399', fontWeight: 'bold' }}&gt;03&lt;/Text&gt;&#10;        &lt;/Box&gt;&#10;        &lt;Box style={{ flex: 1 }}&gt;&#10;          &lt;Text style={{ fontSize: 21, fontWeight: 'bold', color: '#EEF1F6' }}&gt;下一步：集群试点与指标实测&lt;/Text&gt;&#10;          &lt;Text style={{ fontSize: 16, color: '#A4ABBD', lineHeight: 1.6, marginTop: 6 }}&gt;&#10;            扩至一个厂区设备集群，实测告警收敛率、原发 / 次生判别准确率与工单闭环率，指标以实测为准。&#10;          &lt;/Text&gt;&#10;        &lt;/Box&gt;&#10;      &lt;/Box&gt;&#10;&#10;      &lt;Box style={{ background: '#13161E', borderRadius: 12, border: '1px dashed #2C3346', padding: 16, paddingLeft: 20 }}&gt;&#10;        &lt;Text style={{ fontSize: 16, color: '#FBBF24', lineHeight: 1.65, fontWeight: 'bold' }}&gt;&#10;          诚实声明：设备域暂无行业客户案例与量化收益数据，本页不承诺任何未经实测的指标。&#10;        &lt;/Text&gt;&#10;      &lt;/Box&gt;&#10;&#10;    &lt;/Box&gt;&#10;&#10;  &lt;/Box&gt;&#10;&#10;  &lt;Box style={{ height: 40, flexDirection: 'row', justifyContent: 'space-between', alignItems: 'center', borderTop: '1px solid #232838' }}&gt;&#10;    &lt;Text style={{ fontSize: 14, color: '#666D80' }}&gt;ChiYu AI · AI 原生设备管理平台&lt;/Text&gt;&#10;    &lt;Text style={{ fontSize: 14, color: '#666D80' }}&gt;11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1209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34D399"/>
                </a:solidFill>
                <a:latin typeface="Microsoft YaHei"/>
                <a:ea typeface="Microsoft YaHei"/>
              </a:rPr>
              <a:t>DEPLOYMENT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落地情况：底座已生产运行，设备域进入</a:t>
            </a:r>
            <a:r>
              <a:rPr lang="en-US" sz="2550" b="1">
                <a:solidFill>
                  <a:srgbClr val="EEF1F6"/>
                </a:solidFill>
                <a:latin typeface="Microsoft YaHei"/>
                <a:ea typeface="Microsoft YaHei"/>
              </a:rPr>
              <a:t> PoC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71575" y="2200275"/>
            <a:ext cx="268605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34D399"/>
                </a:solidFill>
                <a:latin typeface="Arial"/>
                <a:ea typeface="Arial"/>
              </a:rPr>
              <a:t>60,290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504950" y="3390900"/>
            <a:ext cx="2028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A4ABBD"/>
                </a:solidFill>
                <a:latin typeface="Microsoft YaHei"/>
                <a:ea typeface="Microsoft YaHei"/>
              </a:rPr>
              <a:t>行源程序</a:t>
            </a:r>
            <a:r>
              <a:rPr lang="en-US" sz="1350">
                <a:solidFill>
                  <a:srgbClr val="A4ABBD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A4ABBD"/>
                </a:solidFill>
                <a:latin typeface="Microsoft YaHei"/>
                <a:ea typeface="Microsoft YaHei"/>
              </a:rPr>
              <a:t>平台底座已交付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1943100" y="3790950"/>
            <a:ext cx="1143000" cy="381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34D39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457325" y="4019550"/>
            <a:ext cx="2114550" cy="6286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1275" b="1">
                <a:solidFill>
                  <a:srgbClr val="EEF1F6"/>
                </a:solidFill>
                <a:latin typeface="Microsoft YaHei"/>
                <a:ea typeface="Microsoft YaHei"/>
              </a:rPr>
              <a:t>ChiYu AI </a:t>
            </a:r>
            <a:r>
              <a:rPr lang="zh-CN" sz="1275" b="1">
                <a:solidFill>
                  <a:srgbClr val="EEF1F6"/>
                </a:solidFill>
                <a:latin typeface="Microsoft YaHei"/>
                <a:ea typeface="Microsoft YaHei"/>
              </a:rPr>
              <a:t>销售管理平台</a:t>
            </a:r>
            <a:r>
              <a:rPr lang="en-US" sz="1275" b="1">
                <a:solidFill>
                  <a:srgbClr val="EEF1F6"/>
                </a:solidFill>
                <a:latin typeface="Microsoft YaHei"/>
                <a:ea typeface="Microsoft YaHei"/>
              </a:rPr>
              <a:t> V1.0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275" b="1">
                <a:solidFill>
                  <a:srgbClr val="EEF1F6"/>
                </a:solidFill>
                <a:latin typeface="Microsoft YaHei"/>
                <a:ea typeface="Microsoft YaHei"/>
              </a:rPr>
              <a:t>软件著作权</a:t>
            </a:r>
            <a:r>
              <a:rPr lang="en-US" sz="1275" b="1">
                <a:solidFill>
                  <a:srgbClr val="EEF1F6"/>
                </a:solidFill>
                <a:latin typeface="Microsoft YaHei"/>
                <a:ea typeface="Microsoft YaHei"/>
              </a:rPr>
              <a:t> · SaaS </a:t>
            </a:r>
            <a:r>
              <a:rPr lang="zh-CN" sz="1275" b="1">
                <a:solidFill>
                  <a:srgbClr val="EEF1F6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95375" y="4819650"/>
            <a:ext cx="2838450" cy="5524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同一套记忆系统、决策系统与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 K-M-D </a:t>
            </a: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管道，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向设备域迁移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4667250" y="1304925"/>
            <a:ext cx="6915150" cy="1343025"/>
          </a:xfrm>
          <a:prstGeom prst="roundRect">
            <a:avLst>
              <a:gd name="adj" fmla="val 9929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4667250" y="1304925"/>
            <a:ext cx="6915150" cy="1343025"/>
          </a:xfrm>
          <a:custGeom>
            <a:pathLst>
              <a:path w="726" h="141">
                <a:moveTo>
                  <a:pt x="713" y="0"/>
                </a:moveTo>
                <a:cubicBezTo>
                  <a:pt x="719" y="0"/>
                  <a:pt x="724" y="5"/>
                  <a:pt x="726" y="11"/>
                </a:cubicBezTo>
                <a:cubicBezTo>
                  <a:pt x="724" y="6"/>
                  <a:pt x="720" y="3"/>
                  <a:pt x="715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712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4876800" y="17145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22D3EE">
              <a:alpha val="14000"/>
            </a:srgbClr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991100" y="18383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543550" y="1514475"/>
            <a:ext cx="5829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EF1F6"/>
                </a:solidFill>
                <a:latin typeface="Microsoft YaHei"/>
                <a:ea typeface="Microsoft YaHei"/>
              </a:rPr>
              <a:t>已完成：架构与能力设计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543550" y="1819275"/>
            <a:ext cx="5829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三层智能体架构、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K-M-D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管道、设备记忆体模型与全寿命周期链路已定义，能力文档与介绍材料齐备。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4667250" y="2771775"/>
            <a:ext cx="6915150" cy="1343025"/>
          </a:xfrm>
          <a:prstGeom prst="roundRect">
            <a:avLst>
              <a:gd name="adj" fmla="val 9929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4667250" y="2771775"/>
            <a:ext cx="6915150" cy="1343025"/>
          </a:xfrm>
          <a:custGeom>
            <a:pathLst>
              <a:path w="726" h="141">
                <a:moveTo>
                  <a:pt x="713" y="0"/>
                </a:moveTo>
                <a:cubicBezTo>
                  <a:pt x="719" y="0"/>
                  <a:pt x="724" y="5"/>
                  <a:pt x="726" y="11"/>
                </a:cubicBezTo>
                <a:cubicBezTo>
                  <a:pt x="724" y="6"/>
                  <a:pt x="720" y="3"/>
                  <a:pt x="715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712" y="0"/>
                </a:lnTo>
                <a:close/>
              </a:path>
            </a:pathLst>
          </a:custGeom>
          <a:solidFill>
            <a:srgbClr val="FBBF24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4876800" y="318135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BBF24">
              <a:alpha val="14000"/>
            </a:srgbClr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991100" y="330517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BB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543550" y="2981325"/>
            <a:ext cx="5829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EF1F6"/>
                </a:solidFill>
                <a:latin typeface="Microsoft YaHei"/>
                <a:ea typeface="Microsoft YaHei"/>
              </a:rPr>
              <a:t>进行中：单设备类型</a:t>
            </a:r>
            <a:r>
              <a:rPr lang="en-US" sz="1575" b="1">
                <a:solidFill>
                  <a:srgbClr val="EEF1F6"/>
                </a:solidFill>
                <a:latin typeface="Microsoft YaHei"/>
                <a:ea typeface="Microsoft YaHei"/>
              </a:rPr>
              <a:t> PoC </a:t>
            </a:r>
            <a:r>
              <a:rPr lang="zh-CN" sz="1575" b="1">
                <a:solidFill>
                  <a:srgbClr val="EEF1F6"/>
                </a:solidFill>
                <a:latin typeface="Microsoft YaHei"/>
                <a:ea typeface="Microsoft YaHei"/>
              </a:rPr>
              <a:t>准备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543550" y="3286125"/>
            <a:ext cx="5829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选定一类设备（泵站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空压机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暖通机组）接入历史运行与故障记录，验证记忆构建、根因判别与复盘回写是否闭合。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667250" y="4238625"/>
            <a:ext cx="6915150" cy="1343025"/>
          </a:xfrm>
          <a:prstGeom prst="roundRect">
            <a:avLst>
              <a:gd name="adj" fmla="val 9929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4667250" y="4238625"/>
            <a:ext cx="6915150" cy="1343025"/>
          </a:xfrm>
          <a:custGeom>
            <a:pathLst>
              <a:path w="726" h="141">
                <a:moveTo>
                  <a:pt x="713" y="0"/>
                </a:moveTo>
                <a:cubicBezTo>
                  <a:pt x="719" y="0"/>
                  <a:pt x="724" y="5"/>
                  <a:pt x="726" y="11"/>
                </a:cubicBezTo>
                <a:cubicBezTo>
                  <a:pt x="724" y="6"/>
                  <a:pt x="720" y="3"/>
                  <a:pt x="715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712" y="0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4876800" y="46482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34D399">
              <a:alpha val="14000"/>
            </a:srgbClr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991100" y="47720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4D399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543550" y="4448175"/>
            <a:ext cx="5829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EF1F6"/>
                </a:solidFill>
                <a:latin typeface="Microsoft YaHei"/>
                <a:ea typeface="Microsoft YaHei"/>
              </a:rPr>
              <a:t>下一步：集群试点与指标实测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543550" y="4752975"/>
            <a:ext cx="5829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扩至一个厂区设备集群，实测告警收敛率、原发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次生判别准确率与工单闭环率，指标以实测为准。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4667250" y="5676900"/>
            <a:ext cx="6915150" cy="609600"/>
          </a:xfrm>
          <a:prstGeom prst="roundRect">
            <a:avLst>
              <a:gd name="adj" fmla="val 18750"/>
            </a:avLst>
          </a:prstGeom>
          <a:solidFill>
            <a:srgbClr val="13161E"/>
          </a:solidFill>
          <a:ln w="12700">
            <a:solidFill>
              <a:srgbClr val="2C3346"/>
            </a:solidFill>
            <a:prstDash val="dash"/>
          </a:ln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857750" y="5829300"/>
            <a:ext cx="657225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 b="1">
                <a:solidFill>
                  <a:srgbClr val="FBBF24"/>
                </a:solidFill>
                <a:latin typeface="Microsoft YaHei"/>
                <a:ea typeface="Microsoft YaHei"/>
              </a:rPr>
              <a:t>诚实声明：设备域暂无行业客户案例与量化收益数据，本页不承诺任何未经实测的指标。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AI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原生设备管理平台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5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22D3EE' }} /&gt;&#10;      &lt;Text style={{ fontSize: 15, color: '#22D3EE', letterSpacing: 2, fontWeight: 'bold' }}&gt;BUSINESS VALUE&lt;/Text&gt;&#10;    &lt;/Box&gt;&#10;    &lt;Text style={{ fontSize: 34, fontWeight: 'bold', color: '#EEF1F6' }}&gt;商业价值：不做替代，做被缺的那一段&lt;/Text&gt;&#10;  &lt;/Box&gt;&#10;&#10;  &lt;Box style={{ flex: 1, marginTop: 20, flexDirection: 'row', gap: 22 }}&gt;&#10;&#10;    &lt;Box style={{ flex: 1, background: '#161A24', borderRadius: 14, border: '1px solid #232838', padding: 26, justifyContent: 'space-between' }}&gt;&#10;      &lt;Box&gt;&#10;        &lt;Text style={{ fontSize: 23, fontWeight: 'bold', color: '#EEF1F6', marginBottom: 16 }}&gt;市场空白在哪&lt;/Text&gt;&#10;        &lt;Box style={{ flexDirection: 'column', gap: 14 }}&gt;&#10;          &lt;Box style={{ flexDirection: 'row', gap: 12 }}&gt;&#10;            &lt;Text style={{ fontSize: 20, color: '#22D3EE', fontWeight: 'bold' }}&gt;→&lt;/Text&gt;&#10;            &lt;Text style={{ fontSize: 16, color: '#A4ABBD', lineHeight: 1.65, flex: 1 }}&gt;存量工业互联网平台普遍止步于看板与阈值告警，判断与闭环是明确的空白地带。&lt;/Text&gt;&#10;          &lt;/Box&gt;&#10;          &lt;Box style={{ flexDirection: 'row', gap: 12 }}&gt;&#10;            &lt;Text style={{ fontSize: 20, color: '#22D3EE', fontWeight: 'bold' }}&gt;→&lt;/Text&gt;&#10;            &lt;Text style={{ fontSize: 16, color: '#A4ABBD', lineHeight: 1.65, flex: 1 }}&gt;规上工业企业设备存量巨大，运维人力增长跟不上设备增长，经验断层是刚需痛点。&lt;/Text&gt;&#10;          &lt;/Box&gt;&#10;          &lt;Box style={{ flexDirection: 'row', gap: 12 }}&gt;&#10;            &lt;Text style={{ fontSize: 20, color: '#22D3EE', fontWeight: 'bold' }}&gt;→&lt;/Text&gt;&#10;            &lt;Text style={{ fontSize: 16, color: '#A4ABBD', lineHeight: 1.65, flex: 1 }}&gt;工厂要的不是更多数据，而是&quot;出事时告诉我该修哪台、为什么、上次怎么修的&quot;。&lt;/Text&gt;&#10;          &lt;/Box&gt;&#10;        &lt;/Box&gt;&#10;      &lt;/Box&gt;&#10;      &lt;Text style={{ fontSize: 15, color: '#666D80', marginTop: 18 }}&gt;市场规模数据待第三方报告核实 [待补充]&lt;/Text&gt;&#10;    &lt;/Box&gt;&#10;&#10;    &lt;Box style={{ flex: 1, background: '#161A24', borderRadius: 14, border: '1px solid #232838', padding: 26, justifyContent: 'space-between' }}&gt;&#10;      &lt;Box&gt;&#10;        &lt;Text style={{ fontSize: 23, fontWeight: 'bold', color: '#EEF1F6', marginBottom: 16 }}&gt;为什么是我们&lt;/Text&gt;&#10;        &lt;Box style={{ flexDirection: 'column', gap: 14 }}&gt;&#10;          &lt;Box style={{ flexDirection: 'row', gap: 12 }}&gt;&#10;            &lt;Text style={{ fontSize: 20, color: '#34D399', fontWeight: 'bold' }}&gt;✓&lt;/Text&gt;&#10;            &lt;Text style={{ fontSize: 16, color: '#A4ABBD', lineHeight: 1.65, flex: 1 }}&gt;互补定位：可叠加在既有平台的数据层之上，不动客户现有投资。&lt;/Text&gt;&#10;          &lt;/Box&gt;&#10;          &lt;Box style={{ flexDirection: 'row', gap: 12 }}&gt;&#10;            &lt;Text style={{ fontSize: 20, color: '#34D399', fontWeight: 'bold' }}&gt;✓&lt;/Text&gt;&#10;            &lt;Text style={{ fontSize: 16, color: '#A4ABBD', lineHeight: 1.65, flex: 1 }}&gt;复制成本低：换设备类型靠配置画像，不新增代码、不改内核。&lt;/Text&gt;&#10;          &lt;/Box&gt;&#10;          &lt;Box style={{ flexDirection: 'row', gap: 12 }}&gt;&#10;            &lt;Text style={{ fontSize: 20, color: '#34D399', fontWeight: 'bold' }}&gt;✓&lt;/Text&gt;&#10;            &lt;Text style={{ fontSize: 16, color: '#A4ABBD', lineHeight: 1.65, flex: 1 }}&gt;能力可迁移：记忆系统、决策系统、K-M-D 已在销售场景生产验证。&lt;/Text&gt;&#10;          &lt;/Box&gt;&#10;          &lt;Box style={{ flexDirection: 'row', gap: 12 }}&gt;&#10;            &lt;Text style={{ fontSize: 20, color: '#34D399', fontWeight: 'bold' }}&gt;✓&lt;/Text&gt;&#10;            &lt;Text style={{ fontSize: 16, color: '#A4ABBD', lineHeight: 1.65, flex: 1 }}&gt;安全可控：决策第 0 闸 + 人工复核，不自动执行生产操作，符合工业红线。&lt;/Text&gt;&#10;          &lt;/Box&gt;&#10;        &lt;/Box&gt;&#10;      &lt;/Box&gt;&#10;      &lt;Text style={{ fontSize: 15, color: '#666D80', marginTop: 18 }}&gt;定价与商业模式 [待补充]&lt;/Text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AI 原生设备管理平台&lt;/Text&gt;&#10;    &lt;Text style={{ fontSize: 14, color: '#666D80' }}&gt;12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>BUSINESS VALUE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商业价值：不做替代，做被缺的那一段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09600" y="1295400"/>
            <a:ext cx="5381625" cy="4991100"/>
          </a:xfrm>
          <a:prstGeom prst="roundRect">
            <a:avLst>
              <a:gd name="adj" fmla="val 2672"/>
            </a:avLst>
          </a:prstGeom>
          <a:solidFill>
            <a:srgbClr val="161A24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57250" y="1543050"/>
            <a:ext cx="48863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EF1F6"/>
                </a:solidFill>
                <a:latin typeface="Microsoft YaHei"/>
                <a:ea typeface="Microsoft YaHei"/>
              </a:rPr>
              <a:t>市场空白在哪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57250" y="1962150"/>
            <a:ext cx="190500" cy="609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62050" y="1962150"/>
            <a:ext cx="45815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存量工业互联网平台普遍止步于看板与阈值告警，判断与闭环是明确的空白地带。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57250" y="2705100"/>
            <a:ext cx="190500" cy="609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62050" y="2705100"/>
            <a:ext cx="45815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规上工业企业设备存量巨大，运维人力增长跟不上设备增长，经验断层是刚需痛点。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57250" y="3448050"/>
            <a:ext cx="190500" cy="609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62050" y="3448050"/>
            <a:ext cx="45815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工厂要的不是更多数据，而是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出事时告诉我该修哪台、为什么、上次怎么修的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57250" y="5867400"/>
            <a:ext cx="488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市场规模数据待第三方报告核实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 [</a:t>
            </a: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待补充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]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200775" y="1295400"/>
            <a:ext cx="5381625" cy="4991100"/>
          </a:xfrm>
          <a:prstGeom prst="roundRect">
            <a:avLst>
              <a:gd name="adj" fmla="val 2672"/>
            </a:avLst>
          </a:prstGeom>
          <a:solidFill>
            <a:srgbClr val="161A24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448425" y="1543050"/>
            <a:ext cx="48863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EF1F6"/>
                </a:solidFill>
                <a:latin typeface="Microsoft YaHei"/>
                <a:ea typeface="Microsoft YaHei"/>
              </a:rPr>
              <a:t>为什么是我们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448425" y="1962150"/>
            <a:ext cx="190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753225" y="1962150"/>
            <a:ext cx="4581525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互补定位：可叠加在既有平台的数据层之上，不动客户现有投资。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448425" y="2400300"/>
            <a:ext cx="190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753225" y="2400300"/>
            <a:ext cx="4581525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复制成本低：换设备类型靠配置画像，不新增代码、不改内核。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448425" y="2838450"/>
            <a:ext cx="190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753225" y="2838450"/>
            <a:ext cx="4581525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能力可迁移：记忆系统、决策系统、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K-M-D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已在销售场景生产验证。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448425" y="3276600"/>
            <a:ext cx="190500" cy="609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753225" y="3276600"/>
            <a:ext cx="45815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安全可控：决策第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0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闸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人工复核，不自动执行生产操作，符合工业红线。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448425" y="5867400"/>
            <a:ext cx="488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定价与商业模式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 [</a:t>
            </a:r>
            <a:r>
              <a:rPr lang="zh-CN" sz="1125">
                <a:solidFill>
                  <a:srgbClr val="666D80"/>
                </a:solidFill>
                <a:latin typeface="Microsoft YaHei"/>
                <a:ea typeface="Microsoft YaHei"/>
              </a:rPr>
              <a:t>待补充</a:t>
            </a:r>
            <a:r>
              <a:rPr lang="en-US" sz="1125">
                <a:solidFill>
                  <a:srgbClr val="666D80"/>
                </a:solidFill>
                <a:latin typeface="Microsoft YaHei"/>
                <a:ea typeface="Microsoft YaHei"/>
              </a:rPr>
              <a:t>]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AI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原生设备管理平台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3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A78BFA' }} /&gt;&#10;      &lt;Text style={{ fontSize: 15, color: '#A78BFA', letterSpacing: 2, fontWeight: 'bold' }}&gt;TEAM &amp;amp; IP&lt;/Text&gt;&#10;    &lt;/Box&gt;&#10;    &lt;Text style={{ fontSize: 34, fontWeight: 'bold', color: '#EEF1F6' }}&gt;团队介绍与知识产权&lt;/Text&gt;&#10;  &lt;/Box&gt;&#10;&#10;  &lt;Box style={{ flex: 1, marginTop: 20, flexDirection: 'row', gap: 22 }}&gt;&#10;&#10;    &lt;Box style={{ flex: 1, background: '#161A24', borderRadius: 14, border: '1px solid #232838', padding: 26, justifyContent: 'space-between' }}&gt;&#10;      &lt;Box&gt;&#10;        &lt;Text style={{ fontSize: 23, fontWeight: 'bold', color: '#EEF1F6' }}&gt;北京青羽智行科技有限公司&lt;/Text&gt;&#10;        &lt;Text style={{ fontSize: 17, color: '#22D3EE', fontWeight: 'bold', marginTop: 8 }}&gt;ChiYu AI · www.chiyuai.com&lt;/Text&gt;&#10;&#10;        &lt;Box style={{ marginTop: 20, flexDirection: 'column', gap: 12 }}&gt;&#10;          &lt;Box style={{ flexDirection: 'row', gap: 12 }}&gt;&#10;            &lt;Box style={{ width: 8, height: 8, borderRadius: 4, background: '#22D3EE', marginTop: 8 }} /&gt;&#10;            &lt;Text style={{ fontSize: 16, color: '#A4ABBD', lineHeight: 1.65, flex: 1 }}&gt;AI 原生架构团队：记忆系统、认知决策引擎、多智能体编排的自主研发与工程化。&lt;/Text&gt;&#10;          &lt;/Box&gt;&#10;          &lt;Box style={{ flexDirection: 'row', gap: 12 }}&gt;&#10;            &lt;Box style={{ width: 8, height: 8, borderRadius: 4, background: '#34D399', marginTop: 8 }} /&gt;&#10;            &lt;Text style={{ fontSize: 16, color: '#A4ABBD', lineHeight: 1.65, flex: 1 }}&gt;行业落地能力：B2B 制造、医疗器械、化工、工业涂料等行业的场景理解与交付经验。&lt;/Text&gt;&#10;          &lt;/Box&gt;&#10;          &lt;Box style={{ flexDirection: 'row', gap: 12 }}&gt;&#10;            &lt;Box style={{ width: 8, height: 8, borderRadius: 4, background: '#FBBF24', marginTop: 8 }} /&gt;&#10;            &lt;Text style={{ fontSize: 16, color: '#A4ABBD', lineHeight: 1.65, flex: 1 }}&gt;产品矩阵：CRM-AI-Native（已上线）、PDM-ai-native、Agent2B，共享同一认知底座。&lt;/Text&gt;&#10;          &lt;/Box&gt;&#10;        &lt;/Box&gt;&#10;      &lt;/Box&gt;&#10;&#10;      &lt;Box style={{ marginTop: 18, background: '#13161E', borderRadius: 10, border: '1px dashed #2C3346', padding: 14 }}&gt;&#10;        &lt;Text style={{ fontSize: 15, color: '#FBBF24', lineHeight: 1.6 }}&gt;&#10;          核心成员姓名、职务、从业年限、分工等详细信息 [待补充]&#10;        &lt;/Text&gt;&#10;      &lt;/Box&gt;&#10;    &lt;/Box&gt;&#10;&#10;    &lt;Box style={{ flex: 1, background: '#161A24', borderRadius: 14, border: '1px solid #232838', padding: 26, justifyContent: 'space-between' }}&gt;&#10;      &lt;Box&gt;&#10;        &lt;Text style={{ fontSize: 23, fontWeight: 'bold', color: '#EEF1F6', marginBottom: 16 }}&gt;知识产权&lt;/Text&gt;&#10;&#10;        &lt;Box style={{ background: '#13161E', borderRadius: 10, border: '1px solid #2C3346', padding: 16, marginBottom: 12 }}&gt;&#10;          &lt;Box style={{ flexDirection: 'row', alignItems: 'center', gap: 10, marginBottom: 8 }}&gt;&#10;            &lt;Box style={{ paddingTop: 4, paddingBottom: 4, paddingLeft: 10, paddingRight: 10, borderRadius: 5, background: 'rgba(52,211,153,.14)' }}&gt;&#10;              &lt;Text style={{ fontSize: 13, color: '#34D399', fontWeight: 'bold' }}&gt;已交付&lt;/Text&gt;&#10;            &lt;/Box&gt;&#10;            &lt;Text style={{ fontSize: 18, fontWeight: 'bold', color: '#EEF1F6' }}&gt;软件著作权 V1.0&lt;/Text&gt;&#10;          &lt;/Box&gt;&#10;          &lt;Text style={{ fontSize: 15, color: '#A4ABBD', lineHeight: 1.6 }}&gt;&#10;            ChiYu AI 销售管理平台 V1.0，登记源程序 60,290 行；同一底座能力向设备域迁移。&#10;          &lt;/Text&gt;&#10;        &lt;/Box&gt;&#10;&#10;        &lt;Box style={{ background: '#13161E', borderRadius: 10, border: '1px solid #2C3346', padding: 16, marginBottom: 12 }}&gt;&#10;          &lt;Box style={{ flexDirection: 'row', alignItems: 'center', gap: 10, marginBottom: 8 }}&gt;&#10;            &lt;Box style={{ paddingTop: 4, paddingBottom: 4, paddingLeft: 10, paddingRight: 10, borderRadius: 5, background: 'rgba(34,211,238,.14)' }}&gt;&#10;              &lt;Text style={{ fontSize: 13, color: '#22D3EE', fontWeight: 'bold' }}&gt;递交中&lt;/Text&gt;&#10;            &lt;/Box&gt;&#10;            &lt;Text style={{ fontSize: 18, fontWeight: 'bold', color: '#EEF1F6' }}&gt;发明专利 5 件&lt;/Text&gt;&#10;          &lt;/Box&gt;&#10;          &lt;Text style={{ fontSize: 15, color: '#A4ABBD', lineHeight: 1.6 }}&gt;&#10;            围绕记忆治理、认知决策、写库即构建等平台通用能力已形成交底文件，分批递交中。&#10;          &lt;/Text&gt;&#10;        &lt;/Box&gt;&#10;&#10;        &lt;Box style={{ background: '#13161E', borderRadius: 10, border: '1px solid #2C3346', padding: 16 }}&gt;&#10;          &lt;Box style={{ flexDirection: 'row', alignItems: 'center', gap: 10, marginBottom: 8 }}&gt;&#10;            &lt;Box style={{ paddingTop: 4, paddingBottom: 4, paddingLeft: 10, paddingRight: 10, borderRadius: 5, background: 'rgba(251,191,36,.14)' }}&gt;&#10;              &lt;Text style={{ fontSize: 13, color: '#FBBF24', fontWeight: 'bold' }}&gt;拟申报&lt;/Text&gt;&#10;            &lt;/Box&gt;&#10;            &lt;Text style={{ fontSize: 18, fontWeight: 'bold', color: '#EEF1F6' }}&gt;设备域软著与专利&lt;/Text&gt;&#10;          &lt;/Box&gt;&#10;          &lt;Text style={{ fontSize: 15, color: '#A4ABBD', lineHeight: 1.6 }}&gt;&#10;            设备管理平台架构与方法论为企业自有成果，软著与相关专利拟于本年度申报；商标&quot;ChiYu AI&quot;注册状态 [待核实]。&#10;          &lt;/Text&gt;&#10;        &lt;/Box&gt;&#10;      &lt;/Box&gt;&#10;&#10;      &lt;Text style={{ fontSize: 14, color: '#666D80', marginTop: 14 }}&gt;以上信息以官方登记文件为准，未取得登记前不作为已授权陈述。&lt;/Text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AI 原生设备管理平台&lt;/Text&gt;&#10;    &lt;Text style={{ fontSize: 14, color: '#666D80' }}&gt;13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962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A78BFA"/>
                </a:solidFill>
                <a:latin typeface="Microsoft YaHei"/>
                <a:ea typeface="Microsoft YaHei"/>
              </a:rPr>
              <a:t>TEAM &amp; IP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团队介绍与知识产权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09600" y="1295400"/>
            <a:ext cx="5381625" cy="4991100"/>
          </a:xfrm>
          <a:prstGeom prst="roundRect">
            <a:avLst>
              <a:gd name="adj" fmla="val 2672"/>
            </a:avLst>
          </a:prstGeom>
          <a:solidFill>
            <a:srgbClr val="161A24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57250" y="1543050"/>
            <a:ext cx="48863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EF1F6"/>
                </a:solidFill>
                <a:latin typeface="Microsoft YaHei"/>
                <a:ea typeface="Microsoft YaHei"/>
              </a:rPr>
              <a:t>北京青羽智行科技有限公司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57250" y="1885950"/>
            <a:ext cx="4886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Microsoft YaHei"/>
                <a:ea typeface="Microsoft YaHei"/>
              </a:rPr>
              <a:t>ChiYu AI · www.chiyuai.com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857250" y="2352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047750" y="2276475"/>
            <a:ext cx="46958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AI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原生架构团队：记忆系统、认知决策引擎、多智能体编排的自主研发与工程化。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857250" y="30765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47750" y="3000375"/>
            <a:ext cx="46958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行业落地能力：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B2B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制造、医疗器械、化工、工业涂料等行业的场景理解与交付经验。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85725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047750" y="3724275"/>
            <a:ext cx="46958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产品矩阵：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CRM-AI-Native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（已上线）、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PDM-ai-native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Agent2B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，共享同一认知底座。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857250" y="5495925"/>
            <a:ext cx="4886325" cy="542925"/>
          </a:xfrm>
          <a:prstGeom prst="roundRect">
            <a:avLst>
              <a:gd name="adj" fmla="val 17544"/>
            </a:avLst>
          </a:prstGeom>
          <a:solidFill>
            <a:srgbClr val="13161E"/>
          </a:solidFill>
          <a:ln w="12700">
            <a:solidFill>
              <a:srgbClr val="2C3346"/>
            </a:solidFill>
            <a:prstDash val="dash"/>
          </a:ln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90600" y="5629275"/>
            <a:ext cx="46196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FBBF24"/>
                </a:solidFill>
                <a:latin typeface="Microsoft YaHei"/>
                <a:ea typeface="Microsoft YaHei"/>
              </a:rPr>
              <a:t>核心成员姓名、职务、从业年限、分工等详细信息</a:t>
            </a:r>
            <a:r>
              <a:rPr lang="en-US" sz="1125">
                <a:solidFill>
                  <a:srgbClr val="FBBF24"/>
                </a:solidFill>
                <a:latin typeface="Microsoft YaHei"/>
                <a:ea typeface="Microsoft YaHei"/>
              </a:rPr>
              <a:t> [</a:t>
            </a:r>
            <a:r>
              <a:rPr lang="zh-CN" sz="1125">
                <a:solidFill>
                  <a:srgbClr val="FBBF24"/>
                </a:solidFill>
                <a:latin typeface="Microsoft YaHei"/>
                <a:ea typeface="Microsoft YaHei"/>
              </a:rPr>
              <a:t>待补充</a:t>
            </a:r>
            <a:r>
              <a:rPr lang="en-US" sz="1125">
                <a:solidFill>
                  <a:srgbClr val="FBBF24"/>
                </a:solidFill>
                <a:latin typeface="Microsoft YaHei"/>
                <a:ea typeface="Microsoft YaHei"/>
              </a:rPr>
              <a:t>]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200775" y="1295400"/>
            <a:ext cx="5381625" cy="4991100"/>
          </a:xfrm>
          <a:prstGeom prst="roundRect">
            <a:avLst>
              <a:gd name="adj" fmla="val 2672"/>
            </a:avLst>
          </a:prstGeom>
          <a:solidFill>
            <a:srgbClr val="161A24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448425" y="1543050"/>
            <a:ext cx="48863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EF1F6"/>
                </a:solidFill>
                <a:latin typeface="Microsoft YaHei"/>
                <a:ea typeface="Microsoft YaHei"/>
              </a:rPr>
              <a:t>知识产权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448425" y="1962150"/>
            <a:ext cx="4886325" cy="1162050"/>
          </a:xfrm>
          <a:prstGeom prst="roundRect">
            <a:avLst>
              <a:gd name="adj" fmla="val 8197"/>
            </a:avLst>
          </a:prstGeom>
          <a:solidFill>
            <a:srgbClr val="13161E"/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6600825" y="2114550"/>
            <a:ext cx="561975" cy="228600"/>
          </a:xfrm>
          <a:prstGeom prst="roundRect">
            <a:avLst>
              <a:gd name="adj" fmla="val 20833"/>
            </a:avLst>
          </a:prstGeom>
          <a:solidFill>
            <a:srgbClr val="34D399">
              <a:alpha val="14000"/>
            </a:srgbClr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696075" y="21526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34D399"/>
                </a:solidFill>
                <a:latin typeface="Microsoft YaHei"/>
                <a:ea typeface="Microsoft YaHei"/>
              </a:rPr>
              <a:t>已交付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258050" y="2124075"/>
            <a:ext cx="1295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EF1F6"/>
                </a:solidFill>
                <a:latin typeface="Microsoft YaHei"/>
                <a:ea typeface="Microsoft YaHei"/>
              </a:rPr>
              <a:t>软件著作权</a:t>
            </a:r>
            <a:r>
              <a:rPr lang="en-US" sz="1350" b="1">
                <a:solidFill>
                  <a:srgbClr val="EEF1F6"/>
                </a:solidFill>
                <a:latin typeface="Microsoft YaHei"/>
                <a:ea typeface="Microsoft YaHei"/>
              </a:rPr>
              <a:t> V1.0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600825" y="2419350"/>
            <a:ext cx="45815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ChiYu AI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销售管理平台</a:t>
            </a: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 V1.0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，登记源程序</a:t>
            </a: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 60,290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行；同一底座能力向设备域迁移。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448425" y="3238500"/>
            <a:ext cx="4886325" cy="1162050"/>
          </a:xfrm>
          <a:prstGeom prst="roundRect">
            <a:avLst>
              <a:gd name="adj" fmla="val 8197"/>
            </a:avLst>
          </a:prstGeom>
          <a:solidFill>
            <a:srgbClr val="13161E"/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6600825" y="3390900"/>
            <a:ext cx="561975" cy="228600"/>
          </a:xfrm>
          <a:prstGeom prst="roundRect">
            <a:avLst>
              <a:gd name="adj" fmla="val 20833"/>
            </a:avLst>
          </a:prstGeom>
          <a:solidFill>
            <a:srgbClr val="22D3EE">
              <a:alpha val="14000"/>
            </a:srgbClr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696075" y="34290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Microsoft YaHei"/>
                <a:ea typeface="Microsoft YaHei"/>
              </a:rPr>
              <a:t>递交中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258050" y="3400425"/>
            <a:ext cx="1066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EF1F6"/>
                </a:solidFill>
                <a:latin typeface="Microsoft YaHei"/>
                <a:ea typeface="Microsoft YaHei"/>
              </a:rPr>
              <a:t>发明专利</a:t>
            </a:r>
            <a:r>
              <a:rPr lang="en-US" sz="1350" b="1">
                <a:solidFill>
                  <a:srgbClr val="EEF1F6"/>
                </a:solidFill>
                <a:latin typeface="Microsoft YaHei"/>
                <a:ea typeface="Microsoft YaHei"/>
              </a:rPr>
              <a:t> 5 </a:t>
            </a:r>
            <a:r>
              <a:rPr lang="zh-CN" sz="1350" b="1">
                <a:solidFill>
                  <a:srgbClr val="EEF1F6"/>
                </a:solidFill>
                <a:latin typeface="Microsoft YaHei"/>
                <a:ea typeface="Microsoft YaHei"/>
              </a:rPr>
              <a:t>件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600825" y="3695700"/>
            <a:ext cx="45815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围绕记忆治理、认知决策、写库即构建等平台通用能力已形成交底文件，分批递交中。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448425" y="4514850"/>
            <a:ext cx="4886325" cy="1162050"/>
          </a:xfrm>
          <a:prstGeom prst="roundRect">
            <a:avLst>
              <a:gd name="adj" fmla="val 8197"/>
            </a:avLst>
          </a:prstGeom>
          <a:solidFill>
            <a:srgbClr val="13161E"/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6600825" y="4667250"/>
            <a:ext cx="561975" cy="228600"/>
          </a:xfrm>
          <a:prstGeom prst="roundRect">
            <a:avLst>
              <a:gd name="adj" fmla="val 20833"/>
            </a:avLst>
          </a:prstGeom>
          <a:solidFill>
            <a:srgbClr val="FBBF24">
              <a:alpha val="14000"/>
            </a:srgbClr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696075" y="47053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BBF24"/>
                </a:solidFill>
                <a:latin typeface="Microsoft YaHei"/>
                <a:ea typeface="Microsoft YaHei"/>
              </a:rPr>
              <a:t>拟申报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258050" y="4676775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EF1F6"/>
                </a:solidFill>
                <a:latin typeface="Microsoft YaHei"/>
                <a:ea typeface="Microsoft YaHei"/>
              </a:rPr>
              <a:t>设备域软著与专利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600825" y="4972050"/>
            <a:ext cx="45815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设备管理平台架构与方法论为企业自有成果，软著与相关专利拟于本年度申报；商标</a:t>
            </a: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"ChiYu AI"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注册状态</a:t>
            </a: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 [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待核实</a:t>
            </a: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]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448425" y="5876925"/>
            <a:ext cx="488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以上信息以官方登记文件为准，未取得登记前不作为已授权陈述。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AI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原生设备管理平台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60" name="" descr="&lt;Slide style={{ background: '#0C0E14', paddingTop: 20, paddingBottom: 20, paddingLeft: 64, paddingRight: 64, fontFamily: 'Microsoft YaHei', flexDirection: 'column', alignItems: 'center', justifyContent: 'center' }}&gt;&#10;&#10;  &lt;svg width={1086} height={44} viewBox='0 0 1086 44' style={{ position: 'absolute', top: 96, left: 64 }}&gt;&#10;    &lt;rect x='493' y='20' width='100' height='4' rx='2' fill='linear-gradient(135deg,#22D3EE 0%,#34D399 100%)' /&gt;&#10;  &lt;/svg&gt;&#10;&#10;  &lt;Text style={{ fontSize: 50, fontWeight: 'bold', color: '#EEF1F6', textAlign: 'center', lineHeight: 1.35 }}&gt;&#10;    让每一次告警有归因，&lt;br /&gt;每一次处置有依据，&lt;br /&gt;&lt;span style={{ color: '#34D399' }}&gt;每一次故障都沉淀成组织的资产&lt;/span&gt;&#10;  &lt;/Text&gt;&#10;&#10;  &lt;Box style={{ flexDirection: 'row', gap: 16, marginTop: 40 }}&gt;&#10;    &lt;Box style={{ paddingTop: 10, paddingBottom: 10, paddingLeft: 22, paddingRight: 22, borderRadius: 999, border: '1px solid #2C3346', background: 'rgba(34,211,238,.10)' }}&gt;&#10;      &lt;Text style={{ fontSize: 16, color: '#22D3EE', fontWeight: 'bold' }}&gt;边缘研判 · 集群归因 · 业务闭环&lt;/Text&gt;&#10;    &lt;/Box&gt;&#10;    &lt;Box style={{ paddingTop: 10, paddingBottom: 10, paddingLeft: 22, paddingRight: 22, borderRadius: 999, border: '1px solid #2C3346' }}&gt;&#10;      &lt;Text style={{ fontSize: 16, color: '#A4ABBD', fontWeight: 'bold' }}&gt;K-M-D 认知决策 + 复盘回写&lt;/Text&gt;&#10;    &lt;/Box&gt;&#10;    &lt;Box style={{ paddingTop: 10, paddingBottom: 10, paddingLeft: 22, paddingRight: 22, borderRadius: 999, border: '1px solid #2C3346' }}&gt;&#10;      &lt;Text style={{ fontSize: 16, color: '#A4ABBD', fontWeight: 'bold' }}&gt;换设备类型只换一份配置画像&lt;/Text&gt;&#10;    &lt;/Box&gt;&#10;  &lt;/Box&gt;&#10;&#10;  &lt;Box style={{ marginTop: 56, alignItems: 'center' }}&gt;&#10;    &lt;Text style={{ fontSize: 20, color: '#EEF1F6', fontWeight: 'bold' }}&gt;北京青羽智行科技有限公司 · ChiYu AI&lt;/Text&gt;&#10;    &lt;Text style={{ fontSize: 16, color: '#666D80', marginTop: 10 }}&gt;www.chiyuai.com ｜ 2026 年 9 月&lt;/Text&gt;&#10;  &lt;/Box&gt;&#10;&#10;  &lt;Text style={{ fontSize: 14, color: '#4B5468', marginTop: 26, textAlign: 'center' }}&gt;&#10;    本材料中的场景为能力运行逻辑推演，量化指标需实测后填充，未对外承诺&#10;  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2762250" y="1162050"/>
            <a:ext cx="6667500" cy="2314575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3750" b="1">
                <a:solidFill>
                  <a:srgbClr val="EEF1F6"/>
                </a:solidFill>
                <a:latin typeface="Microsoft YaHei"/>
                <a:ea typeface="Microsoft YaHei"/>
              </a:rPr>
              <a:t>让每一次告警有归因，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3750" b="1">
                <a:solidFill>
                  <a:srgbClr val="EEF1F6"/>
                </a:solidFill>
                <a:latin typeface="Microsoft YaHei"/>
                <a:ea typeface="Microsoft YaHei"/>
              </a:rPr>
              <a:t>每一次处置有依据，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3750" b="1">
                <a:solidFill>
                  <a:srgbClr val="34D399"/>
                </a:solidFill>
                <a:latin typeface="Microsoft YaHei"/>
                <a:ea typeface="Microsoft YaHei"/>
              </a:rPr>
              <a:t>每一次故障都沉淀成组织的资产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2257425" y="3857625"/>
            <a:ext cx="2571750" cy="381000"/>
          </a:xfrm>
          <a:prstGeom prst="roundRect">
            <a:avLst>
              <a:gd name="adj" fmla="val 2497500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2466975" y="3952875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2D3EE"/>
                </a:solidFill>
                <a:latin typeface="Microsoft YaHei"/>
                <a:ea typeface="Microsoft YaHei"/>
              </a:rPr>
              <a:t>边缘研判</a:t>
            </a:r>
            <a:r>
              <a:rPr lang="en-US" sz="1200" b="1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22D3EE"/>
                </a:solidFill>
                <a:latin typeface="Microsoft YaHei"/>
                <a:ea typeface="Microsoft YaHei"/>
              </a:rPr>
              <a:t>集群归因</a:t>
            </a:r>
            <a:r>
              <a:rPr lang="en-US" sz="1200" b="1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22D3EE"/>
                </a:solidFill>
                <a:latin typeface="Microsoft YaHei"/>
                <a:ea typeface="Microsoft YaHei"/>
              </a:rPr>
              <a:t>业务闭环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4981575" y="3857625"/>
            <a:ext cx="2409825" cy="381000"/>
          </a:xfrm>
          <a:prstGeom prst="roundRect">
            <a:avLst>
              <a:gd name="adj" fmla="val 2497500"/>
            </a:avLst>
          </a:prstGeom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191125" y="3952875"/>
            <a:ext cx="1990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A4ABBD"/>
                </a:solidFill>
                <a:latin typeface="Microsoft YaHei"/>
                <a:ea typeface="Microsoft YaHei"/>
              </a:rPr>
              <a:t>K-M-D </a:t>
            </a:r>
            <a:r>
              <a:rPr lang="zh-CN" sz="1200" b="1">
                <a:solidFill>
                  <a:srgbClr val="A4ABBD"/>
                </a:solidFill>
                <a:latin typeface="Microsoft YaHei"/>
                <a:ea typeface="Microsoft YaHei"/>
              </a:rPr>
              <a:t>认知决策</a:t>
            </a:r>
            <a:r>
              <a:rPr lang="en-US" sz="1200" b="1">
                <a:solidFill>
                  <a:srgbClr val="A4ABBD"/>
                </a:solidFill>
                <a:latin typeface="Microsoft YaHei"/>
                <a:ea typeface="Microsoft YaHei"/>
              </a:rPr>
              <a:t> + </a:t>
            </a:r>
            <a:r>
              <a:rPr lang="zh-CN" sz="1200" b="1">
                <a:solidFill>
                  <a:srgbClr val="A4ABBD"/>
                </a:solidFill>
                <a:latin typeface="Microsoft YaHei"/>
                <a:ea typeface="Microsoft YaHei"/>
              </a:rPr>
              <a:t>复盘回写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7543800" y="3857625"/>
            <a:ext cx="2400300" cy="381000"/>
          </a:xfrm>
          <a:prstGeom prst="roundRect">
            <a:avLst>
              <a:gd name="adj" fmla="val 2497500"/>
            </a:avLst>
          </a:prstGeom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753350" y="3952875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4ABBD"/>
                </a:solidFill>
                <a:latin typeface="Microsoft YaHei"/>
                <a:ea typeface="Microsoft YaHei"/>
              </a:rPr>
              <a:t>换设备类型只换一份配置画像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448175" y="4772025"/>
            <a:ext cx="3295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EF1F6"/>
                </a:solidFill>
                <a:latin typeface="Microsoft YaHei"/>
                <a:ea typeface="Microsoft YaHei"/>
              </a:rPr>
              <a:t>北京青羽智行科技有限公司</a:t>
            </a:r>
            <a:r>
              <a:rPr lang="en-US" sz="1500" b="1">
                <a:solidFill>
                  <a:srgbClr val="EEF1F6"/>
                </a:solidFill>
                <a:latin typeface="Microsoft YaHei"/>
                <a:ea typeface="Microsoft YaHei"/>
              </a:rPr>
              <a:t> · ChiYu AI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905375" y="5095875"/>
            <a:ext cx="2390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66D80"/>
                </a:solidFill>
                <a:latin typeface="Microsoft YaHei"/>
                <a:ea typeface="Microsoft YaHei"/>
              </a:rPr>
              <a:t>www.chiyuai.com </a:t>
            </a: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｜</a:t>
            </a:r>
            <a:r>
              <a:rPr lang="en-US" sz="1200">
                <a:solidFill>
                  <a:srgbClr val="666D80"/>
                </a:solidFill>
                <a:latin typeface="Microsoft YaHei"/>
                <a:ea typeface="Microsoft YaHei"/>
              </a:rPr>
              <a:t> 2026 </a:t>
            </a: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666D80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3895725" y="5534025"/>
            <a:ext cx="440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4B5468"/>
                </a:solidFill>
                <a:latin typeface="Microsoft YaHei"/>
                <a:ea typeface="Microsoft YaHei"/>
              </a:rPr>
              <a:t>本材料中的场景为能力运行逻辑推演，量化指标需实测后填充，未对外承诺</a:t>
            </a:r>
            <a:endParaRPr/>
          </a:p>
        </p:txBody>
      </p:sp>
      <p:pic>
        <p:nvPicPr>
          <p:cNvPr id="1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914400"/>
            <a:ext cx="10344150" cy="419100"/>
          </a:xfrm>
          <a:prstGeom prst="rect">
            <a:avLst/>
          </a:prstGeom>
          <a:ln/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2026-09-11T20:49:11Z</dcterms:created>
  <dcterms:modified xsi:type="dcterms:W3CDTF">2026-09-11T20:49:11Z</dcterms:modified>
</cp:coreProperties>
</file>