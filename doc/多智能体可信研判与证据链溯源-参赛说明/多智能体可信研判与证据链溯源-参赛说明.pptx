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15" Type="http://schemas.openxmlformats.org/officeDocument/2006/relationships/notesMaster" Target="notesMasters/notesMaster1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9" Type="http://schemas.openxmlformats.org/officeDocument/2006/relationships/slide" Target="slides/slide9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background: '#0C0E14', paddingTop: 20, paddingBottom: 20, paddingLeft: 64, paddingRight: 64, fontFamily: 'Microsoft YaHei', flexDirection: 'row', alignItems: 'center', gap: 40 }}&gt;&#10;&#10;  &lt;Box style={{ flex: 1, flexDirection: 'column', justifyContent: 'center' }}&gt;&#10;    &lt;Box style={{ flexDirection: 'row', alignItems: 'center', gap: 12, marginBottom: 26 }}&gt;&#10;      &lt;Box style={{ width: 44, height: 4, background: '#22D3EE' }} /&gt;&#10;      &lt;Text style={{ fontSize: 16, color: '#22D3EE', letterSpacing: 3, fontWeight: 'bold' }}&gt;AI 应用大赛 · 参赛作品说明&lt;/Text&gt;&#10;    &lt;/Box&gt;&#10;&#10;    &lt;Text style={{ fontSize: 56, fontWeight: 'bold', lineHeight: 1.18, color: '#EEF1F6' }}&gt;&#10;      多智能体可信研判&lt;br /&gt;与证据链溯源系统&#10;    &lt;/Text&gt;&#10;&#10;    &lt;Box style={{ width: 96, height: 5, background: 'linear-gradient(135deg,#22D3EE 0%,#34D399 100%)', marginTop: 24, marginBottom: 24 }} /&gt;&#10;&#10;    &lt;Text style={{ fontSize: 22, color: '#A4ABBD', lineHeight: 1.6 }}&gt;&#10;      让每一条研判结论都带着它的&lt;br /&gt;&lt;span style={{ color: '#34D399', fontWeight: 'bold' }}&gt;证据链、推理链与分歧记录&lt;/span&gt;&#10;    &lt;/Text&gt;&#10;&#10;    &lt;Box style={{ flexDirection: 'row', gap: 12, marginTop: 32 }}&gt;&#10;      &lt;Box style={{ paddingTop: 8, paddingBottom: 8, paddingLeft: 18, paddingRight: 18, borderRadius: 999, border: '1px solid #2C3346', background: 'rgba(34,211,238,.12)' }}&gt;&#10;        &lt;Text style={{ fontSize: 15, color: '#22D3EE', fontWeight: 'bold' }}&gt;可信度量 · 冲突消解 · 证据溯源 · 推理透明&lt;/Text&gt;&#10;      &lt;/Box&gt;&#10;      &lt;Box style={{ paddingTop: 8, paddingBottom: 8, paddingLeft: 18, paddingRight: 18, borderRadius: 999, border: '1px solid #2C3346' }}&gt;&#10;        &lt;Text style={{ fontSize: 15, color: '#A4ABBD', fontWeight: 'bold' }}&gt;MCP 标准接口&lt;/Text&gt;&#10;      &lt;/Box&gt;&#10;    &lt;/Box&gt;&#10;&#10;    &lt;Text style={{ fontSize: 16, color: '#666D80', marginTop: 38, lineHeight: 1.7 }}&gt;&#10;      北京青羽智行科技有限公司 · ChiYu AI&lt;br /&gt;2026 年 9 月&#10;    &lt;/Text&gt;&#10;  &lt;/Box&gt;&#10;&#10;  &lt;Box style={{ width: 470, height: 470, alignItems: 'center', justifyContent: 'center' }}&gt;&#10;    &lt;svg width={470} height={470} viewBox='0 0 470 470'&gt;&#10;      &lt;circle cx='235' cy='235' r='208' fill='none' stroke='#1F2532' strokeWidth='1' /&gt;&#10;      &lt;circle cx='235' cy='235' r='152' fill='none' stroke='#232838' strokeWidth='1' /&gt;&#10;      &lt;circle cx='235' cy='235' r='96' fill='none' stroke='#2C3346' strokeWidth='1' /&gt;&#10;      &lt;path d='M235 235 L160 105' stroke='#22D3EE' strokeWidth='2' opacity='0.75' /&gt;&#10;      &lt;path d='M235 235 L235 385' stroke='#22D3EE' strokeWidth='2' opacity='0.75' /&gt;&#10;      &lt;path d='M235 235 L376 184' stroke='#22D3EE' strokeWidth='2' opacity='0.75' /&gt;&#10;      &lt;path d='M160 105 L335 62' stroke='#34D399' strokeWidth='1.5' opacity='0.45' /&gt;&#10;      &lt;path d='M160 105 L38 200' stroke='#34D399' strokeWidth='1.5' opacity='0.45' /&gt;&#10;      &lt;path d='M235 385 L135 408' stroke='#34D399' strokeWidth='1.5' opacity='0.45' /&gt;&#10;      &lt;path d='M376 184 L408 335' stroke='#34D399' strokeWidth='1.5' opacity='0.45' /&gt;&#10;      &lt;circle cx='160' cy='105' r='24' fill='#161A24' stroke='#22D3EE' strokeWidth='2' /&gt;&#10;      &lt;circle cx='235' cy='385' r='24' fill='#161A24' stroke='#22D3EE' strokeWidth='2' /&gt;&#10;      &lt;circle cx='376' cy='184' r='24' fill='#161A24' stroke='#22D3EE' strokeWidth='2' /&gt;&#10;      &lt;circle cx='335' cy='62' r='16' fill='#13161E' stroke='#34D399' strokeWidth='1.5' /&gt;&#10;      &lt;circle cx='38' cy='200' r='16' fill='#13161E' stroke='#34D399' strokeWidth='1.5' /&gt;&#10;      &lt;circle cx='135' cy='408' r='16' fill='#13161E' stroke='#34D399' strokeWidth='1.5' /&gt;&#10;      &lt;circle cx='408' cy='335' r='16' fill='#13161E' stroke='#34D399' strokeWidth='1.5' /&gt;&#10;      &lt;circle cx='235' cy='235' r='40' fill='#13161E' stroke='#22D3EE' strokeWidth='3' /&gt;&#10;      &lt;text x='235' y='231' fill='#EEF1F6' fontSize='14' fontWeight='bold' textAnchor='middle' fontFamily='Microsoft YaHei'&gt;结论&lt;/text&gt;&#10;      &lt;text x='235' y='250' fill='#666D80' fontSize='10' textAnchor='middle' fontFamily='Microsoft YaHei'&gt;受信度量&lt;/text&gt;&#10;      &lt;text x='160' y='143' fill='#A4ABBD' fontSize='11' textAnchor='middle' fontFamily='Microsoft YaHei'&gt;证据 A&lt;/text&gt;&#10;      &lt;text x='235' y='423' fill='#A4ABBD' fontSize='11' textAnchor='middle' fontFamily='Microsoft YaHei'&gt;证据 B&lt;/text&gt;&#10;      &lt;text x='376' y='222' fill='#A4ABBD' fontSize='11' textAnchor='middle' fontFamily='Microsoft YaHei'&gt;反证 C&lt;/text&gt;&#10;      &lt;text x='335' y='38' fill='#666D80' fontSize='10' textAnchor='middle' fontFamily='Microsoft YaHei'&gt;来源&lt;/text&gt;&#10;      &lt;text x='38' y='176' fill='#666D80' fontSize='10' textAnchor='middle' fontFamily='Microsoft YaHei'&gt;来源&lt;/text&gt;&#10;      &lt;text x='135' y='440' fill='#666D80' fontSize='10' textAnchor='middle' fontFamily='Microsoft YaHei'&gt;来源&lt;/text&gt;&#10;      &lt;text x='408' y='311' fill='#666D80' fontSize='10' textAnchor='middle' fontFamily='Microsoft YaHei'&gt;来源&lt;/text&gt;&#10;      &lt;text x='235' y='462' fill='#4B5468' fontSize='11' textAnchor='middle' fontFamily='Microsoft YaHei'&gt;支持 · 反驳 · 来源，全程可下钻&lt;/text&gt;&#10;    &lt;/svg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1066800"/>
            <a:ext cx="4191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143000" y="990600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22D3EE"/>
                </a:solidFill>
                <a:latin typeface="Microsoft YaHei"/>
                <a:ea typeface="Microsoft YaHei"/>
              </a:rPr>
              <a:t>AI </a:t>
            </a:r>
            <a:r>
              <a:rPr lang="zh-CN" sz="1200" b="1" spc="225">
                <a:solidFill>
                  <a:srgbClr val="22D3EE"/>
                </a:solidFill>
                <a:latin typeface="Microsoft YaHei"/>
                <a:ea typeface="Microsoft YaHei"/>
              </a:rPr>
              <a:t>应用大赛</a:t>
            </a:r>
            <a:r>
              <a:rPr lang="en-US" sz="1200" b="1" spc="225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200" b="1" spc="225">
                <a:solidFill>
                  <a:srgbClr val="22D3EE"/>
                </a:solidFill>
                <a:latin typeface="Microsoft YaHei"/>
                <a:ea typeface="Microsoft YaHei"/>
              </a:rPr>
              <a:t>参赛作品说明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6115050" cy="151447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200" b="1">
                <a:solidFill>
                  <a:srgbClr val="EEF1F6"/>
                </a:solidFill>
                <a:latin typeface="Microsoft YaHei"/>
                <a:ea typeface="Microsoft YaHei"/>
              </a:rPr>
              <a:t>多智能体可信研判</a:t>
            </a:r>
            <a:endParaRPr/>
          </a:p>
          <a:p>
            <a:pPr>
              <a:lnSpc>
                <a:spcPct val="118000"/>
              </a:lnSpc>
            </a:pPr>
            <a:r>
              <a:rPr lang="zh-CN" sz="4200" b="1">
                <a:solidFill>
                  <a:srgbClr val="EEF1F6"/>
                </a:solidFill>
                <a:latin typeface="Microsoft YaHei"/>
                <a:ea typeface="Microsoft YaHei"/>
              </a:rPr>
              <a:t>与证据链溯源系统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171825"/>
            <a:ext cx="914400" cy="47625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34D3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448050"/>
            <a:ext cx="6115050" cy="809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A4ABBD"/>
                </a:solidFill>
                <a:latin typeface="Microsoft YaHei"/>
                <a:ea typeface="Microsoft YaHei"/>
              </a:rPr>
              <a:t>让每一条研判结论都带着它的</a:t>
            </a:r>
            <a:endParaRPr/>
          </a:p>
          <a:p>
            <a:pPr>
              <a:lnSpc>
                <a:spcPct val="160000"/>
              </a:lnSpc>
            </a:pPr>
            <a:r>
              <a:rPr lang="zh-CN" sz="1650" b="1">
                <a:solidFill>
                  <a:srgbClr val="34D399"/>
                </a:solidFill>
                <a:latin typeface="Microsoft YaHei"/>
                <a:ea typeface="Microsoft YaHei"/>
              </a:rPr>
              <a:t>证据链、推理链与分歧记录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562475"/>
            <a:ext cx="3076575" cy="323850"/>
          </a:xfrm>
          <a:prstGeom prst="roundRect">
            <a:avLst>
              <a:gd name="adj" fmla="val 2938235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81050" y="4638675"/>
            <a:ext cx="2733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可信度量</a:t>
            </a: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冲突消解</a:t>
            </a: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证据溯源</a:t>
            </a: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推理透明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3800475" y="4562475"/>
            <a:ext cx="1295400" cy="323850"/>
          </a:xfrm>
          <a:prstGeom prst="roundRect">
            <a:avLst>
              <a:gd name="adj" fmla="val 2938235"/>
            </a:avLst>
          </a:prstGeom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971925" y="4638675"/>
            <a:ext cx="95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4ABBD"/>
                </a:solidFill>
                <a:latin typeface="Microsoft YaHei"/>
                <a:ea typeface="Microsoft YaHei"/>
              </a:rPr>
              <a:t>MCP </a:t>
            </a:r>
            <a:r>
              <a:rPr lang="zh-CN" sz="1125" b="1">
                <a:solidFill>
                  <a:srgbClr val="A4ABBD"/>
                </a:solidFill>
                <a:latin typeface="Microsoft YaHei"/>
                <a:ea typeface="Microsoft YaHei"/>
              </a:rPr>
              <a:t>标准接口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5248275"/>
            <a:ext cx="61150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北京青羽智行科技有限公司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· ChiYu AI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05650" y="1190625"/>
            <a:ext cx="4476750" cy="447675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64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22D3EE' }} /&gt;&#10;      &lt;Text style={{ fontSize: 15, color: '#22D3EE', letterSpacing: 2, fontWeight: 'bold' }}&gt;CONTENTS&lt;/Text&gt;&#10;    &lt;/Box&gt;&#10;    &lt;Text style={{ fontSize: 34, fontWeight: 'bold', color: '#EEF1F6' }}&gt;四章讲清一件事：让判断可以被复核&lt;/Text&gt;&#10;  &lt;/Box&gt;&#10;&#10;  &lt;Box style={{ flex: 1, marginTop: 18, flexDirection: 'column', gap: 16 }}&gt;&#10;&#10;    &lt;Box style={{ flex: 1, background: '#161A24', borderRadius: 14, border: '1px solid #232838', borderLeft: '3px solid #22D3EE', padding: 24, flexDirection: 'row', alignItems: 'center', gap: 22 }}&gt;&#10;      &lt;Text style={{ fontSize: 40, fontWeight: 'bold', color: '#22D3EE', width: 74 }}&gt;01&lt;/Text&gt;&#10;      &lt;Box style={{ flex: 1 }}&gt;&#10;        &lt;Text style={{ fontSize: 22, fontWeight: 'bold', color: '#EEF1F6' }}&gt;技术方案&lt;/Text&gt;&#10;        &lt;Text style={{ fontSize: 16, color: '#A4ABBD', lineHeight: 1.7, marginTop: 8 }}&gt;&#10;          三层智能体架构与四项核心能力：三维可信度量、博弈对抗冲突消解、证据图谱与因果校验、推理树全程可审。&#10;        &lt;/Text&gt;&#10;      &lt;/Box&gt;&#10;    &lt;/Box&gt;&#10;&#10;    &lt;Box style={{ flex: 1, background: '#161A24', borderRadius: 14, border: '1px solid #232838', borderLeft: '3px solid #60A5FA', padding: 24, flexDirection: 'row', alignItems: 'center', gap: 22 }}&gt;&#10;      &lt;Text style={{ fontSize: 40, fontWeight: 'bold', color: '#60A5FA', width: 74 }}&gt;02&lt;/Text&gt;&#10;      &lt;Box style={{ flex: 1 }}&gt;&#10;        &lt;Text style={{ fontSize: 22, fontWeight: 'bold', color: '#EEF1F6' }}&gt;应用场景&lt;/Text&gt;&#10;        &lt;Text style={{ fontSize: 16, color: '#A4ABBD', lineHeight: 1.7, marginTop: 8 }}&gt;&#10;          舆情监测、开源情报分析、金融风控三类研判任务共用同一可信底座；换研判域只换一份配置画像，不动内核。&#10;        &lt;/Text&gt;&#10;      &lt;/Box&gt;&#10;    &lt;/Box&gt;&#10;&#10;    &lt;Box style={{ flex: 1, background: '#161A24', borderRadius: 14, border: '1px solid #232838', borderLeft: '3px solid #34D399', padding: 24, flexDirection: 'row', alignItems: 'center', gap: 22 }}&gt;&#10;      &lt;Text style={{ fontSize: 40, fontWeight: 'bold', color: '#34D399', width: 74 }}&gt;03&lt;/Text&gt;&#10;      &lt;Box style={{ flex: 1 }}&gt;&#10;        &lt;Text style={{ fontSize: 22, fontWeight: 'bold', color: '#EEF1F6' }}&gt;落地效果&lt;/Text&gt;&#10;        &lt;Text style={{ fontSize: 16, color: '#A4ABBD', lineHeight: 1.7, marginTop: 8 }}&gt;&#10;          决策管道、冲突消解、可解释推理已在生产环境运行六万余行源码；研判域为 PoC 阶段，指标待实测后公布。&#10;        &lt;/Text&gt;&#10;      &lt;/Box&gt;&#10;    &lt;/Box&gt;&#10;&#10;    &lt;Box style={{ flex: 1, background: '#161A24', borderRadius: 14, border: '1px solid #232838', borderLeft: '3px solid #A78BFA', padding: 24, flexDirection: 'row', alignItems: 'center', gap: 22 }}&gt;&#10;      &lt;Text style={{ fontSize: 40, fontWeight: 'bold', color: '#A78BFA', width: 74 }}&gt;04&lt;/Text&gt;&#10;      &lt;Box style={{ flex: 1 }}&gt;&#10;        &lt;Text style={{ fontSize: 22, fontWeight: 'bold', color: '#EEF1F6' }}&gt;团队与边界&lt;/Text&gt;&#10;        &lt;Text style={{ fontSize: 16, color: '#A4ABBD', lineHeight: 1.7, marginTop: 8 }}&gt;&#10;          团队构成与知识产权；以及我们主动声明的能力边界——不覆盖分歧、不自动处置、不宣称模型精度领先。&#10;        &lt;/Text&gt;&#10;      &lt;/Box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多智能体可信研判与证据链溯源系统&lt;/Text&gt;&#10;    &lt;Text style={{ fontSize: 14, color: '#666D80' }}&gt;02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962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四章讲清一件事：让判断可以被复核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38175" y="1276350"/>
            <a:ext cx="10972800" cy="1143000"/>
          </a:xfrm>
          <a:prstGeom prst="roundRect">
            <a:avLst>
              <a:gd name="adj" fmla="val 11667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38175" y="1276350"/>
            <a:ext cx="10972800" cy="1143000"/>
          </a:xfrm>
          <a:custGeom>
            <a:pathLst>
              <a:path w="1152" h="120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109"/>
                </a:lnTo>
                <a:cubicBezTo>
                  <a:pt x="3" y="114"/>
                  <a:pt x="6" y="118"/>
                  <a:pt x="11" y="120"/>
                </a:cubicBezTo>
                <a:cubicBezTo>
                  <a:pt x="4" y="118"/>
                  <a:pt x="0" y="112"/>
                  <a:pt x="0" y="106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66775" y="1619250"/>
            <a:ext cx="7048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781175" y="1524000"/>
            <a:ext cx="9572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781175" y="1857375"/>
            <a:ext cx="95726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三层智能体架构与四项核心能力：三维可信度量、博弈对抗冲突消解、证据图谱与因果校验、推理树全程可审。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38175" y="2571750"/>
            <a:ext cx="10972800" cy="1133475"/>
          </a:xfrm>
          <a:prstGeom prst="roundRect">
            <a:avLst>
              <a:gd name="adj" fmla="val 11765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638175" y="2571750"/>
            <a:ext cx="10972800" cy="1133475"/>
          </a:xfrm>
          <a:custGeom>
            <a:pathLst>
              <a:path w="1152" h="119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108"/>
                </a:lnTo>
                <a:cubicBezTo>
                  <a:pt x="3" y="113"/>
                  <a:pt x="6" y="117"/>
                  <a:pt x="11" y="119"/>
                </a:cubicBezTo>
                <a:cubicBezTo>
                  <a:pt x="4" y="117"/>
                  <a:pt x="0" y="111"/>
                  <a:pt x="0" y="105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60A5FA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66775" y="2914650"/>
            <a:ext cx="7048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0A5FA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781175" y="2819400"/>
            <a:ext cx="9572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应用场景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781175" y="3152775"/>
            <a:ext cx="95726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舆情监测、开源情报分析、金融风控三类研判任务共用同一可信底座；换研判域只换一份配置画像，不动内核。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38175" y="3857625"/>
            <a:ext cx="10972800" cy="1143000"/>
          </a:xfrm>
          <a:prstGeom prst="roundRect">
            <a:avLst>
              <a:gd name="adj" fmla="val 11667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38175" y="3857625"/>
            <a:ext cx="10972800" cy="1143000"/>
          </a:xfrm>
          <a:custGeom>
            <a:pathLst>
              <a:path w="1152" h="120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109"/>
                </a:lnTo>
                <a:cubicBezTo>
                  <a:pt x="3" y="114"/>
                  <a:pt x="6" y="118"/>
                  <a:pt x="11" y="120"/>
                </a:cubicBezTo>
                <a:cubicBezTo>
                  <a:pt x="4" y="118"/>
                  <a:pt x="0" y="112"/>
                  <a:pt x="0" y="106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66775" y="4200525"/>
            <a:ext cx="7048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4D39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781175" y="4105275"/>
            <a:ext cx="9572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落地效果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781175" y="4438650"/>
            <a:ext cx="95726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决策管道、冲突消解、可解释推理已在生产环境运行六万余行源码；研判域为</a:t>
            </a:r>
            <a:r>
              <a:rPr lang="en-US" sz="1200">
                <a:solidFill>
                  <a:srgbClr val="A4ABBD"/>
                </a:solidFill>
                <a:latin typeface="Microsoft YaHei"/>
                <a:ea typeface="Microsoft YaHei"/>
              </a:rPr>
              <a:t> PoC </a:t>
            </a: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阶段，指标待实测后公布。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38175" y="5153025"/>
            <a:ext cx="10972800" cy="1133475"/>
          </a:xfrm>
          <a:prstGeom prst="roundRect">
            <a:avLst>
              <a:gd name="adj" fmla="val 11765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38175" y="5153025"/>
            <a:ext cx="10972800" cy="1133475"/>
          </a:xfrm>
          <a:custGeom>
            <a:pathLst>
              <a:path w="1152" h="119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108"/>
                </a:lnTo>
                <a:cubicBezTo>
                  <a:pt x="3" y="113"/>
                  <a:pt x="6" y="117"/>
                  <a:pt x="11" y="119"/>
                </a:cubicBezTo>
                <a:cubicBezTo>
                  <a:pt x="4" y="117"/>
                  <a:pt x="0" y="111"/>
                  <a:pt x="0" y="105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A78BFA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66775" y="5495925"/>
            <a:ext cx="7048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A78BFA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781175" y="5400675"/>
            <a:ext cx="9572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团队与边界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781175" y="5734050"/>
            <a:ext cx="95726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团队构成与知识产权；以及我们主动声明的能力边界——不覆盖分歧、不自动处置、不宣称模型精度领先。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多智能体可信研判与证据链溯源系统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92" name="" descr="&lt;Slide style={{ background: '#0C0E14', paddingTop: 20, paddingBottom: 20, paddingLeft: 64, paddingRight: 64, fontFamily: 'Microsoft YaHei', flexDirection: 'row', alignItems: 'center', gap: 48 }}&gt;&#10;&#10;  &lt;Box style={{ width: 420, flexDirection: 'column', justifyContent: 'center', alignItems: 'center' }}&gt;&#10;    &lt;Text style={{ fontSize: 104, fontWeight: 'bold', color: '#34D399', lineHeight: 1 }}&gt;100%&lt;/Text&gt;&#10;    &lt;Box style={{ width: 120, height: 4, background: 'linear-gradient(135deg,#22D3EE 0%,#34D399 100%)', marginTop: 20, marginBottom: 20 }} /&gt;&#10;    &lt;Text style={{ fontSize: 19, color: '#EEF1F6', fontWeight: 'bold', textAlign: 'center', lineHeight: 1.6 }}&gt;&#10;      每条结论都能下钻到&lt;br /&gt;原始来源段落&#10;    &lt;/Text&gt;&#10;    &lt;Text style={{ fontSize: 14, color: '#666D80', marginTop: 16, textAlign: 'center', lineHeight: 1.7 }}&gt;&#10;      架构设计目标 · 非实测指标&lt;br /&gt;实测值待 PoC 阶段公布&#10;    &lt;/Text&gt;&#10;  &lt;/Box&gt;&#10;&#10;  &lt;Box style={{ flex: 1, flexDirection: 'column', justifyContent: 'center' }}&gt;&#10;    &lt;Box style={{ flexDirection: 'row', alignItems: 'center', gap: 12, marginBottom: 18 }}&gt;&#10;      &lt;Box style={{ width: 36, height: 3, background: '#FBBF24' }} /&gt;&#10;      &lt;Text style={{ fontSize: 15, color: '#FBBF24', letterSpacing: 2, fontWeight: 'bold' }}&gt;THE ARGUMENT&lt;/Text&gt;&#10;    &lt;/Box&gt;&#10;&#10;    &lt;Text style={{ fontSize: 34, fontWeight: 'bold', color: '#EEF1F6', lineHeight: 1.35 }}&gt;&#10;      研判已经很快了，&lt;br /&gt;问题是&lt;span style={{ color: '#FBBF24' }}&gt;凭什么信它&lt;/span&gt;&#10;    &lt;/Text&gt;&#10;&#10;    &lt;Box style={{ flexDirection: 'column', gap: 14, marginTop: 30 }}&gt;&#10;      &lt;Box style={{ flexDirection: 'row', gap: 14, alignItems: 'flex-start' }}&gt;&#10;        &lt;Box style={{ width: 3, height: 62, background: '#22D3EE', marginTop: 4 }} /&gt;&#10;        &lt;Text style={{ fontSize: 17, color: '#A4ABBD', lineHeight: 1.75, flex: 1 }}&gt;&#10;          过去几年，研判类系统解决了&quot;出结论&quot;的速度与覆盖面；&lt;b style={{ color: '#EEF1F6' }}&gt;没有解决结论为什么成立&lt;/b&gt;。&#10;        &lt;/Text&gt;&#10;      &lt;/Box&gt;&#10;      &lt;Box style={{ flexDirection: 'row', gap: 14, alignItems: 'flex-start' }}&gt;&#10;        &lt;Box style={{ width: 3, height: 62, background: '#FBBF24', marginTop: 4 }} /&gt;&#10;        &lt;Text style={{ fontSize: 17, color: '#A4ABBD', lineHeight: 1.75, flex: 1 }}&gt;&#10;          结论不可追，复核成本就高；复核成本高，人就不敢用；&lt;b style={{ color: '#EEF1F6' }}&gt;不敢用，判断能力就进不了业务闭环&lt;/b&gt;。&#10;        &lt;/Text&gt;&#10;      &lt;/Box&gt;&#10;      &lt;Box style={{ flexDirection: 'row', gap: 14, alignItems: 'flex-start' }}&gt;&#10;        &lt;Box style={{ width: 3, height: 62, background: '#34D399', marginTop: 4 }} /&gt;&#10;        &lt;Text style={{ fontSize: 17, color: '#A4ABBD', lineHeight: 1.75, flex: 1 }}&gt;&#10;          我们补的不是更强的模型，而是&lt;b style={{ color: '#34D399' }}&gt;判断的可信度结构&lt;/b&gt;：度量、消解、溯源、可审。&#10;        &lt;/Text&gt;&#10;      &lt;/Box&gt;&#10;    &lt;/Box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228725" y="1924050"/>
            <a:ext cx="276225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34D39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2038350" y="3305175"/>
            <a:ext cx="1143000" cy="381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34D3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800225" y="3533775"/>
            <a:ext cx="1628775" cy="6953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425" b="1">
                <a:solidFill>
                  <a:srgbClr val="EEF1F6"/>
                </a:solidFill>
                <a:latin typeface="Microsoft YaHei"/>
                <a:ea typeface="Microsoft YaHei"/>
              </a:rPr>
              <a:t>每条结论都能下钻到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425" b="1">
                <a:solidFill>
                  <a:srgbClr val="EEF1F6"/>
                </a:solidFill>
                <a:latin typeface="Microsoft YaHei"/>
                <a:ea typeface="Microsoft YaHei"/>
              </a:rPr>
              <a:t>原始来源段落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819275" y="4381500"/>
            <a:ext cx="1581150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架构设计目标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非实测指标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实测值待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PoC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阶段公布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067300" y="1562100"/>
            <a:ext cx="342900" cy="2857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524500" y="14859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FBBF24"/>
                </a:solidFill>
                <a:latin typeface="Microsoft YaHei"/>
                <a:ea typeface="Microsoft YaHei"/>
              </a:rPr>
              <a:t>THE ARGUMENT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067300" y="1828800"/>
            <a:ext cx="65151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研判已经很快了，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问题是</a:t>
            </a:r>
            <a:r>
              <a:rPr lang="zh-CN" sz="2550" b="1">
                <a:solidFill>
                  <a:srgbClr val="FBBF24"/>
                </a:solidFill>
                <a:latin typeface="Microsoft YaHei"/>
                <a:ea typeface="Microsoft YaHei"/>
              </a:rPr>
              <a:t>凭什么信它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5067300" y="3209925"/>
            <a:ext cx="28575" cy="59055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229225" y="3171825"/>
            <a:ext cx="6353175" cy="3429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过去几年，研判类系统解决了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出结论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的速度与覆盖面；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没有解决结论为什么成立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067300" y="3971925"/>
            <a:ext cx="28575" cy="59055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229225" y="3933825"/>
            <a:ext cx="635317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结论不可追，复核成本就高；复核成本高，人就不敢用；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不敢用，判断能力就进不了业务闭环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067300" y="4791075"/>
            <a:ext cx="28575" cy="59055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229225" y="4752975"/>
            <a:ext cx="6353175" cy="3429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我们补的不是更强的模型，而是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判断的可信度结构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：度量、消解、溯源、可审。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07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FBBF24' }} /&gt;&#10;      &lt;Text style={{ fontSize: 15, color: '#FBBF24', letterSpacing: 2, fontWeight: 'bold' }}&gt;PAIN POINTS&lt;/Text&gt;&#10;    &lt;/Box&gt;&#10;    &lt;Text style={{ fontSize: 34, fontWeight: 'bold', color: '#EEF1F6' }}&gt;四个痛点，都发生在结论生成之后&lt;/Text&gt;&#10;  &lt;/Box&gt;&#10;&#10;  &lt;Box style={{ flex: 1, marginTop: 20, flexDirection: 'column', gap: 18 }}&gt;&#10;&#10;    &lt;Box style={{ flex: 1, flexDirection: 'row', gap: 18 }}&gt;&#10;      &lt;Box style={{ flex: 1, background: '#161A24', borderRadius: 14, border: '1px solid #232838', borderTop: '3px solid #F87171', padding: 24, justifyContent: 'space-between' }}&gt;&#10;        &lt;Box&gt;&#10;          &lt;Text style={{ fontSize: 24, fontWeight: 'bold', color: '#EEF1F6' }}&gt;决策黑箱&lt;/Text&gt;&#10;          &lt;Text style={{ fontSize: 17, color: '#A4ABBD', lineHeight: 1.7, marginTop: 12 }}&gt;&#10;            只给结论不给依据，判断逻辑留在模型里。复核的人只能选择&quot;信&quot;或&quot;不信&quot;，无法验证，也无从纠正。&#10;          &lt;/Text&gt;&#10;        &lt;/Box&gt;&#10;        &lt;Text style={{ fontSize: 15, color: '#F87171', marginTop: 14, fontWeight: 'bold' }}&gt;后果：结论无法被采用与追责&lt;/Text&gt;&#10;      &lt;/Box&gt;&#10;&#10;      &lt;Box style={{ flex: 1, background: '#161A24', borderRadius: 14, border: '1px solid #232838', borderTop: '3px solid #FBBF24', padding: 24, justifyContent: 'space-between' }}&gt;&#10;        &lt;Box&gt;&#10;          &lt;Text style={{ fontSize: 24, fontWeight: 'bold', color: '#EEF1F6' }}&gt;分歧被投票抹平&lt;/Text&gt;&#10;          &lt;Text style={{ fontSize: 17, color: '#A4ABBD', lineHeight: 1.7, marginTop: 12 }}&gt;&#10;            多个智能体独立判断后简单加权投票，异议被平均数掩盖。分歧不是噪声，它恰好指向不确定性的位置。&#10;          &lt;/Text&gt;&#10;        &lt;/Box&gt;&#10;        &lt;Text style={{ fontSize: 15, color: '#FBBF24', marginTop: 14, fontWeight: 'bold' }}&gt;后果：少数但正确的意见被丢弃&lt;/Text&gt;&#10;      &lt;/Box&gt;&#10;    &lt;/Box&gt;&#10;&#10;    &lt;Box style={{ flex: 1, flexDirection: 'row', gap: 18 }}&gt;&#10;      &lt;Box style={{ flex: 1, background: '#161A24', borderRadius: 14, border: '1px solid #232838', borderTop: '3px solid #60A5FA', padding: 24, justifyContent: 'space-between' }}&gt;&#10;        &lt;Box&gt;&#10;          &lt;Text style={{ fontSize: 24, fontWeight: 'bold', color: '#EEF1F6' }}&gt;相关当因果&lt;/Text&gt;&#10;          &lt;Text style={{ fontSize: 17, color: '#A4ABBD', lineHeight: 1.7, marginTop: 12 }}&gt;&#10;            共现即判因，时序与因果结构不做校验。归因错一次，后续全部动作方向都错，且错得看起来很合理。&#10;          &lt;/Text&gt;&#10;        &lt;/Box&gt;&#10;        &lt;Text style={{ fontSize: 15, color: '#60A5FA', marginTop: 14, fontWeight: 'bold' }}&gt;后果：方向性误判难以察觉&lt;/Text&gt;&#10;      &lt;/Box&gt;&#10;&#10;      &lt;Box style={{ flex: 1, background: '#161A24', borderRadius: 14, border: '1px solid #232838', borderTop: '3px solid #A78BFA', padding: 24, justifyContent: 'space-between' }}&gt;&#10;        &lt;Box&gt;&#10;          &lt;Text style={{ fontSize: 24, fontWeight: 'bold', color: '#EEF1F6' }}&gt;过程不可复现&lt;/Text&gt;&#10;          &lt;Text style={{ fontSize: 17, color: '#A4ABBD', lineHeight: 1.7, marginTop: 12 }}&gt;&#10;            中间结论与逻辑链不留痕，同一次输入两次运行未必同一结论。不可复现就不可审计，也不可干预。&#10;          &lt;/Text&gt;&#10;        &lt;/Box&gt;&#10;        &lt;Text style={{ fontSize: 15, color: '#A78BFA', marginTop: 14, fontWeight: 'bold' }}&gt;后果：出了问题无法定位与纠偏&lt;/Text&gt;&#10;      &lt;/Box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多智能体可信研判与证据链溯源系统&lt;/Text&gt;&#10;    &lt;Text style={{ fontSize: 14, color: '#666D80' }}&gt;04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18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FBBF24"/>
                </a:solidFill>
                <a:latin typeface="Microsoft YaHei"/>
                <a:ea typeface="Microsoft YaHei"/>
              </a:rPr>
              <a:t>PAIN POINTS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四个痛点，都发生在结论生成之后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9600" y="1323975"/>
            <a:ext cx="5400675" cy="2409825"/>
          </a:xfrm>
          <a:prstGeom prst="roundRect">
            <a:avLst>
              <a:gd name="adj" fmla="val 553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609600" y="1323975"/>
            <a:ext cx="5400675" cy="2409825"/>
          </a:xfrm>
          <a:custGeom>
            <a:pathLst>
              <a:path w="567" h="253">
                <a:moveTo>
                  <a:pt x="554" y="0"/>
                </a:moveTo>
                <a:cubicBezTo>
                  <a:pt x="560" y="0"/>
                  <a:pt x="565" y="5"/>
                  <a:pt x="567" y="11"/>
                </a:cubicBezTo>
                <a:cubicBezTo>
                  <a:pt x="565" y="6"/>
                  <a:pt x="561" y="3"/>
                  <a:pt x="556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F87171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38200" y="1552575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决策黑箱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38200" y="1943100"/>
            <a:ext cx="4943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只给结论不给依据，判断逻辑留在模型里。复核的人只能选择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信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或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不信</a:t>
            </a:r>
            <a:r>
              <a:rPr lang="en-US" sz="127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，无法验证，也无从纠正。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8200" y="3305175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7171"/>
                </a:solidFill>
                <a:latin typeface="Microsoft YaHei"/>
                <a:ea typeface="Microsoft YaHei"/>
              </a:rPr>
              <a:t>后果：结论无法被采用与追责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181725" y="1323975"/>
            <a:ext cx="5400675" cy="2409825"/>
          </a:xfrm>
          <a:prstGeom prst="roundRect">
            <a:avLst>
              <a:gd name="adj" fmla="val 553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181725" y="1323975"/>
            <a:ext cx="5400675" cy="2409825"/>
          </a:xfrm>
          <a:custGeom>
            <a:pathLst>
              <a:path w="567" h="253">
                <a:moveTo>
                  <a:pt x="554" y="0"/>
                </a:moveTo>
                <a:cubicBezTo>
                  <a:pt x="560" y="0"/>
                  <a:pt x="565" y="5"/>
                  <a:pt x="567" y="11"/>
                </a:cubicBezTo>
                <a:cubicBezTo>
                  <a:pt x="565" y="6"/>
                  <a:pt x="561" y="3"/>
                  <a:pt x="556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410325" y="1552575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分歧被投票抹平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410325" y="1943100"/>
            <a:ext cx="4943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多个智能体独立判断后简单加权投票，异议被平均数掩盖。分歧不是噪声，它恰好指向不确定性的位置。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410325" y="3305175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BF24"/>
                </a:solidFill>
                <a:latin typeface="Microsoft YaHei"/>
                <a:ea typeface="Microsoft YaHei"/>
              </a:rPr>
              <a:t>后果：少数但正确的意见被丢弃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3905250"/>
            <a:ext cx="5400675" cy="2409825"/>
          </a:xfrm>
          <a:prstGeom prst="roundRect">
            <a:avLst>
              <a:gd name="adj" fmla="val 553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609600" y="3905250"/>
            <a:ext cx="5400675" cy="2409825"/>
          </a:xfrm>
          <a:custGeom>
            <a:pathLst>
              <a:path w="567" h="253">
                <a:moveTo>
                  <a:pt x="554" y="0"/>
                </a:moveTo>
                <a:cubicBezTo>
                  <a:pt x="560" y="0"/>
                  <a:pt x="565" y="5"/>
                  <a:pt x="567" y="11"/>
                </a:cubicBezTo>
                <a:cubicBezTo>
                  <a:pt x="565" y="6"/>
                  <a:pt x="561" y="3"/>
                  <a:pt x="556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60A5FA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38200" y="4133850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相关当因果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38200" y="4524375"/>
            <a:ext cx="4943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共现即判因，时序与因果结构不做校验。归因错一次，后续全部动作方向都错，且错得看起来很合理。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8200" y="5886450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0A5FA"/>
                </a:solidFill>
                <a:latin typeface="Microsoft YaHei"/>
                <a:ea typeface="Microsoft YaHei"/>
              </a:rPr>
              <a:t>后果：方向性误判难以察觉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181725" y="3905250"/>
            <a:ext cx="5400675" cy="2409825"/>
          </a:xfrm>
          <a:prstGeom prst="roundRect">
            <a:avLst>
              <a:gd name="adj" fmla="val 553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6181725" y="3905250"/>
            <a:ext cx="5400675" cy="2409825"/>
          </a:xfrm>
          <a:custGeom>
            <a:pathLst>
              <a:path w="567" h="253">
                <a:moveTo>
                  <a:pt x="554" y="0"/>
                </a:moveTo>
                <a:cubicBezTo>
                  <a:pt x="560" y="0"/>
                  <a:pt x="565" y="5"/>
                  <a:pt x="567" y="11"/>
                </a:cubicBezTo>
                <a:cubicBezTo>
                  <a:pt x="565" y="6"/>
                  <a:pt x="561" y="3"/>
                  <a:pt x="556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410325" y="4133850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EF1F6"/>
                </a:solidFill>
                <a:latin typeface="Microsoft YaHei"/>
                <a:ea typeface="Microsoft YaHei"/>
              </a:rPr>
              <a:t>过程不可复现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410325" y="4524375"/>
            <a:ext cx="4943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A4ABBD"/>
                </a:solidFill>
                <a:latin typeface="Microsoft YaHei"/>
                <a:ea typeface="Microsoft YaHei"/>
              </a:rPr>
              <a:t>中间结论与逻辑链不留痕，同一次输入两次运行未必同一结论。不可复现就不可审计，也不可干预。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410325" y="5886450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78BFA"/>
                </a:solidFill>
                <a:latin typeface="Microsoft YaHei"/>
                <a:ea typeface="Microsoft YaHei"/>
              </a:rPr>
              <a:t>后果：出了问题无法定位与纠偏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多智能体可信研判与证据链溯源系统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5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22D3EE' }} /&gt;&#10;      &lt;Text style={{ fontSize: 15, color: '#22D3EE', letterSpacing: 2, fontWeight: 'bold' }}&gt;SOLUTION OVERVIEW&lt;/Text&gt;&#10;    &lt;/Box&gt;&#10;    &lt;Text style={{ fontSize: 34, fontWeight: 'bold', color: '#EEF1F6' }}&gt;一条研判链路，三项能力，三类场景共用&lt;/Text&gt;&#10;  &lt;/Box&gt;&#10;&#10;  &lt;Box style={{ flex: 1, marginTop: 16, flexDirection: 'column' }}&gt;&#10;&#10;    &lt;svg width={1152} height={70} viewBox='0 0 1152 70'&gt;&#10;      &lt;rect x='0' y='13' width='108' height='44' rx='9' fill='#161A24' stroke='#22D3EE' strokeWidth='1.5' /&gt;&#10;      &lt;text x='54' y='41' fill='#EEF1F6' fontSize='13' textAnchor='middle' fontFamily='Microsoft YaHei'&gt;采集接入&lt;/text&gt;&#10;      &lt;rect x='130' y='13' width='108' height='44' rx='9' fill='#161A24' stroke='#22D3EE' strokeWidth='1.5' /&gt;&#10;      &lt;text x='184' y='41' fill='#EEF1F6' fontSize='13' textAnchor='middle' fontFamily='Microsoft YaHei'&gt;结构化抽取&lt;/text&gt;&#10;      &lt;rect x='260' y='13' width='108' height='44' rx='9' fill='#161A24' stroke='#22D3EE' strokeWidth='1.5' /&gt;&#10;      &lt;text x='314' y='41' fill='#EEF1F6' fontSize='13' textAnchor='middle' fontFamily='Microsoft YaHei'&gt;入证据图谱&lt;/text&gt;&#10;      &lt;rect x='390' y='13' width='108' height='44' rx='9' fill='#161A24' stroke='#FBBF24' strokeWidth='1.5' /&gt;&#10;      &lt;text x='444' y='41' fill='#EEF1F6' fontSize='13' textAnchor='middle' fontFamily='Microsoft YaHei'&gt;多角色研判&lt;/text&gt;&#10;      &lt;rect x='520' y='13' width='108' height='44' rx='9' fill='#161A24' stroke='#FBBF24' strokeWidth='1.5' /&gt;&#10;      &lt;text x='574' y='41' fill='#EEF1F6' fontSize='13' textAnchor='middle' fontFamily='Microsoft YaHei'&gt;冲突识别&lt;/text&gt;&#10;      &lt;rect x='650' y='13' width='108' height='44' rx='9' fill='#161A24' stroke='#FBBF24' strokeWidth='1.5' /&gt;&#10;      &lt;text x='704' y='41' fill='#EEF1F6' fontSize='13' textAnchor='middle' fontFamily='Microsoft YaHei'&gt;对抗消解&lt;/text&gt;&#10;      &lt;rect x='780' y='13' width='108' height='44' rx='9' fill='#161A24' stroke='#34D399' strokeWidth='1.5' /&gt;&#10;      &lt;text x='834' y='41' fill='#EEF1F6' fontSize='13' textAnchor='middle' fontFamily='Microsoft YaHei'&gt;因果校验&lt;/text&gt;&#10;      &lt;rect x='910' y='13' width='108' height='44' rx='9' fill='#161A24' stroke='#34D399' strokeWidth='1.5' /&gt;&#10;      &lt;text x='964' y='41' fill='#EEF1F6' fontSize='13' textAnchor='middle' fontFamily='Microsoft YaHei'&gt;推理树可审&lt;/text&gt;&#10;      &lt;rect x='1040' y='13' width='112' height='44' rx='9' fill='#161A24' stroke='#34D399' strokeWidth='1.5' /&gt;&#10;      &lt;text x='1096' y='41' fill='#EEF1F6' fontSize='13' textAnchor='middle' fontFamily='Microsoft YaHei'&gt;人工复核归档&lt;/text&gt;&#10;      &lt;text x='122' y='41' fill='#666D80' fontSize='14' textAnchor='middle' fontFamily='Microsoft YaHei'&gt;→&lt;/text&gt;&#10;      &lt;text x='252' y='41' fill='#666D80' fontSize='14' textAnchor='middle' fontFamily='Microsoft YaHei'&gt;→&lt;/text&gt;&#10;      &lt;text x='382' y='41' fill='#666D80' fontSize='14' textAnchor='middle' fontFamily='Microsoft YaHei'&gt;→&lt;/text&gt;&#10;      &lt;text x='512' y='41' fill='#666D80' fontSize='14' textAnchor='middle' fontFamily='Microsoft YaHei'&gt;→&lt;/text&gt;&#10;      &lt;text x='642' y='41' fill='#666D80' fontSize='14' textAnchor='middle' fontFamily='Microsoft YaHei'&gt;→&lt;/text&gt;&#10;      &lt;text x='772' y='41' fill='#666D80' fontSize='14' textAnchor='middle' fontFamily='Microsoft YaHei'&gt;→&lt;/text&gt;&#10;      &lt;text x='902' y='41' fill='#666D80' fontSize='14' textAnchor='middle' fontFamily='Microsoft YaHei'&gt;→&lt;/text&gt;&#10;      &lt;text x='1032' y='41' fill='#666D80' fontSize='14' textAnchor='middle' fontFamily='Microsoft YaHei'&gt;→&lt;/text&gt;&#10;    &lt;/svg&gt;&#10;&#10;    &lt;Box style={{ flexDirection: 'row', gap: 16, marginTop: 18 }}&gt;&#10;&#10;      &lt;Box style={{ flex: 1, background: '#161A24', borderRadius: 14, border: '1px solid #232838', borderTop: '3px solid #22D3EE', padding: 22 }}&gt;&#10;        &lt;Text style={{ fontSize: 14, color: '#22D3EE', fontWeight: 'bold', letterSpacing: 1 }}&gt;赛题能力 ①&lt;/Text&gt;&#10;        &lt;Text style={{ fontSize: 22, fontWeight: 'bold', color: '#EEF1F6', marginTop: 10 }}&gt;可信度量与冲突消解&lt;/Text&gt;&#10;        &lt;Text style={{ fontSize: 16, color: '#A4ABBD', lineHeight: 1.75, marginTop: 12 }}&gt;&#10;          以信源可信度、证据强度、逻辑一致性三维构建置信度模型；自动识别结论冲突，经正方、反方与仲裁三方的博弈对抗消解，异议留档不覆盖。&#10;        &lt;/Text&gt;&#10;      &lt;/Box&gt;&#10;&#10;      &lt;Box style={{ flex: 1, background: '#161A24', borderRadius: 14, border: '1px solid #232838', borderTop: '3px solid #FBBF24', padding: 22 }}&gt;&#10;        &lt;Text style={{ fontSize: 14, color: '#FBBF24', fontWeight: 'bold', letterSpacing: 1 }}&gt;赛题能力 ②&lt;/Text&gt;&#10;        &lt;Text style={{ fontSize: 22, fontWeight: 'bold', color: '#EEF1F6', marginTop: 10 }}&gt;证据溯源与因果校验&lt;/Text&gt;&#10;        &lt;Text style={{ fontSize: 16, color: '#A4ABBD', lineHeight: 1.75, marginTop: 12 }}&gt;&#10;          构建结论、证据、来源三级证据图谱，支持逐级下钻至原始段落；以时序优先、反事实检验、混杂因素排查三关区分相关与因果，防范归因错误。&#10;        &lt;/Text&gt;&#10;      &lt;/Box&gt;&#10;&#10;      &lt;Box style={{ flex: 1, background: '#161A24', borderRadius: 14, border: '1px solid #232838', borderTop: '3px solid #34D399', padding: 22 }}&gt;&#10;        &lt;Text style={{ fontSize: 14, color: '#34D399', fontWeight: 'bold', letterSpacing: 1 }}&gt;赛题能力 ③&lt;/Text&gt;&#10;        &lt;Text style={{ fontSize: 22, fontWeight: 'bold', color: '#EEF1F6', marginTop: 10 }}&gt;推理透明与全程可审&lt;/Text&gt;&#10;        &lt;Text style={{ fontSize: 16, color: '#A4ABBD', lineHeight: 1.75, marginTop: 12 }}&gt;&#10;          逐步记录中间结论与逻辑链，以推理树可视化输出；确定性评分保证同输入同结论；日志哈希链防篡改，人工可修改证据并触发重算，全程留痕。&#10;        &lt;/Text&gt;&#10;      &lt;/Box&gt;&#10;&#10;    &lt;/Box&gt;&#10;&#10;    &lt;Box style={{ flexDirection: 'row', gap: 12, marginTop: 18, alignItems: 'center' }}&gt;&#10;      &lt;Text style={{ fontSize: 15, color: '#666D80', fontWeight: 'bold', width: 96 }}&gt;三类场景&lt;/Text&gt;&#10;      &lt;Box style={{ paddingTop: 7, paddingBottom: 7, paddingLeft: 16, paddingRight: 16, borderRadius: 999, border: '1px solid #2C3346', background: 'rgba(34,211,238,.10)' }}&gt;&#10;        &lt;Text style={{ fontSize: 15, color: '#22D3EE', fontWeight: 'bold' }}&gt;舆情监测&lt;/Text&gt;&#10;      &lt;/Box&gt;&#10;      &lt;Box style={{ paddingTop: 7, paddingBottom: 7, paddingLeft: 16, paddingRight: 16, borderRadius: 999, border: '1px solid #2C3346', background: 'rgba(34,211,238,.10)' }}&gt;&#10;        &lt;Text style={{ fontSize: 15, color: '#22D3EE', fontWeight: 'bold' }}&gt;开源情报分析&lt;/Text&gt;&#10;      &lt;/Box&gt;&#10;      &lt;Box style={{ paddingTop: 7, paddingBottom: 7, paddingLeft: 16, paddingRight: 16, borderRadius: 999, border: '1px solid #2C3346', background: 'rgba(34,211,238,.10)' }}&gt;&#10;        &lt;Text style={{ fontSize: 15, color: '#22D3EE', fontWeight: 'bold' }}&gt;金融风控&lt;/Text&gt;&#10;      &lt;/Box&gt;&#10;      &lt;Text style={{ fontSize: 15, color: '#A4ABBD', flex: 1, marginLeft: 6 }}&gt;同一可信底座，换研判域只换一份配置画像&lt;/Text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多智能体可信研判与证据链溯源系统&lt;/Text&gt;&#10;    &lt;Text style={{ fontSize: 14, color: '#666D80' }}&gt;05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1924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SOLUTION OVERVIEW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一条研判链路，三项能力，三类场景共用</a:t>
            </a:r>
            <a:endParaRPr/>
          </a:p>
        </p:txBody>
      </p:sp>
      <p:pic>
        <p:nvPicPr>
          <p:cNvPr id="2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257300"/>
            <a:ext cx="10972800" cy="666750"/>
          </a:xfrm>
          <a:prstGeom prst="rect">
            <a:avLst/>
          </a:prstGeom>
          <a:ln/>
        </p:spPr>
      </p:pic>
      <p:sp>
        <p:nvSpPr>
          <p:cNvPr id="241" name=""/>
          <p:cNvSpPr/>
          <p:nvPr/>
        </p:nvSpPr>
        <p:spPr>
          <a:xfrm rot="0" flipH="0" flipV="0">
            <a:off x="609600" y="2124075"/>
            <a:ext cx="3552825" cy="2362200"/>
          </a:xfrm>
          <a:prstGeom prst="roundRect">
            <a:avLst>
              <a:gd name="adj" fmla="val 5645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09600" y="2124075"/>
            <a:ext cx="3552825" cy="2362200"/>
          </a:xfrm>
          <a:custGeom>
            <a:pathLst>
              <a:path w="373" h="248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6"/>
                  <a:pt x="367" y="3"/>
                  <a:pt x="36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19150" y="23336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22D3EE"/>
                </a:solidFill>
                <a:latin typeface="Microsoft YaHei"/>
                <a:ea typeface="Microsoft YaHei"/>
              </a:rPr>
              <a:t>赛题能力</a:t>
            </a:r>
            <a:r>
              <a:rPr lang="en-US" sz="1050" b="1" spc="75">
                <a:solidFill>
                  <a:srgbClr val="22D3EE"/>
                </a:solidFill>
                <a:latin typeface="Microsoft YaHei"/>
                <a:ea typeface="Microsoft YaHei"/>
              </a:rPr>
              <a:t> ①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19150" y="2590800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可信度量与冲突消解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19150" y="2962275"/>
            <a:ext cx="3133725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以信源可信度、证据强度、逻辑一致性三维构建置信度模型；自动识别结论冲突，经正方、反方与仲裁三方的博弈对抗消解，异议留档不覆盖。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314825" y="2124075"/>
            <a:ext cx="3562350" cy="2362200"/>
          </a:xfrm>
          <a:prstGeom prst="roundRect">
            <a:avLst>
              <a:gd name="adj" fmla="val 5645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4314825" y="2124075"/>
            <a:ext cx="3562350" cy="2362200"/>
          </a:xfrm>
          <a:custGeom>
            <a:pathLst>
              <a:path w="374" h="248">
                <a:moveTo>
                  <a:pt x="361" y="0"/>
                </a:moveTo>
                <a:cubicBezTo>
                  <a:pt x="367" y="0"/>
                  <a:pt x="372" y="5"/>
                  <a:pt x="374" y="11"/>
                </a:cubicBezTo>
                <a:cubicBezTo>
                  <a:pt x="372" y="6"/>
                  <a:pt x="368" y="3"/>
                  <a:pt x="363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60" y="0"/>
                </a:ln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524375" y="23336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BBF24"/>
                </a:solidFill>
                <a:latin typeface="Microsoft YaHei"/>
                <a:ea typeface="Microsoft YaHei"/>
              </a:rPr>
              <a:t>赛题能力</a:t>
            </a:r>
            <a:r>
              <a:rPr lang="en-US" sz="1050" b="1" spc="75">
                <a:solidFill>
                  <a:srgbClr val="FBBF24"/>
                </a:solidFill>
                <a:latin typeface="Microsoft YaHei"/>
                <a:ea typeface="Microsoft YaHei"/>
              </a:rPr>
              <a:t> ②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524375" y="25908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证据溯源与因果校验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524375" y="2962275"/>
            <a:ext cx="314325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构建结论、证据、来源三级证据图谱，支持逐级下钻至原始段落；以时序优先、反事实检验、混杂因素排查三关区分相关与因果，防范归因错误。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8029575" y="2124075"/>
            <a:ext cx="3552825" cy="2362200"/>
          </a:xfrm>
          <a:prstGeom prst="roundRect">
            <a:avLst>
              <a:gd name="adj" fmla="val 5645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8029575" y="2124075"/>
            <a:ext cx="3552825" cy="2362200"/>
          </a:xfrm>
          <a:custGeom>
            <a:pathLst>
              <a:path w="373" h="248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6"/>
                  <a:pt x="367" y="3"/>
                  <a:pt x="36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239125" y="23336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34D399"/>
                </a:solidFill>
                <a:latin typeface="Microsoft YaHei"/>
                <a:ea typeface="Microsoft YaHei"/>
              </a:rPr>
              <a:t>赛题能力</a:t>
            </a:r>
            <a:r>
              <a:rPr lang="en-US" sz="1050" b="1" spc="75">
                <a:solidFill>
                  <a:srgbClr val="34D399"/>
                </a:solidFill>
                <a:latin typeface="Microsoft YaHei"/>
                <a:ea typeface="Microsoft YaHei"/>
              </a:rPr>
              <a:t> ③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239125" y="2590800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推理透明与全程可审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239125" y="2962275"/>
            <a:ext cx="3133725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A4ABBD"/>
                </a:solidFill>
                <a:latin typeface="Microsoft YaHei"/>
                <a:ea typeface="Microsoft YaHei"/>
              </a:rPr>
              <a:t>逐步记录中间结论与逻辑链，以推理树可视化输出；确定性评分保证同输入同结论；日志哈希链防篡改，人工可修改证据并触发重算，全程留痕。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" y="469582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66D80"/>
                </a:solidFill>
                <a:latin typeface="Microsoft YaHei"/>
                <a:ea typeface="Microsoft YaHei"/>
              </a:rPr>
              <a:t>三类场景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1638300" y="4629150"/>
            <a:ext cx="876300" cy="304800"/>
          </a:xfrm>
          <a:prstGeom prst="roundRect">
            <a:avLst>
              <a:gd name="adj" fmla="val 3121875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790700" y="46958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舆情监测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2628900" y="4629150"/>
            <a:ext cx="1162050" cy="304800"/>
          </a:xfrm>
          <a:prstGeom prst="roundRect">
            <a:avLst>
              <a:gd name="adj" fmla="val 3121875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2781300" y="46958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开源情报分析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3905250" y="4629150"/>
            <a:ext cx="876300" cy="304800"/>
          </a:xfrm>
          <a:prstGeom prst="roundRect">
            <a:avLst>
              <a:gd name="adj" fmla="val 3121875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057650" y="46958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金融风控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953000" y="4695825"/>
            <a:ext cx="662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同一可信底座，换研判域只换一份配置画像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多智能体可信研判与证据链溯源系统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7" name="" descr="&lt;Slide style={{ background: '#0C0E14', paddingTop: 36, paddingBottom: 20, paddingLeft: 64, paddingRight: 64, fontFamily: 'Microsoft YaHei', flexDirection: 'column' }}&gt;&#10;&#10;  &lt;Box style={{ height: 62, flexDirection: 'column', justifyContent: 'center' }}&gt;&#10;    &lt;Box style={{ flexDirection: 'row', alignItems: 'center', gap: 12, marginBottom: 6 }}&gt;&#10;      &lt;Box style={{ width: 36, height: 3, background: '#22D3EE' }} /&gt;&#10;      &lt;Text style={{ fontSize: 15, color: '#22D3EE', letterSpacing: 2, fontWeight: 'bold' }}&gt;ARCHITECTURE&lt;/Text&gt;&#10;    &lt;/Box&gt;&#10;    &lt;Text style={{ fontSize: 32, fontWeight: 'bold', color: '#EEF1F6' }}&gt;三层智能体：研判、消解、追溯各司其职&lt;/Text&gt;&#10;  &lt;/Box&gt;&#10;&#10;  &lt;Box style={{ flex: 1, marginTop: 10, flexDirection: 'row', gap: 24 }}&gt;&#10;&#10;    &lt;Box style={{ flex: 1 }}&gt;&#10;      &lt;svg width={720} height={432} viewBox='0 0 720 432'&gt;&#10;        &lt;rect x='0' y='6' width='720' height='118' rx='14' fill='#12161F' stroke='#22D3EE' strokeWidth='1.5' strokeDasharray='6 4' opacity='0.55' /&gt;&#10;        &lt;text x='18' y='34' fill='#22D3EE' fontSize='15' fontWeight='bold' fontFamily='Microsoft YaHei'&gt;L0 · 研判智能体集群（并行，各持独立视角）&lt;/text&gt;&#10;        &lt;rect x='18' y='48' width='158' height='58' rx='9' fill='#161A24' stroke='#22D3EE' strokeWidth='1.5' /&gt;&#10;        &lt;text x='97' y='74' fill='#EEF1F6' fontSize='13' textAnchor='middle' fontFamily='Microsoft YaHei'&gt;事实抽取智能体&lt;/text&gt;&#10;        &lt;text x='97' y='93' fill='#666D80' fontSize='11' textAnchor='middle' fontFamily='Microsoft YaHei'&gt;结论 + 证据候选&lt;/text&gt;&#10;        &lt;rect x='190' y='48' width='158' height='58' rx='9' fill='#161A24' stroke='#22D3EE' strokeWidth='1.5' /&gt;&#10;        &lt;text x='269' y='74' fill='#EEF1F6' fontSize='13' textAnchor='middle' fontFamily='Microsoft YaHei'&gt;时序核查智能体&lt;/text&gt;&#10;        &lt;text x='269' y='93' fill='#666D80' fontSize='11' textAnchor='middle' fontFamily='Microsoft YaHei'&gt;时间线一致性&lt;/text&gt;&#10;        &lt;rect x='362' y='48' width='158' height='58' rx='9' fill='#161A24' stroke='#22D3EE' strokeWidth='1.5' /&gt;&#10;        &lt;text x='441' y='74' fill='#EEF1F6' fontSize='13' textAnchor='middle' fontFamily='Microsoft YaHei'&gt;立场研判智能体&lt;/text&gt;&#10;        &lt;text x='441' y='93' fill='#666D80' fontSize='11' textAnchor='middle' fontFamily='Microsoft YaHei'&gt;口径与倾向识别&lt;/text&gt;&#10;        &lt;rect x='534' y='48' width='168' height='58' rx='9' fill='#161A24' stroke='#22D3EE' strokeWidth='1.5' /&gt;&#10;        &lt;text x='618' y='74' fill='#EEF1F6' fontSize='13' textAnchor='middle' fontFamily='Microsoft YaHei'&gt;反证检索智能体&lt;/text&gt;&#10;        &lt;text x='618' y='93' fill='#666D80' fontSize='11' textAnchor='middle' fontFamily='Microsoft YaHei'&gt;主动寻找反例&lt;/text&gt;&#10;&#10;        &lt;path d='M360 124 L360 156' stroke='#2C3346' strokeWidth='2' /&gt;&#10;        &lt;path d='M354 148 L360 158 L366 148 Z' fill='#2C3346' /&gt;&#10;&#10;        &lt;rect x='0' y='160' width='720' height='118' rx='14' fill='#12161F' stroke='#60A5FA' strokeWidth='1.5' strokeDasharray='6 4' opacity='0.55' /&gt;&#10;        &lt;text x='18' y='188' fill='#60A5FA' fontSize='15' fontWeight='bold' fontFamily='Microsoft YaHei'&gt;L1 · 仲裁与消解层（冲突识别 → 博弈对抗 → 证据加权）&lt;/text&gt;&#10;        &lt;rect x='18' y='202' width='158' height='58' rx='9' fill='#161A24' stroke='#60A5FA' strokeWidth='1.5' /&gt;&#10;        &lt;text x='97' y='228' fill='#EEF1F6' fontSize='13' textAnchor='middle' fontFamily='Microsoft YaHei'&gt;冲突识别&lt;/text&gt;&#10;        &lt;text x='97' y='247' fill='#666D80' fontSize='11' textAnchor='middle' fontFamily='Microsoft YaHei'&gt;事实 / 口径 / 立场&lt;/text&gt;&#10;        &lt;rect x='190' y='202' width='158' height='58' rx='9' fill='#161A24' stroke='#FBBF24' strokeWidth='1.5' /&gt;&#10;        &lt;text x='269' y='228' fill='#EEF1F6' fontSize='13' textAnchor='middle' fontFamily='Microsoft YaHei'&gt;博弈对抗&lt;/text&gt;&#10;        &lt;text x='269' y='247' fill='#666D80' fontSize='11' textAnchor='middle' fontFamily='Microsoft YaHei'&gt;正方 / 反方 / 仲裁&lt;/text&gt;&#10;        &lt;rect x='362' y='202' width='158' height='58' rx='9' fill='#161A24' stroke='#FBBF24' strokeWidth='1.5' /&gt;&#10;        &lt;text x='441' y='228' fill='#EEF1F6' fontSize='13' textAnchor='middle' fontFamily='Microsoft YaHei'&gt;证据加权消解&lt;/text&gt;&#10;        &lt;text x='441' y='247' fill='#666D80' fontSize='11' textAnchor='middle' fontFamily='Microsoft YaHei'&gt;按可信度重算&lt;/text&gt;&#10;        &lt;rect x='534' y='202' width='168' height='58' rx='9' fill='#161A24' stroke='#A78BFA' strokeWidth='1.5' /&gt;&#10;        &lt;text x='618' y='228' fill='#EEF1F6' fontSize='13' textAnchor='middle' fontFamily='Microsoft YaHei'&gt;分歧留档&lt;/text&gt;&#10;        &lt;text x='618' y='247' fill='#666D80' fontSize='11' textAnchor='middle' fontFamily='Microsoft YaHei'&gt;少数意见不覆盖&lt;/text&gt;&#10;&#10;        &lt;path d='M360 278 L360 310' stroke='#2C3346' strokeWidth='2' /&gt;&#10;        &lt;path d='M354 302 L360 312 L366 302 Z' fill='#2C3346' /&gt;&#10;&#10;        &lt;rect x='0' y='314' width='720' height='118' rx='14' fill='#12161F' stroke='#34D399' strokeWidth='1.5' strokeDasharray='6 4' opacity='0.55' /&gt;&#10;        &lt;text x='18' y='342' fill='#34D399' fontSize='15' fontWeight='bold' fontFamily='Microsoft YaHei'&gt;L2 · 审计与追溯层（可查、可复现、可干预）&lt;/text&gt;&#10;        &lt;rect x='18' y='356' width='158' height='58' rx='9' fill='#161A24' stroke='#34D399' strokeWidth='1.5' /&gt;&#10;        &lt;text x='97' y='382' fill='#EEF1F6' fontSize='13' textAnchor='middle' fontFamily='Microsoft YaHei'&gt;证据图谱&lt;/text&gt;&#10;        &lt;text x='97' y='401' fill='#666D80' fontSize='11' textAnchor='middle' fontFamily='Microsoft YaHei'&gt;结论→证据→来源&lt;/text&gt;&#10;        &lt;rect x='190' y='356' width='158' height='58' rx='9' fill='#161A24' stroke='#34D399' strokeWidth='1.5' /&gt;&#10;        &lt;text x='269' y='382' fill='#EEF1F6' fontSize='13' textAnchor='middle' fontFamily='Microsoft YaHei'&gt;推理树&lt;/text&gt;&#10;        &lt;text x='269' y='401' fill='#666D80' fontSize='11' textAnchor='middle' fontFamily='Microsoft YaHei'&gt;中间结论留痕&lt;/text&gt;&#10;        &lt;rect x='362' y='356' width='158' height='58' rx='9' fill='#161A24' stroke='#34D399' strokeWidth='1.5' /&gt;&#10;        &lt;text x='441' y='382' fill='#EEF1F6' fontSize='13' textAnchor='middle' fontFamily='Microsoft YaHei'&gt;防篡改哈希链&lt;/text&gt;&#10;        &lt;text x='441' y='401' fill='#666D80' fontSize='11' textAnchor='middle' fontFamily='Microsoft YaHei'&gt;审计留痕&lt;/text&gt;&#10;        &lt;rect x='534' y='356' width='168' height='58' rx='9' fill='#161A24' stroke='#34D399' strokeWidth='1.5' /&gt;&#10;        &lt;text x='618' y='382' fill='#EEF1F6' fontSize='13' textAnchor='middle' fontFamily='Microsoft YaHei'&gt;人工复核闸&lt;/text&gt;&#10;        &lt;text x='618' y='401' fill='#666D80' fontSize='11' textAnchor='middle' fontFamily='Microsoft YaHei'&gt;可干预后重算&lt;/text&gt;&#10;      &lt;/svg&gt;&#10;    &lt;/Box&gt;&#10;&#10;    &lt;Box style={{ width: 380, flexDirection: 'column', justifyContent: 'center', gap: 14 }}&gt;&#10;      &lt;Text style={{ fontSize: 15, color: '#666D80', fontWeight: 'bold', letterSpacing: 2 }}&gt;认知支柱&lt;/Text&gt;&#10;&#10;      &lt;Box style={{ background: '#161A24', borderRadius: 12, border: '1px solid #232838', borderLeft: '3px solid #22D3EE', padding: 18 }}&gt;&#10;        &lt;Text style={{ fontSize: 18, fontWeight: 'bold', color: '#EEF1F6' }}&gt;K-M-D 认知决策管道&lt;/Text&gt;&#10;        &lt;Text style={{ fontSize: 15, color: '#A4ABBD', lineHeight: 1.7, marginTop: 8 }}&gt;&#10;          知识层给出判据，方法层给出算法，决策层输出结论。每层都留痕，结论可逐层回溯。&#10;        &lt;/Text&gt;&#10;      &lt;/Box&gt;&#10;&#10;      &lt;Box style={{ background: '#161A24', borderRadius: 12, border: '1px solid #232838', borderLeft: '3px solid #FBBF24', padding: 18 }}&gt;&#10;        &lt;Text style={{ fontSize: 18, fontWeight: 'bold', color: '#EEF1F6' }}&gt;三维置信度&lt;/Text&gt;&#10;        &lt;Text style={{ fontSize: 15, color: '#A4ABBD', lineHeight: 1.7, marginTop: 8 }}&gt;&#10;          信源可信度 × 证据强度 × 逻辑一致性，输出可复算的评分与扣分理由，而非一个孤立的百分比。&#10;        &lt;/Text&gt;&#10;      &lt;/Box&gt;&#10;&#10;      &lt;Box style={{ background: '#161A24', borderRadius: 12, border: '1px solid #232838', borderLeft: '3px solid #34D399', padding: 18 }}&gt;&#10;        &lt;Text style={{ fontSize: 18, fontWeight: 'bold', color: '#EEF1F6' }}&gt;决策第 0 闸&lt;/Text&gt;&#10;        &lt;Text style={{ fontSize: 15, color: '#A4ABBD', lineHeight: 1.7, marginTop: 8 }}&gt;&#10;          缺什么信息就报什么，不放行、不静默通过；处置类结论一律转人工复核，不自动执行。&#10;        &lt;/Text&gt;&#10;      &lt;/Box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多智能体可信研判与证据链溯源系统&lt;/Text&gt;&#10;    &lt;Text style={{ fontSize: 14, color: '#666D80' }}&gt;06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609600" y="419100"/>
            <a:ext cx="3429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066800" y="342900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ARCHITECTURE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EEF1F6"/>
                </a:solidFill>
                <a:latin typeface="Microsoft YaHei"/>
                <a:ea typeface="Microsoft YaHei"/>
              </a:rPr>
              <a:t>三层智能体：研判、消解、追溯各司其职</a:t>
            </a:r>
            <a:endParaRPr/>
          </a:p>
        </p:txBody>
      </p:sp>
      <p:pic>
        <p:nvPicPr>
          <p:cNvPr id="2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028700"/>
            <a:ext cx="6858000" cy="4114800"/>
          </a:xfrm>
          <a:prstGeom prst="rect">
            <a:avLst/>
          </a:prstGeom>
          <a:ln/>
        </p:spPr>
      </p:pic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962900" y="15430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666D80"/>
                </a:solidFill>
                <a:latin typeface="Microsoft YaHei"/>
                <a:ea typeface="Microsoft YaHei"/>
              </a:rPr>
              <a:t>认知支柱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991475" y="1847850"/>
            <a:ext cx="3619500" cy="1219200"/>
          </a:xfrm>
          <a:prstGeom prst="roundRect">
            <a:avLst>
              <a:gd name="adj" fmla="val 9375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7991475" y="1847850"/>
            <a:ext cx="3619500" cy="1219200"/>
          </a:xfrm>
          <a:custGeom>
            <a:pathLst>
              <a:path w="380" h="128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19"/>
                </a:lnTo>
                <a:cubicBezTo>
                  <a:pt x="3" y="123"/>
                  <a:pt x="6" y="127"/>
                  <a:pt x="10" y="128"/>
                </a:cubicBezTo>
                <a:cubicBezTo>
                  <a:pt x="4" y="127"/>
                  <a:pt x="0" y="122"/>
                  <a:pt x="0" y="11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162925" y="2019300"/>
            <a:ext cx="3248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EF1F6"/>
                </a:solidFill>
                <a:latin typeface="Microsoft YaHei"/>
                <a:ea typeface="Microsoft YaHei"/>
              </a:rPr>
              <a:t>K-M-D </a:t>
            </a: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认知决策管道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162925" y="2305050"/>
            <a:ext cx="32480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知识层给出判据，方法层给出算法，决策层输出结论。每层都留痕，结论可逐层回溯。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7991475" y="3200400"/>
            <a:ext cx="3619500" cy="1219200"/>
          </a:xfrm>
          <a:prstGeom prst="roundRect">
            <a:avLst>
              <a:gd name="adj" fmla="val 9375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7991475" y="3200400"/>
            <a:ext cx="3619500" cy="1219200"/>
          </a:xfrm>
          <a:custGeom>
            <a:pathLst>
              <a:path w="380" h="128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19"/>
                </a:lnTo>
                <a:cubicBezTo>
                  <a:pt x="3" y="123"/>
                  <a:pt x="6" y="127"/>
                  <a:pt x="10" y="128"/>
                </a:cubicBezTo>
                <a:cubicBezTo>
                  <a:pt x="4" y="127"/>
                  <a:pt x="0" y="122"/>
                  <a:pt x="0" y="11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162925" y="3371850"/>
            <a:ext cx="3248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三维置信度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162925" y="3657600"/>
            <a:ext cx="32480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信源可信度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 ×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证据强度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 ×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逻辑一致性，输出可复算的评分与扣分理由，而非一个孤立的百分比。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7991475" y="4552950"/>
            <a:ext cx="3619500" cy="1219200"/>
          </a:xfrm>
          <a:prstGeom prst="roundRect">
            <a:avLst>
              <a:gd name="adj" fmla="val 9375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7991475" y="4552950"/>
            <a:ext cx="3619500" cy="1219200"/>
          </a:xfrm>
          <a:custGeom>
            <a:pathLst>
              <a:path w="380" h="128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19"/>
                </a:lnTo>
                <a:cubicBezTo>
                  <a:pt x="3" y="123"/>
                  <a:pt x="6" y="127"/>
                  <a:pt x="10" y="128"/>
                </a:cubicBezTo>
                <a:cubicBezTo>
                  <a:pt x="4" y="127"/>
                  <a:pt x="0" y="122"/>
                  <a:pt x="0" y="11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162925" y="4724400"/>
            <a:ext cx="3248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决策第</a:t>
            </a:r>
            <a:r>
              <a:rPr lang="en-US" sz="1350" b="1">
                <a:solidFill>
                  <a:srgbClr val="EEF1F6"/>
                </a:solidFill>
                <a:latin typeface="Microsoft YaHei"/>
                <a:ea typeface="Microsoft YaHei"/>
              </a:rPr>
              <a:t> 0 </a:t>
            </a:r>
            <a:r>
              <a:rPr lang="zh-CN" sz="1350" b="1">
                <a:solidFill>
                  <a:srgbClr val="EEF1F6"/>
                </a:solidFill>
                <a:latin typeface="Microsoft YaHei"/>
                <a:ea typeface="Microsoft YaHei"/>
              </a:rPr>
              <a:t>闸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162925" y="5010150"/>
            <a:ext cx="32480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缺什么信息就报什么，不放行、不静默通过；处置类结论一律转人工复核，不自动执行。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多智能体可信研判与证据链溯源系统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9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22D3EE' }} /&gt;&#10;      &lt;Text style={{ fontSize: 15, color: '#22D3EE', letterSpacing: 2, fontWeight: 'bold' }}&gt;TRUST MODEL · 赛题能力 ①&lt;/Text&gt;&#10;    &lt;/Box&gt;&#10;    &lt;Text style={{ fontSize: 34, fontWeight: 'bold', color: '#EEF1F6' }}&gt;可信度量：三个维度，说清分从哪里来&lt;/Text&gt;&#10;  &lt;/Box&gt;&#10;&#10;  &lt;Box style={{ flex: 1, marginTop: 14, flexDirection: 'column' }}&gt;&#10;&#10;    &lt;Box style={{ flexDirection: 'row', gap: 16 }}&gt;&#10;&#10;      &lt;Box style={{ flex: 1, background: '#161A24', borderRadius: 14, border: '1px solid #232838', borderTop: '3px solid #22D3EE', padding: 22 }}&gt;&#10;        &lt;Text style={{ fontSize: 22, fontWeight: 'bold', color: '#EEF1F6' }}&gt;信源可信度&lt;/Text&gt;&#10;        &lt;Text style={{ fontSize: 14, color: '#22D3EE', fontWeight: 'bold', marginTop: 6 }}&gt;这条信息，谁说的&lt;/Text&gt;&#10;        &lt;Text style={{ fontSize: 15, color: '#A4ABBD', lineHeight: 1.85, marginTop: 12 }}&gt;&#10;          · 来源等级：官方、权威媒体、行业机构、匿名渠道分级&lt;br /&gt;&#10;          · 一手性：原始出处，还是转述与二次加工&lt;br /&gt;&#10;          · 历史准确率：该来源过往结论的复核结果&lt;br /&gt;&#10;          · 可交叉验证性：能否被独立来源印证&#10;        &lt;/Text&gt;&#10;      &lt;/Box&gt;&#10;&#10;      &lt;Box style={{ flex: 1, background: '#161A24', borderRadius: 14, border: '1px solid #232838', borderTop: '3px solid #FBBF24', padding: 22 }}&gt;&#10;        &lt;Text style={{ fontSize: 22, fontWeight: 'bold', color: '#EEF1F6' }}&gt;证据强度&lt;/Text&gt;&#10;        &lt;Text style={{ fontSize: 14, color: '#FBBF24', fontWeight: 'bold', marginTop: 6 }}&gt;拿什么支撑这个说法&lt;/Text&gt;&#10;        &lt;Text style={{ fontSize: 15, color: '#A4ABBD', lineHeight: 1.85, marginTop: 12 }}&gt;&#10;          · 数量与独立性：多源独立优于同源重复&lt;br /&gt;&#10;          · 时效性：与事件时间窗的匹配程度&lt;br /&gt;&#10;          · 贴合度：直接支持结论，还是仅相关共现&lt;br /&gt;&#10;          · 证据等级：原始数据优于转述与推断&#10;        &lt;/Text&gt;&#10;      &lt;/Box&gt;&#10;&#10;      &lt;Box style={{ flex: 1, background: '#161A24', borderRadius: 14, border: '1px solid #232838', borderTop: '3px solid #34D399', padding: 22 }}&gt;&#10;        &lt;Text style={{ fontSize: 22, fontWeight: 'bold', color: '#EEF1F6' }}&gt;逻辑一致性&lt;/Text&gt;&#10;        &lt;Text style={{ fontSize: 14, color: '#34D399', fontWeight: 'bold', marginTop: 6 }}&gt;推得通吗，有没有自相矛盾&lt;/Text&gt;&#10;        &lt;Text style={{ fontSize: 15, color: '#A4ABBD', lineHeight: 1.85, marginTop: 12 }}&gt;&#10;          · 推理链完整度：每个中间结论都有依据&lt;br /&gt;&#10;          · 内部矛盾数：结论与自身证据是否冲突&lt;br /&gt;&#10;          · 与既有知识冲突度：是否与已确证知识相悖&lt;br /&gt;&#10;          · 反证处理：反例被解释，还是被留档&#10;        &lt;/Text&gt;&#10;      &lt;/Box&gt;&#10;&#10;    &lt;/Box&gt;&#10;&#10;    &lt;Box style={{ marginTop: 16, background: '#13161E', borderRadius: 12, border: '1px solid #232838', padding: 18, paddingLeft: 22, paddingRight: 22 }}&gt;&#10;      &lt;Box style={{ flexDirection: 'row', alignItems: 'center', gap: 12, marginBottom: 12 }}&gt;&#10;        &lt;Text style={{ fontSize: 17, fontWeight: 'bold', color: '#EEF1F6' }}&gt;九尺子逐项校验&lt;/Text&gt;&#10;        &lt;Text style={{ fontSize: 14, color: '#666D80' }}&gt;8 项确定性评分 + 1 项模型评估，输出可复算的 9 列决策记录&lt;/Text&gt;&#10;        &lt;Box style={{ flex: 1 }} /&gt;&#10;        &lt;Box style={{ paddingTop: 4, paddingBottom: 4, paddingLeft: 12, paddingRight: 12, borderRadius: 6, background: 'rgba(251,191,36,.14)' }}&gt;&#10;          &lt;Text style={{ fontSize: 13, color: '#FBBF24', fontWeight: 'bold' }}&gt;示例 · 机制示意&lt;/Text&gt;&#10;        &lt;/Box&gt;&#10;      &lt;/Box&gt;&#10;&#10;      &lt;svg width={1108} height={78} viewBox='0 0 1108 78'&gt;&#10;        &lt;text x='0' y='16' fill='#A4ABBD' fontSize='12' fontFamily='Microsoft YaHei'&gt;精确性&lt;/text&gt;&#10;        &lt;rect x='0' y='24' width='104' height='11' rx='5' fill='#1A1F2B' /&gt;&#10;        &lt;rect x='0' y='24' width='78' height='11' rx='5' fill='#22D3EE' /&gt;&#10;        &lt;text x='124' y='16' fill='#A4ABBD' fontSize='12' fontFamily='Microsoft YaHei'&gt;广度&lt;/text&gt;&#10;        &lt;rect x='124' y='24' width='104' height='11' rx='5' fill='#1A1F2B' /&gt;&#10;        &lt;rect x='124' y='24' width='78' height='11' rx='5' fill='#22D3EE' /&gt;&#10;        &lt;text x='248' y='16' fill='#A4ABBD' fontSize='12' fontFamily='Microsoft YaHei'&gt;一致性&lt;/text&gt;&#10;        &lt;rect x='248' y='24' width='104' height='11' rx='5' fill='#1A1F2B' /&gt;&#10;        &lt;rect x='248' y='24' width='104' height='11' rx='5' fill='#22D3EE' /&gt;&#10;        &lt;text x='372' y='16' fill='#A4ABBD' fontSize='12' fontFamily='Microsoft YaHei'&gt;依据充分性&lt;/text&gt;&#10;        &lt;rect x='372' y='24' width='104' height='11' rx='5' fill='#1A1F2B' /&gt;&#10;        &lt;rect x='372' y='24' width='104' height='11' rx='5' fill='#34D399' /&gt;&#10;        &lt;text x='496' y='16' fill='#A4ABBD' fontSize='12' fontFamily='Microsoft YaHei'&gt;风险显性化&lt;/text&gt;&#10;        &lt;rect x='496' y='24' width='104' height='11' rx='5' fill='#1A1F2B' /&gt;&#10;        &lt;rect x='496' y='24' width='78' height='11' rx='5' fill='#34D399' /&gt;&#10;        &lt;text x='620' y='16' fill='#A4ABBD' fontSize='12' fontFamily='Microsoft YaHei'&gt;时效性&lt;/text&gt;&#10;        &lt;rect x='620' y='24' width='104' height='11' rx='5' fill='#1A1F2B' /&gt;&#10;        &lt;rect x='620' y='24' width='78' height='11' rx='5' fill='#34D399' /&gt;&#10;        &lt;text x='744' y='16' fill='#A4ABBD' fontSize='12' fontFamily='Microsoft YaHei'&gt;可追溯性&lt;/text&gt;&#10;        &lt;rect x='744' y='24' width='104' height='11' rx='5' fill='#1A1F2B' /&gt;&#10;        &lt;rect x='744' y='24' width='104' height='11' rx='5' fill='#34D399' /&gt;&#10;        &lt;text x='868' y='16' fill='#A4ABBD' fontSize='12' fontFamily='Microsoft YaHei'&gt;可行动性&lt;/text&gt;&#10;        &lt;rect x='868' y='24' width='104' height='11' rx='5' fill='#1A1F2B' /&gt;&#10;        &lt;rect x='868' y='24' width='78' height='11' rx='5' fill='#22D3EE' /&gt;&#10;        &lt;text x='992' y='16' fill='#A4ABBD' fontSize='12' fontFamily='Microsoft YaHei'&gt;清晰性&lt;/text&gt;&#10;        &lt;rect x='992' y='24' width='104' height='11' rx='5' fill='#1A1F2B' /&gt;&#10;        &lt;rect x='992' y='24' width='78' height='11' rx='5' fill='#22D3EE' /&gt;&#10;        &lt;text x='0' y='60' fill='#666D80' fontSize='12' fontFamily='Microsoft YaHei'&gt;决策第 0 闸：缺信息就报缺 · 置信度不足不放行 · 不静默通过 · 处置类结论一律转人工复核&lt;/text&gt;&#10;      &lt;/svg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多智能体可信研判与证据链溯源系统&lt;/Text&gt;&#10;    &lt;Text style={{ fontSize: 14, color: '#666D80' }}&gt;07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TRUST MODEL · </a:t>
            </a:r>
            <a:r>
              <a:rPr lang="zh-CN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赛题能力</a:t>
            </a: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 ①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可信度量：三个维度，说清分从哪里来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09600" y="1266825"/>
            <a:ext cx="3552825" cy="2628900"/>
          </a:xfrm>
          <a:prstGeom prst="roundRect">
            <a:avLst>
              <a:gd name="adj" fmla="val 5072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609600" y="1266825"/>
            <a:ext cx="3552825" cy="2628900"/>
          </a:xfrm>
          <a:custGeom>
            <a:pathLst>
              <a:path w="373" h="276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6"/>
                  <a:pt x="367" y="3"/>
                  <a:pt x="36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9150" y="1476375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信源可信度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19150" y="17907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D3EE"/>
                </a:solidFill>
                <a:latin typeface="Microsoft YaHei"/>
                <a:ea typeface="Microsoft YaHei"/>
              </a:rPr>
              <a:t>这条信息，谁说的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19150" y="2066925"/>
            <a:ext cx="3133725" cy="1590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来源等级：官方、权威媒体、行业机构、匿名渠道分级</a:t>
            </a:r>
            <a:endParaRPr/>
          </a:p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一手性：原始出处，还是转述与二次加工</a:t>
            </a:r>
            <a:endParaRPr/>
          </a:p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历史准确率：该来源过往结论的复核结果</a:t>
            </a:r>
            <a:endParaRPr/>
          </a:p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可交叉验证性：能否被独立来源印证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314825" y="1266825"/>
            <a:ext cx="3562350" cy="2628900"/>
          </a:xfrm>
          <a:prstGeom prst="roundRect">
            <a:avLst>
              <a:gd name="adj" fmla="val 5072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4314825" y="1266825"/>
            <a:ext cx="3562350" cy="2628900"/>
          </a:xfrm>
          <a:custGeom>
            <a:pathLst>
              <a:path w="374" h="276">
                <a:moveTo>
                  <a:pt x="361" y="0"/>
                </a:moveTo>
                <a:cubicBezTo>
                  <a:pt x="367" y="0"/>
                  <a:pt x="372" y="5"/>
                  <a:pt x="374" y="11"/>
                </a:cubicBezTo>
                <a:cubicBezTo>
                  <a:pt x="372" y="6"/>
                  <a:pt x="368" y="3"/>
                  <a:pt x="363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60" y="0"/>
                </a:ln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524375" y="14763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证据强度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524375" y="179070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BF24"/>
                </a:solidFill>
                <a:latin typeface="Microsoft YaHei"/>
                <a:ea typeface="Microsoft YaHei"/>
              </a:rPr>
              <a:t>拿什么支撑这个说法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524375" y="2066925"/>
            <a:ext cx="3143250" cy="127635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数量与独立性：多源独立优于同源重复</a:t>
            </a:r>
            <a:endParaRPr/>
          </a:p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时效性：与事件时间窗的匹配程度</a:t>
            </a:r>
            <a:endParaRPr/>
          </a:p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贴合度：直接支持结论，还是仅相关共现</a:t>
            </a:r>
            <a:endParaRPr/>
          </a:p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证据等级：原始数据优于转述与推断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8029575" y="1266825"/>
            <a:ext cx="3552825" cy="2628900"/>
          </a:xfrm>
          <a:prstGeom prst="roundRect">
            <a:avLst>
              <a:gd name="adj" fmla="val 5072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8029575" y="1266825"/>
            <a:ext cx="3552825" cy="2628900"/>
          </a:xfrm>
          <a:custGeom>
            <a:pathLst>
              <a:path w="373" h="276">
                <a:moveTo>
                  <a:pt x="360" y="0"/>
                </a:moveTo>
                <a:cubicBezTo>
                  <a:pt x="366" y="0"/>
                  <a:pt x="371" y="5"/>
                  <a:pt x="373" y="11"/>
                </a:cubicBezTo>
                <a:cubicBezTo>
                  <a:pt x="371" y="6"/>
                  <a:pt x="367" y="3"/>
                  <a:pt x="362" y="3"/>
                </a:cubicBezTo>
                <a:lnTo>
                  <a:pt x="11" y="3"/>
                </a:lnTo>
                <a:cubicBezTo>
                  <a:pt x="6" y="3"/>
                  <a:pt x="2" y="6"/>
                  <a:pt x="0" y="11"/>
                </a:cubicBezTo>
                <a:cubicBezTo>
                  <a:pt x="2" y="4"/>
                  <a:pt x="8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239125" y="1476375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EF1F6"/>
                </a:solidFill>
                <a:latin typeface="Microsoft YaHei"/>
                <a:ea typeface="Microsoft YaHei"/>
              </a:rPr>
              <a:t>逻辑一致性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239125" y="17907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4D399"/>
                </a:solidFill>
                <a:latin typeface="Microsoft YaHei"/>
                <a:ea typeface="Microsoft YaHei"/>
              </a:rPr>
              <a:t>推得通吗，有没有自相矛盾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239125" y="2066925"/>
            <a:ext cx="3133725" cy="127635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推理链完整度：每个中间结论都有依据</a:t>
            </a:r>
            <a:endParaRPr/>
          </a:p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内部矛盾数：结论与自身证据是否冲突</a:t>
            </a:r>
            <a:endParaRPr/>
          </a:p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与既有知识冲突度：是否与已确证知识相悖</a:t>
            </a:r>
            <a:endParaRPr/>
          </a:p>
          <a:p>
            <a:pPr>
              <a:lnSpc>
                <a:spcPct val="185000"/>
              </a:lnSpc>
            </a:pP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反证处理：反例被解释，还是被留档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09600" y="4019550"/>
            <a:ext cx="10972800" cy="142875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19150" y="42100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九尺子逐项校验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2066925" y="4229100"/>
            <a:ext cx="3638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8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项确定性评分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+ 1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项模型评估，输出可复算的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9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列决策记录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10267950" y="4191000"/>
            <a:ext cx="1104900" cy="228600"/>
          </a:xfrm>
          <a:prstGeom prst="roundRect">
            <a:avLst>
              <a:gd name="adj" fmla="val 25000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0382250" y="42291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BF24"/>
                </a:solidFill>
                <a:latin typeface="Microsoft YaHei"/>
                <a:ea typeface="Microsoft YaHei"/>
              </a:rPr>
              <a:t>示例</a:t>
            </a:r>
            <a:r>
              <a:rPr lang="en-US" sz="975" b="1">
                <a:solidFill>
                  <a:srgbClr val="FBBF24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FBBF24"/>
                </a:solidFill>
                <a:latin typeface="Microsoft YaHei"/>
                <a:ea typeface="Microsoft YaHei"/>
              </a:rPr>
              <a:t>机制示意</a:t>
            </a:r>
            <a:endParaRPr/>
          </a:p>
        </p:txBody>
      </p:sp>
      <p:pic>
        <p:nvPicPr>
          <p:cNvPr id="3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4533900"/>
            <a:ext cx="10553700" cy="742950"/>
          </a:xfrm>
          <a:prstGeom prst="rect">
            <a:avLst/>
          </a:prstGeom>
          <a:ln/>
        </p:spPr>
      </p:pic>
      <p:sp>
        <p:nvSpPr>
          <p:cNvPr id="315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多智能体可信研判与证据链溯源系统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18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FBBF24' }} /&gt;&#10;      &lt;Text style={{ fontSize: 15, color: '#FBBF24', letterSpacing: 2, fontWeight: 'bold' }}&gt;CONFLICT RESOLUTION · 赛题能力 ①&lt;/Text&gt;&#10;    &lt;/Box&gt;&#10;    &lt;Text style={{ fontSize: 34, fontWeight: 'bold', color: '#EEF1F6' }}&gt;冲突消解：不靠投票，靠对抗与留档&lt;/Text&gt;&#10;  &lt;/Box&gt;&#10;&#10;  &lt;Box style={{ flex: 1, marginTop: 12, flexDirection: 'column' }}&gt;&#10;&#10;    &lt;svg width={1152} height={62} viewBox='0 0 1152 62'&gt;&#10;      &lt;rect x='0' y='8' width='248' height='46' rx='10' fill='#161A24' stroke='#FBBF24' strokeWidth='1.5' /&gt;&#10;      &lt;text x='124' y='37' fill='#EEF1F6' fontSize='15' textAnchor='middle' fontFamily='Microsoft YaHei'&gt;冲突识别：结论间不一致自动告警&lt;/text&gt;&#10;      &lt;text x='266' y='37' fill='#666D80' fontSize='16' textAnchor='middle' fontFamily='Microsoft YaHei'&gt;→&lt;/text&gt;&#10;      &lt;rect x='288' y='8' width='248' height='46' rx='10' fill='#161A24' stroke='#FBBF24' strokeWidth='1.5' /&gt;&#10;      &lt;text x='412' y='37' fill='#EEF1F6' fontSize='15' textAnchor='middle' fontFamily='Microsoft YaHei'&gt;分类定性：事实 / 口径 / 立场&lt;/text&gt;&#10;      &lt;text x='554' y='37' fill='#666D80' fontSize='16' textAnchor='middle' fontFamily='Microsoft YaHei'&gt;→&lt;/text&gt;&#10;      &lt;rect x='576' y='8' width='288' height='46' rx='10' fill='#161A24' stroke='#60A5FA' strokeWidth='1.5' /&gt;&#10;      &lt;text x='720' y='37' fill='#EEF1F6' fontSize='15' textAnchor='middle' fontFamily='Microsoft YaHei'&gt;博弈对抗：正方 / 反方 / 仲裁&lt;/text&gt;&#10;      &lt;text x='882' y='37' fill='#666D80' fontSize='16' textAnchor='middle' fontFamily='Microsoft YaHei'&gt;→&lt;/text&gt;&#10;      &lt;rect x='904' y='8' width='248' height='46' rx='10' fill='#161A24' stroke='#A78BFA' strokeWidth='1.5' /&gt;&#10;      &lt;text x='1028' y='37' fill='#EEF1F6' fontSize='15' textAnchor='middle' fontFamily='Microsoft YaHei'&gt;加权消解 + 分歧留档&lt;/text&gt;&#10;    &lt;/svg&gt;&#10;&#10;    &lt;Box style={{ marginTop: 14, flexDirection: 'row', background: '#1A1F2B', borderRadius: 10, padding: 12, paddingLeft: 18, paddingRight: 18 }}&gt;&#10;      &lt;Box style={{ width: 230 }}&gt;&lt;Text style={{ fontSize: 14, color: '#666D80', fontWeight: 'bold' }}&gt;消解策略&lt;/Text&gt;&lt;/Box&gt;&#10;      &lt;Box style={{ width: 290 }}&gt;&lt;Text style={{ fontSize: 14, color: '#666D80', fontWeight: 'bold' }}&gt;适用冲突类型&lt;/Text&gt;&lt;/Box&gt;&#10;      &lt;Box style={{ flex: 1 }}&gt;&lt;Text style={{ fontSize: 14, color: '#666D80', fontWeight: 'bold' }}&gt;处理方式与输出&lt;/Text&gt;&lt;/Box&gt;&#10;    &lt;/Box&gt;&#10;&#10;    &lt;Box style={{ flexDirection: 'row', borderBottom: '1px solid #232838', padding: 12, paddingLeft: 18, paddingRight: 18, alignItems: 'center' }}&gt;&#10;      &lt;Box style={{ width: 230 }}&gt;&lt;Text style={{ fontSize: 15, color: '#EEF1F6', fontWeight: 'bold' }}&gt;① 信源可信度加权&lt;/Text&gt;&lt;/Box&gt;&#10;      &lt;Box style={{ width: 290 }}&gt;&lt;Text style={{ fontSize: 14, color: '#A4ABBD' }}&gt;双方来源等级差异明显&lt;/Text&gt;&lt;/Box&gt;&#10;      &lt;Box style={{ flex: 1 }}&gt;&lt;Text style={{ fontSize: 14, color: '#34D399' }}&gt;按来源可信度重算结论权重，输出调整后置信度&lt;/Text&gt;&lt;/Box&gt;&#10;    &lt;/Box&gt;&#10;&#10;    &lt;Box style={{ flexDirection: 'row', borderBottom: '1px solid #232838', padding: 12, paddingLeft: 18, paddingRight: 18, alignItems: 'center' }}&gt;&#10;      &lt;Box style={{ width: 230 }}&gt;&lt;Text style={{ fontSize: 15, color: '#EEF1F6', fontWeight: 'bold' }}&gt;② 证据强度比较&lt;/Text&gt;&lt;/Box&gt;&#10;      &lt;Box style={{ width: 290 }}&gt;&lt;Text style={{ fontSize: 14, color: '#A4ABBD' }}&gt;独立证据数量与等级悬殊&lt;/Text&gt;&lt;/Box&gt;&#10;      &lt;Box style={{ flex: 1 }}&gt;&lt;Text style={{ fontSize: 14, color: '#34D399' }}&gt;以独立证据数、等级与时序定序，弱侧标注证据缺口&lt;/Text&gt;&lt;/Box&gt;&#10;    &lt;/Box&gt;&#10;&#10;    &lt;Box style={{ flexDirection: 'row', borderBottom: '1px solid #232838', padding: 12, paddingLeft: 18, paddingRight: 18, alignItems: 'center' }}&gt;&#10;      &lt;Box style={{ width: 230 }}&gt;&lt;Text style={{ fontSize: 15, color: '#EEF1F6', fontWeight: 'bold' }}&gt;③ 逻辑一致性校验&lt;/Text&gt;&lt;/Box&gt;&#10;      &lt;Box style={{ width: 290 }}&gt;&lt;Text style={{ fontSize: 14, color: '#A4ABBD' }}&gt;一方推理链自相矛盾&lt;/Text&gt;&lt;/Box&gt;&#10;      &lt;Box style={{ flex: 1 }}&gt;&lt;Text style={{ fontSize: 14, color: '#34D399' }}&gt;定位矛盾节点，矛盾方降级并在推理树标注缺陷&lt;/Text&gt;&lt;/Box&gt;&#10;    &lt;/Box&gt;&#10;&#10;    &lt;Box style={{ flexDirection: 'row', borderBottom: '1px solid #232838', padding: 12, paddingLeft: 18, paddingRight: 18, alignItems: 'center' }}&gt;&#10;      &lt;Box style={{ width: 230 }}&gt;&lt;Text style={{ fontSize: 15, color: '#EEF1F6', fontWeight: 'bold' }}&gt;④ 对抗辩论裁决&lt;/Text&gt;&lt;/Box&gt;&#10;      &lt;Box style={{ width: 290 }}&gt;&lt;Text style={{ fontSize: 14, color: '#A4ABBD' }}&gt;事实与口径均无定论&lt;/Text&gt;&lt;/Box&gt;&#10;      &lt;Box style={{ flex: 1 }}&gt;&lt;Text style={{ fontSize: 14, color: '#FBBF24' }}&gt;正方与反方各陈依据，仲裁智能体裁决并记录裁决理由&lt;/Text&gt;&lt;/Box&gt;&#10;    &lt;/Box&gt;&#10;&#10;    &lt;Box style={{ flexDirection: 'row', borderBottom: '1px solid #232838', padding: 12, paddingLeft: 18, paddingRight: 18, alignItems: 'center' }}&gt;&#10;      &lt;Box style={{ width: 230 }}&gt;&lt;Text style={{ fontSize: 15, color: '#EEF1F6', fontWeight: 'bold' }}&gt;⑤ 人工仲裁&lt;/Text&gt;&lt;/Box&gt;&#10;      &lt;Box style={{ width: 290 }}&gt;&lt;Text style={{ fontSize: 14, color: '#A4ABBD' }}&gt;重大判断或高风险结论&lt;/Text&gt;&lt;/Box&gt;&#10;      &lt;Box style={{ flex: 1 }}&gt;&lt;Text style={{ fontSize: 14, color: '#A78BFA' }}&gt;系统挂起并推送人工，两套结论并列保留，等待裁定&lt;/Text&gt;&lt;/Box&gt;&#10;    &lt;/Box&gt;&#10;&#10;    &lt;Box style={{ marginTop: 14, background: '#13161E', borderRadius: 12, border: '1px dashed #2C3346', padding: 14, paddingLeft: 20, paddingRight: 20, flexDirection: 'row', alignItems: 'center', gap: 16 }}&gt;&#10;      &lt;Box style={{ paddingTop: 5, paddingBottom: 5, paddingLeft: 12, paddingRight: 12, borderRadius: 6, background: 'rgba(167,139,250,.16)' }}&gt;&#10;        &lt;Text style={{ fontSize: 14, color: '#A78BFA', fontWeight: 'bold' }}&gt;关键机制&lt;/Text&gt;&#10;      &lt;/Box&gt;&#10;      &lt;Text style={{ fontSize: 15, color: '#A4ABBD', flex: 1, lineHeight: 1.6 }}&gt;&#10;        &lt;b style={{ color: '#EEF1F6' }}&gt;少数意见不被覆盖&lt;/b&gt;：分歧记录随结论一同进入证据链，复核人看到的是&quot;主流结论 + 尚未消解的分歧&quot;，而不是一个被平均掉的数字。&#10;      &lt;/Text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多智能体可信研判与证据链溯源系统&lt;/Text&gt;&#10;    &lt;Text style={{ fontSize: 14, color: '#666D80' }}&gt;08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3162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FBBF24"/>
                </a:solidFill>
                <a:latin typeface="Microsoft YaHei"/>
                <a:ea typeface="Microsoft YaHei"/>
              </a:rPr>
              <a:t>CONFLICT RESOLUTION · </a:t>
            </a:r>
            <a:r>
              <a:rPr lang="zh-CN" sz="1125" b="1" spc="150">
                <a:solidFill>
                  <a:srgbClr val="FBBF24"/>
                </a:solidFill>
                <a:latin typeface="Microsoft YaHei"/>
                <a:ea typeface="Microsoft YaHei"/>
              </a:rPr>
              <a:t>赛题能力</a:t>
            </a:r>
            <a:r>
              <a:rPr lang="en-US" sz="1125" b="1" spc="150">
                <a:solidFill>
                  <a:srgbClr val="FBBF24"/>
                </a:solidFill>
                <a:latin typeface="Microsoft YaHei"/>
                <a:ea typeface="Microsoft YaHei"/>
              </a:rPr>
              <a:t> ①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冲突消解：不靠投票，靠对抗与留档</a:t>
            </a:r>
            <a:endParaRPr/>
          </a:p>
        </p:txBody>
      </p:sp>
      <p:pic>
        <p:nvPicPr>
          <p:cNvPr id="3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219200"/>
            <a:ext cx="10972800" cy="590550"/>
          </a:xfrm>
          <a:prstGeom prst="rect">
            <a:avLst/>
          </a:prstGeom>
          <a:ln/>
        </p:spPr>
      </p:pic>
      <p:sp>
        <p:nvSpPr>
          <p:cNvPr id="324" name=""/>
          <p:cNvSpPr/>
          <p:nvPr/>
        </p:nvSpPr>
        <p:spPr>
          <a:xfrm rot="0" flipH="0" flipV="0">
            <a:off x="609600" y="1943100"/>
            <a:ext cx="10972800" cy="390525"/>
          </a:xfrm>
          <a:prstGeom prst="roundRect">
            <a:avLst>
              <a:gd name="adj" fmla="val 24390"/>
            </a:avLst>
          </a:prstGeom>
          <a:solidFill>
            <a:srgbClr val="1A1F2B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81050" y="20574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66D80"/>
                </a:solidFill>
                <a:latin typeface="Microsoft YaHei"/>
                <a:ea typeface="Microsoft YaHei"/>
              </a:rPr>
              <a:t>消解策略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2971800" y="2057400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66D80"/>
                </a:solidFill>
                <a:latin typeface="Microsoft YaHei"/>
                <a:ea typeface="Microsoft YaHei"/>
              </a:rPr>
              <a:t>适用冲突类型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734050" y="205740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66D80"/>
                </a:solidFill>
                <a:latin typeface="Microsoft YaHei"/>
                <a:ea typeface="Microsoft YaHei"/>
              </a:rPr>
              <a:t>处理方式与输出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2333625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81050" y="2447925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EF1F6"/>
                </a:solidFill>
                <a:latin typeface="Microsoft YaHei"/>
                <a:ea typeface="Microsoft YaHei"/>
              </a:rPr>
              <a:t>① </a:t>
            </a: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信源可信度加权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2971800" y="2457450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双方来源等级差异明显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734050" y="245745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按来源可信度重算结论权重，输出调整后置信度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09600" y="2743200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81050" y="2857500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EF1F6"/>
                </a:solidFill>
                <a:latin typeface="Microsoft YaHei"/>
                <a:ea typeface="Microsoft YaHei"/>
              </a:rPr>
              <a:t>② </a:t>
            </a: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证据强度比较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2971800" y="286702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独立证据数量与等级悬殊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734050" y="2867025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以独立证据数、等级与时序定序，弱侧标注证据缺口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09600" y="3152775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81050" y="3267075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EF1F6"/>
                </a:solidFill>
                <a:latin typeface="Microsoft YaHei"/>
                <a:ea typeface="Microsoft YaHei"/>
              </a:rPr>
              <a:t>③ </a:t>
            </a: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逻辑一致性校验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2971800" y="3276600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一方推理链自相矛盾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734050" y="327660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定位矛盾节点，矛盾方降级并在推理树标注缺陷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3562350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81050" y="3676650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EF1F6"/>
                </a:solidFill>
                <a:latin typeface="Microsoft YaHei"/>
                <a:ea typeface="Microsoft YaHei"/>
              </a:rPr>
              <a:t>④ </a:t>
            </a: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对抗辩论裁决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2971800" y="368617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事实与口径均无定论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734050" y="3686175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BBF24"/>
                </a:solidFill>
                <a:latin typeface="Microsoft YaHei"/>
                <a:ea typeface="Microsoft YaHei"/>
              </a:rPr>
              <a:t>正方与反方各陈依据，仲裁智能体裁决并记录裁决理由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09600" y="3971925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81050" y="4086225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EF1F6"/>
                </a:solidFill>
                <a:latin typeface="Microsoft YaHei"/>
                <a:ea typeface="Microsoft YaHei"/>
              </a:rPr>
              <a:t>⑤ </a:t>
            </a: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人工仲裁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2971800" y="4095750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重大判断或高风险结论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734050" y="409575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78BFA"/>
                </a:solidFill>
                <a:latin typeface="Microsoft YaHei"/>
                <a:ea typeface="Microsoft YaHei"/>
              </a:rPr>
              <a:t>系统挂起并推送人工，两套结论并列保留，等待裁定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09600" y="4514850"/>
            <a:ext cx="10972800" cy="542925"/>
          </a:xfrm>
          <a:prstGeom prst="roundRect">
            <a:avLst>
              <a:gd name="adj" fmla="val 21053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dash"/>
          </a:ln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800100" y="4657725"/>
            <a:ext cx="762000" cy="257175"/>
          </a:xfrm>
          <a:prstGeom prst="roundRect">
            <a:avLst>
              <a:gd name="adj" fmla="val 22222"/>
            </a:avLst>
          </a:prstGeom>
          <a:solidFill>
            <a:srgbClr val="A78BFA">
              <a:alpha val="16000"/>
            </a:srgbClr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914400" y="47053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78BFA"/>
                </a:solidFill>
                <a:latin typeface="Microsoft YaHei"/>
                <a:ea typeface="Microsoft YaHei"/>
              </a:rPr>
              <a:t>关键机制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714500" y="4648200"/>
            <a:ext cx="9677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少数意见不被覆盖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：分歧记录随结论一同进入证据链，复核人看到的是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主流结论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尚未消解的分歧</a:t>
            </a:r>
            <a:r>
              <a:rPr lang="en-US" sz="1125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A4ABBD"/>
                </a:solidFill>
                <a:latin typeface="Microsoft YaHei"/>
                <a:ea typeface="Microsoft YaHei"/>
              </a:rPr>
              <a:t>，而不是一个被平均掉的数字。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多智能体可信研判与证据链溯源系统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5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34D399' }} /&gt;&#10;      &lt;Text style={{ fontSize: 15, color: '#34D399', letterSpacing: 2, fontWeight: 'bold' }}&gt;EVIDENCE TRACEABILITY · 赛题能力 ②&lt;/Text&gt;&#10;    &lt;/Box&gt;&#10;    &lt;Text style={{ fontSize: 34, fontWeight: 'bold', color: '#EEF1F6' }}&gt;证据溯源：从结论一路下钻到原始段落&lt;/Text&gt;&#10;  &lt;/Box&gt;&#10;&#10;  &lt;Box style={{ flex: 1, marginTop: 14, flexDirection: 'row', gap: 22 }}&gt;&#10;&#10;    &lt;Box style={{ width: 660 }}&gt;&#10;      &lt;svg width={660} height={400} viewBox='0 0 660 400'&gt;&#10;        &lt;rect x='110' y='6' width='520' height='54' rx='10' fill='#161A24' stroke='#22D3EE' strokeWidth='2' /&gt;&#10;        &lt;text x='370' y='28' fill='#EEF1F6' fontSize='15' fontWeight='bold' textAnchor='middle' fontFamily='Microsoft YaHei'&gt;结论：A 事件呈现协同发布特征&lt;/text&gt;&#10;        &lt;text x='370' y='48' fill='#666D80' fontSize='12' textAnchor='middle' fontFamily='Microsoft YaHei'&gt;置信度 0.78 ｜ 状态：待验证（因果证据不足）&lt;/text&gt;&#10;&#10;        &lt;path d='M370 60 L190 112' stroke='#34D399' strokeWidth='1.5' opacity='0.7' /&gt;&#10;        &lt;path d='M370 60 L370 112' stroke='#F87171' strokeWidth='1.5' opacity='0.7' /&gt;&#10;        &lt;path d='M370 60 L550 112' stroke='#34D399' strokeWidth='1.5' opacity='0.7' /&gt;&#10;&#10;        &lt;rect x='110' y='112' width='160' height='52' rx='9' fill='#161A24' stroke='#34D399' strokeWidth='1.5' /&gt;&#10;        &lt;text x='190' y='134' fill='#EEF1F6' fontSize='13' textAnchor='middle' fontFamily='Microsoft YaHei'&gt;E1 · 支持&lt;/text&gt;&#10;        &lt;text x='190' y='152' fill='#666D80' fontSize='11' textAnchor='middle' fontFamily='Microsoft YaHei'&gt;独立来源 3 家&lt;/text&gt;&#10;        &lt;rect x='290' y='112' width='160' height='52' rx='9' fill='#161A24' stroke='#F87171' strokeWidth='1.5' /&gt;&#10;        &lt;text x='370' y='134' fill='#EEF1F6' fontSize='13' textAnchor='middle' fontFamily='Microsoft YaHei'&gt;E2 · 反驳&lt;/text&gt;&#10;        &lt;text x='370' y='152' fill='#666D80' fontSize='11' textAnchor='middle' fontFamily='Microsoft YaHei'&gt;时间线不成立&lt;/text&gt;&#10;        &lt;rect x='470' y='112' width='160' height='52' rx='9' fill='#161A24' stroke='#34D399' strokeWidth='1.5' /&gt;&#10;        &lt;text x='550' y='134' fill='#EEF1F6' fontSize='13' textAnchor='middle' fontFamily='Microsoft YaHei'&gt;E3 · 支持&lt;/text&gt;&#10;        &lt;text x='550' y='152' fill='#666D80' fontSize='11' textAnchor='middle' fontFamily='Microsoft YaHei'&gt;一手数据佐证&lt;/text&gt;&#10;&#10;        &lt;path d='M190 164 L190 216' stroke='#2C3346' strokeWidth='1.5' /&gt;&#10;        &lt;path d='M370 164 L370 216' stroke='#2C3346' strokeWidth='1.5' /&gt;&#10;        &lt;path d='M550 164 L550 216' stroke='#2C3346' strokeWidth='1.5' /&gt;&#10;&#10;        &lt;rect x='110' y='216' width='160' height='52' rx='9' fill='#13161E' stroke='#2C3346' strokeWidth='1.5' /&gt;&#10;        &lt;text x='190' y='238' fill='#A4ABBD' fontSize='13' textAnchor='middle' fontFamily='Microsoft YaHei'&gt;来源 S1 · 原始文档&lt;/text&gt;&#10;        &lt;text x='190' y='256' fill='#666D80' fontSize='11' textAnchor='middle' fontFamily='Microsoft YaHei'&gt;段落 12 · 09:41&lt;/text&gt;&#10;        &lt;rect x='290' y='216' width='160' height='52' rx='9' fill='#13161E' stroke='#2C3346' strokeWidth='1.5' /&gt;&#10;        &lt;text x='370' y='238' fill='#A4ABBD' fontSize='13' textAnchor='middle' fontFamily='Microsoft YaHei'&gt;来源 S2 · 转述报道&lt;/text&gt;&#10;        &lt;text x='370' y='256' fill='#666D80' fontSize='11' textAnchor='middle' fontFamily='Microsoft YaHei'&gt;段落 3 · 14:07&lt;/text&gt;&#10;        &lt;rect x='470' y='216' width='160' height='52' rx='9' fill='#13161E' stroke='#2C3346' strokeWidth='1.5' /&gt;&#10;        &lt;text x='550' y='238' fill='#A4ABBD' fontSize='13' textAnchor='middle' fontFamily='Microsoft YaHei'&gt;来源 S3 · 数据接口&lt;/text&gt;&#10;        &lt;text x='550' y='256' fill='#666D80' fontSize='11' textAnchor='middle' fontFamily='Microsoft YaHei'&gt;原始记录 · 09:12&lt;/text&gt;&#10;&#10;        &lt;rect x='110' y='300' width='520' height='82' rx='10' fill='#13161E' stroke='#2C3346' strokeWidth='1' strokeDasharray='5 4' /&gt;&#10;        &lt;text x='130' y='326' fill='#EEF1F6' fontSize='14' fontWeight='bold' fontFamily='Microsoft YaHei'&gt;下钻到底：命中片段高亮 + 保留原文上下文 + 标注抓取时间&lt;/text&gt;&#10;        &lt;text x='130' y='350' fill='#A4ABBD' fontSize='13' fontFamily='Microsoft YaHei'&gt;证据图谱关系：支持 / 反驳 / 已排除（软标记，不删除原始证据）&lt;/text&gt;&#10;        &lt;text x='130' y='371' fill='#666D80' fontSize='12' fontFamily='Microsoft YaHei'&gt;同一证据可同时挂在多条结论下，修改一处即可看到影响面&lt;/text&gt;&#10;      &lt;/svg&gt;&#10;    &lt;/Box&gt;&#10;&#10;    &lt;Box style={{ flex: 1, flexDirection: 'column', justifyContent: 'center', gap: 13 }}&gt;&#10;      &lt;Text style={{ fontSize: 15, color: '#666D80', fontWeight: 'bold', letterSpacing: 2 }}&gt;因果校验三关&lt;/Text&gt;&#10;&#10;      &lt;Box style={{ background: '#161A24', borderRadius: 12, border: '1px solid #232838', borderLeft: '3px solid #22D3EE', padding: 16 }}&gt;&#10;        &lt;Text style={{ fontSize: 17, fontWeight: 'bold', color: '#EEF1F6' }}&gt;① 时序优先&lt;/Text&gt;&#10;        &lt;Text style={{ fontSize: 14.5, color: '#A4ABBD', lineHeight: 1.7, marginTop: 7 }}&gt;&#10;          因必须先于果发生。时序关系不成立，无论共现多强，一律降级为相关。&#10;        &lt;/Text&gt;&#10;      &lt;/Box&gt;&#10;&#10;      &lt;Box style={{ background: '#161A24', borderRadius: 12, border: '1px solid #232838', borderLeft: '3px solid #FBBF24', padding: 16 }}&gt;&#10;        &lt;Text style={{ fontSize: 17, fontWeight: 'bold', color: '#EEF1F6' }}&gt;② 反事实检验&lt;/Text&gt;&#10;        &lt;Text style={{ fontSize: 14.5, color: '#A4ABBD', lineHeight: 1.7, marginTop: 7 }}&gt;&#10;          假定该因不发生，果是否依然成立。若依然成立，说明据此判因证据不足。&#10;        &lt;/Text&gt;&#10;      &lt;/Box&gt;&#10;&#10;      &lt;Box style={{ background: '#161A24', borderRadius: 12, border: '1px solid #232838', borderLeft: '3px solid #34D399', padding: 16 }}&gt;&#10;        &lt;Text style={{ fontSize: 17, fontWeight: 'bold', color: '#EEF1F6' }}&gt;③ 混杂因素排查&lt;/Text&gt;&#10;        &lt;Text style={{ fontSize: 14.5, color: '#A4ABBD', lineHeight: 1.7, marginTop: 7 }}&gt;&#10;          是否存在共同前因同时解释两者。存在则标注为共因，不判为因果。&#10;        &lt;/Text&gt;&#10;      &lt;/Box&gt;&#10;&#10;      &lt;Box style={{ background: '#13161E', borderRadius: 12, border: '1px dashed #2C3346', padding: 14 }}&gt;&#10;        &lt;Text style={{ fontSize: 14, color: '#A4ABBD', lineHeight: 1.7 }}&gt;&#10;          铁律：&lt;b style={{ color: '#EEF1F6' }}&gt;相关性只作线索，不作结论&lt;/b&gt;；因果证据不足时，结论保持&quot;待验证&quot;，不升格、不隐藏。&#10;        &lt;/Text&gt;&#10;      &lt;/Box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多智能体可信研判与证据链溯源系统&lt;/Text&gt;&#10;    &lt;Text style={{ fontSize: 14, color: '#666D80' }}&gt;09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EVIDENCE TRACEABILITY · </a:t>
            </a:r>
            <a:r>
              <a:rPr lang="zh-CN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赛题能力</a:t>
            </a:r>
            <a:r>
              <a:rPr lang="en-US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 ②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证据溯源：从结论一路下钻到原始段落</a:t>
            </a:r>
            <a:endParaRPr/>
          </a:p>
        </p:txBody>
      </p:sp>
      <p:pic>
        <p:nvPicPr>
          <p:cNvPr id="3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238250"/>
            <a:ext cx="6286500" cy="3810000"/>
          </a:xfrm>
          <a:prstGeom prst="rect">
            <a:avLst/>
          </a:prstGeom>
          <a:ln/>
        </p:spPr>
      </p:pic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105650" y="1447800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666D80"/>
                </a:solidFill>
                <a:latin typeface="Microsoft YaHei"/>
                <a:ea typeface="Microsoft YaHei"/>
              </a:rPr>
              <a:t>因果校验三关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7134225" y="1743075"/>
            <a:ext cx="4476750" cy="1143000"/>
          </a:xfrm>
          <a:prstGeom prst="roundRect">
            <a:avLst>
              <a:gd name="adj" fmla="val 10000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7134225" y="1743075"/>
            <a:ext cx="4476750" cy="1143000"/>
          </a:xfrm>
          <a:custGeom>
            <a:pathLst>
              <a:path w="470" h="120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11"/>
                </a:lnTo>
                <a:cubicBezTo>
                  <a:pt x="3" y="115"/>
                  <a:pt x="6" y="119"/>
                  <a:pt x="10" y="120"/>
                </a:cubicBezTo>
                <a:cubicBezTo>
                  <a:pt x="4" y="119"/>
                  <a:pt x="0" y="114"/>
                  <a:pt x="0" y="10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286625" y="1895475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EF1F6"/>
                </a:solidFill>
                <a:latin typeface="Microsoft YaHei"/>
                <a:ea typeface="Microsoft YaHei"/>
              </a:rPr>
              <a:t>① </a:t>
            </a: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时序优先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286625" y="2162175"/>
            <a:ext cx="4143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因必须先于果发生。时序关系不成立，无论共现多强，一律降级为相关。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7134225" y="3009900"/>
            <a:ext cx="4476750" cy="1143000"/>
          </a:xfrm>
          <a:prstGeom prst="roundRect">
            <a:avLst>
              <a:gd name="adj" fmla="val 10000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7134225" y="3009900"/>
            <a:ext cx="4476750" cy="1143000"/>
          </a:xfrm>
          <a:custGeom>
            <a:pathLst>
              <a:path w="470" h="120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11"/>
                </a:lnTo>
                <a:cubicBezTo>
                  <a:pt x="3" y="115"/>
                  <a:pt x="6" y="119"/>
                  <a:pt x="10" y="120"/>
                </a:cubicBezTo>
                <a:cubicBezTo>
                  <a:pt x="4" y="119"/>
                  <a:pt x="0" y="114"/>
                  <a:pt x="0" y="10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286625" y="3162300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EF1F6"/>
                </a:solidFill>
                <a:latin typeface="Microsoft YaHei"/>
                <a:ea typeface="Microsoft YaHei"/>
              </a:rPr>
              <a:t>② </a:t>
            </a: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反事实检验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7286625" y="3429000"/>
            <a:ext cx="4143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假定该因不发生，果是否依然成立。若依然成立，说明据此判因证据不足。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7134225" y="4276725"/>
            <a:ext cx="4476750" cy="857250"/>
          </a:xfrm>
          <a:prstGeom prst="roundRect">
            <a:avLst>
              <a:gd name="adj" fmla="val 13333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7134225" y="4276725"/>
            <a:ext cx="4476750" cy="857250"/>
          </a:xfrm>
          <a:custGeom>
            <a:pathLst>
              <a:path w="470" h="90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81"/>
                </a:lnTo>
                <a:cubicBezTo>
                  <a:pt x="3" y="85"/>
                  <a:pt x="6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286625" y="4429125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EF1F6"/>
                </a:solidFill>
                <a:latin typeface="Microsoft YaHei"/>
                <a:ea typeface="Microsoft YaHei"/>
              </a:rPr>
              <a:t>③ </a:t>
            </a: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混杂因素排查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286625" y="4695825"/>
            <a:ext cx="4143375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是否存在共同前因同时解释两者。存在则标注为共因，不判为因果。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7105650" y="5257800"/>
            <a:ext cx="4476750" cy="819150"/>
          </a:xfrm>
          <a:prstGeom prst="roundRect">
            <a:avLst>
              <a:gd name="adj" fmla="val 13953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dash"/>
          </a:ln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239000" y="5391150"/>
            <a:ext cx="4210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铁律：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相关性只作线索，不作结论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；因果证据不足时，结论保持</a:t>
            </a:r>
            <a:r>
              <a:rPr lang="en-US" sz="105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待验证</a:t>
            </a:r>
            <a:r>
              <a:rPr lang="en-US" sz="1050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，不升格、不隐藏。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多智能体可信研判与证据链溯源系统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34D399' }} /&gt;&#10;      &lt;Text style={{ fontSize: 15, color: '#34D399', letterSpacing: 2, fontWeight: 'bold' }}&gt;AUDITABILITY · 赛题能力 ③&lt;/Text&gt;&#10;    &lt;/Box&gt;&#10;    &lt;Text style={{ fontSize: 34, fontWeight: 'bold', color: '#EEF1F6' }}&gt;推理透明：可审计、可复现、可干预&lt;/Text&gt;&#10;  &lt;/Box&gt;&#10;&#10;  &lt;Box style={{ flex: 1, marginTop: 14, flexDirection: 'row', gap: 22 }}&gt;&#10;&#10;    &lt;Box style={{ width: 620 }}&gt;&#10;      &lt;svg width={620} height={400} viewBox='0 0 620 400'&gt;&#10;        &lt;rect x='190' y='6' width='240' height='50' rx='10' fill='#161A24' stroke='#22D3EE' strokeWidth='2' /&gt;&#10;        &lt;text x='310' y='27' fill='#EEF1F6' fontSize='14' fontWeight='bold' textAnchor='middle' fontFamily='Microsoft YaHei'&gt;根结论&lt;/text&gt;&#10;        &lt;text x='310' y='46' fill='#666D80' fontSize='11' textAnchor='middle' fontFamily='Microsoft YaHei'&gt;置信度 0.78 · 待验证&lt;/text&gt;&#10;&#10;        &lt;path d='M310 56 L310 78 M310 78 L120 78 M310 78 L310 78 M310 78 L500 78' stroke='#2C3346' strokeWidth='1.5' /&gt;&#10;        &lt;path d='M120 78 L120 100 M310 78 L310 100 M500 78 L500 100' stroke='#2C3346' strokeWidth='1.5' /&gt;&#10;&#10;        &lt;rect x='26' y='100' width='188' height='58' rx='9' fill='#161A24' stroke='#34D399' strokeWidth='1.5' /&gt;&#10;        &lt;text x='120' y='123' fill='#EEF1F6' fontSize='12.5' textAnchor='middle' fontFamily='Microsoft YaHei'&gt;中间结论 M1 · 已确证&lt;/text&gt;&#10;        &lt;text x='120' y='143' fill='#666D80' fontSize='11' textAnchor='middle' fontFamily='Microsoft YaHei'&gt;发布账号高度重合&lt;/text&gt;&#10;&#10;        &lt;rect x='216' y='100' width='188' height='58' rx='9' fill='#161A24' stroke='#FBBF24' strokeWidth='1.5' /&gt;&#10;        &lt;text x='310' y='123' fill='#EEF1F6' fontSize='12.5' textAnchor='middle' fontFamily='Microsoft YaHei'&gt;中间结论 M2 · 待验证&lt;/text&gt;&#10;        &lt;text x='310' y='143' fill='#666D80' fontSize='11' textAnchor='middle' fontFamily='Microsoft YaHei'&gt;存在统一指令下发&lt;/text&gt;&#10;&#10;        &lt;rect x='406' y='100' width='188' height='58' rx='9' fill='#161A24' stroke='#F87171' strokeWidth='1.5' /&gt;&#10;        &lt;text x='500' y='123' fill='#EEF1F6' fontSize='12.5' textAnchor='middle' fontFamily='Microsoft YaHei'&gt;中间结论 M3 · 存疑&lt;/text&gt;&#10;        &lt;text x='500' y='143' fill='#666D80' fontSize='11' textAnchor='middle' fontFamily='Microsoft YaHei'&gt;与反证 E2 冲突&lt;/text&gt;&#10;&#10;        &lt;path d='M120 158 L120 186 M310 158 L310 186 M500 158 L500 186' stroke='#2C3346' strokeWidth='1.5' /&gt;&#10;        &lt;path d='M120 186 L310 186 M310 186 L500 186' stroke='#2C3346' strokeWidth='1.5' /&gt;&#10;        &lt;path d='M310 186 L310 208' stroke='#2C3346' strokeWidth='1.5' /&gt;&#10;&#10;        &lt;rect x='120' y='208' width='380' height='52' rx='9' fill='#13161E' stroke='#665D2E' strokeWidth='1.5' strokeDasharray='5 4' /&gt;&#10;        &lt;text x='310' y='230' fill='#A4ABBD' fontSize='12.5' textAnchor='middle' fontFamily='Microsoft YaHei'&gt;缺依据节点 · 未获取到指令链路原始记录&lt;/text&gt;&#10;        &lt;text x='310' y='249' fill='#FBBF24' fontSize='11.5' textAnchor='middle' fontFamily='Microsoft YaHei'&gt;缺什么就报什么，不静默通过&lt;/text&gt;&#10;&#10;        &lt;rect x='26' y='284' width='568' height='104' rx='10' fill='#13161E' stroke='#2C3346' strokeWidth='1' strokeDasharray='5 4' /&gt;&#10;        &lt;text x='46' y='310' fill='#EEF1F6' fontSize='14' fontWeight='bold' fontFamily='Microsoft YaHei'&gt;节点四态：已确证 · 待验证 · 存疑 · 缺依据&lt;/text&gt;&#10;        &lt;text x='46' y='334' fill='#A4ABBD' fontSize='13' fontFamily='Microsoft YaHei'&gt;每个节点记录：中间结论、依据、置信度、时间戳、生成它的智能体&lt;/text&gt;&#10;        &lt;text x='46' y='356' fill='#A4ABBD' fontSize='13' fontFamily='Microsoft YaHei'&gt;节点可展开原始推理片段，复核人可逐跳核对，不跳步&lt;/text&gt;&#10;        &lt;text x='46' y='378' fill='#666D80' fontSize='12' fontFamily='Microsoft YaHei'&gt;同一份推理树支持导出为审计材料，用于事后复核与归档&lt;/text&gt;&#10;      &lt;/svg&gt;&#10;    &lt;/Box&gt;&#10;&#10;    &lt;Box style={{ flex: 1, flexDirection: 'column', justifyContent: 'center', gap: 13 }}&gt;&#10;&#10;      &lt;Box style={{ background: '#161A24', borderRadius: 12, border: '1px solid #232838', borderLeft: '3px solid #22D3EE', padding: 15 }}&gt;&#10;        &lt;Text style={{ fontSize: 17, fontWeight: 'bold', color: '#EEF1F6' }}&gt;可复现&lt;/Text&gt;&#10;        &lt;Text style={{ fontSize: 14.5, color: '#A4ABBD', lineHeight: 1.7, marginTop: 6 }}&gt;&#10;          九尺子以 8 项确定性评分打底，同输入、同配置、同版本可得到同一结论与同一分数。&#10;        &lt;/Text&gt;&#10;      &lt;/Box&gt;&#10;&#10;      &lt;Box style={{ background: '#161A24', borderRadius: 12, border: '1px solid #232838', borderLeft: '3px solid #34D399', padding: 15 }}&gt;&#10;        &lt;Text style={{ fontSize: 17, fontWeight: 'bold', color: '#EEF1F6' }}&gt;可审计&lt;/Text&gt;&#10;        &lt;Text style={{ fontSize: 14.5, color: '#A4ABBD', lineHeight: 1.7, marginTop: 6 }}&gt;&#10;          推理链与证据变更逐条写入审计日志并串成哈希链，事后篡改可被检测。&#10;        &lt;/Text&gt;&#10;      &lt;/Box&gt;&#10;&#10;      &lt;Box style={{ background: '#161A24', borderRadius: 12, border: '1px solid #232838', borderLeft: '3px solid #FBBF24', padding: 15 }}&gt;&#10;        &lt;Text style={{ fontSize: 17, fontWeight: 'bold', color: '#EEF1F6' }}&gt;可干预&lt;/Text&gt;&#10;        &lt;Text style={{ fontSize: 14.5, color: '#A4ABBD', lineHeight: 1.7, marginTop: 6 }}&gt;&#10;          复核人可排除某条证据或直接修改结论，系统随即重算并保留修改前后两版结果。&#10;        &lt;/Text&gt;&#10;      &lt;/Box&gt;&#10;&#10;      &lt;Box style={{ background: '#13161E', borderRadius: 12, border: '1px dashed #2C3346', padding: 13 }}&gt;&#10;        &lt;Text style={{ fontSize: 13.5, color: '#A4ABBD', lineHeight: 1.7 }}&gt;&#10;          证据排除采用&lt;b style={{ color: '#EEF1F6' }}&gt;软标记&lt;/b&gt;而非删除，原始证据永久保留，审计可回溯完整操作序列。&#10;        &lt;/Text&gt;&#10;      &lt;/Box&gt;&#10;&#10;    &lt;/Box&gt;&#10;&#10;  &lt;/Box&gt;&#10;&#10;  &lt;Box style={{ height: 40, flexDirection: 'row', justifyContent: 'space-between', alignItems: 'center', borderTop: '1px solid #232838' }}&gt;&#10;    &lt;Text style={{ fontSize: 14, color: '#666D80' }}&gt;ChiYu AI · 多智能体可信研判与证据链溯源系统&lt;/Text&gt;&#10;    &lt;Text style={{ fontSize: 14, color: '#666D80' }}&gt;10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AUDITABILITY · </a:t>
            </a:r>
            <a:r>
              <a:rPr lang="zh-CN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赛题能力</a:t>
            </a:r>
            <a:r>
              <a:rPr lang="en-US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 ③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推理透明：可审计、可复现、可干预</a:t>
            </a:r>
            <a:endParaRPr/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238250"/>
            <a:ext cx="5905500" cy="3810000"/>
          </a:xfrm>
          <a:prstGeom prst="rect">
            <a:avLst/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6753225" y="1790700"/>
            <a:ext cx="4857750" cy="1114425"/>
          </a:xfrm>
          <a:prstGeom prst="roundRect">
            <a:avLst>
              <a:gd name="adj" fmla="val 10256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6753225" y="1790700"/>
            <a:ext cx="4857750" cy="1114425"/>
          </a:xfrm>
          <a:custGeom>
            <a:pathLst>
              <a:path w="510" h="117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08"/>
                </a:lnTo>
                <a:cubicBezTo>
                  <a:pt x="3" y="112"/>
                  <a:pt x="6" y="116"/>
                  <a:pt x="10" y="117"/>
                </a:cubicBezTo>
                <a:cubicBezTo>
                  <a:pt x="4" y="116"/>
                  <a:pt x="0" y="111"/>
                  <a:pt x="0" y="10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896100" y="193357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可复现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96100" y="2190750"/>
            <a:ext cx="4543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九尺子以</a:t>
            </a:r>
            <a:r>
              <a:rPr lang="en-US" sz="1088">
                <a:solidFill>
                  <a:srgbClr val="A4ABBD"/>
                </a:solidFill>
                <a:latin typeface="Microsoft YaHei"/>
                <a:ea typeface="Microsoft YaHei"/>
              </a:rPr>
              <a:t> 8 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项确定性评分打底，同输入、同配置、同版本可得到同一结论与同一分数。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753225" y="3028950"/>
            <a:ext cx="4857750" cy="828675"/>
          </a:xfrm>
          <a:prstGeom prst="roundRect">
            <a:avLst>
              <a:gd name="adj" fmla="val 13793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753225" y="3028950"/>
            <a:ext cx="4857750" cy="828675"/>
          </a:xfrm>
          <a:custGeom>
            <a:pathLst>
              <a:path w="510" h="87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78"/>
                </a:lnTo>
                <a:cubicBezTo>
                  <a:pt x="3" y="82"/>
                  <a:pt x="6" y="86"/>
                  <a:pt x="10" y="87"/>
                </a:cubicBezTo>
                <a:cubicBezTo>
                  <a:pt x="4" y="86"/>
                  <a:pt x="0" y="81"/>
                  <a:pt x="0" y="7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96100" y="317182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可审计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96100" y="3429000"/>
            <a:ext cx="4543425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推理链与证据变更逐条写入审计日志并串成哈希链，事后篡改可被检测。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753225" y="3981450"/>
            <a:ext cx="4857750" cy="1114425"/>
          </a:xfrm>
          <a:prstGeom prst="roundRect">
            <a:avLst>
              <a:gd name="adj" fmla="val 10256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6753225" y="3981450"/>
            <a:ext cx="4857750" cy="1114425"/>
          </a:xfrm>
          <a:custGeom>
            <a:pathLst>
              <a:path w="510" h="117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08"/>
                </a:lnTo>
                <a:cubicBezTo>
                  <a:pt x="3" y="112"/>
                  <a:pt x="6" y="116"/>
                  <a:pt x="10" y="117"/>
                </a:cubicBezTo>
                <a:cubicBezTo>
                  <a:pt x="4" y="116"/>
                  <a:pt x="0" y="111"/>
                  <a:pt x="0" y="10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896100" y="412432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可干预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896100" y="4381500"/>
            <a:ext cx="4543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复核人可排除某条证据或直接修改结论，系统随即重算并保留修改前后两版结果。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724650" y="5219700"/>
            <a:ext cx="4857750" cy="514350"/>
          </a:xfrm>
          <a:prstGeom prst="roundRect">
            <a:avLst>
              <a:gd name="adj" fmla="val 22222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dash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48475" y="5343525"/>
            <a:ext cx="461010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13">
                <a:solidFill>
                  <a:srgbClr val="A4ABBD"/>
                </a:solidFill>
                <a:latin typeface="Microsoft YaHei"/>
                <a:ea typeface="Microsoft YaHei"/>
              </a:rPr>
              <a:t>证据排除采用</a:t>
            </a:r>
            <a:r>
              <a:rPr lang="zh-CN" sz="1013">
                <a:solidFill>
                  <a:srgbClr val="A4ABBD"/>
                </a:solidFill>
                <a:latin typeface="Microsoft YaHei"/>
                <a:ea typeface="Microsoft YaHei"/>
              </a:rPr>
              <a:t>软标记</a:t>
            </a:r>
            <a:r>
              <a:rPr lang="zh-CN" sz="1013">
                <a:solidFill>
                  <a:srgbClr val="A4ABBD"/>
                </a:solidFill>
                <a:latin typeface="Microsoft YaHei"/>
                <a:ea typeface="Microsoft YaHei"/>
              </a:rPr>
              <a:t>而非删除，原始证据永久保留，审计可回溯完整操作序列。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多智能体可信研判与证据链溯源系统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style={{ background: '#0C0E14', paddingTop: 20, paddingBottom: 20, paddingLeft: 64, paddingRight: 64, fontFamily: 'Microsoft YaHei', flexDirection: 'row', alignItems: 'center', gap: 44 }}&gt;&#10;&#10;  &lt;Box style={{ width: 400, flexDirection: 'column', justifyContent: 'center', alignItems: 'center' }}&gt;&#10;    &lt;Text style={{ fontSize: 88, fontWeight: 'bold', color: '#34D399', lineHeight: 1 }}&gt;60,290&lt;/Text&gt;&#10;    &lt;Box style={{ width: 120, height: 4, background: 'linear-gradient(135deg,#22D3EE 0%,#34D399 100%)', marginTop: 18, marginBottom: 18 }} /&gt;&#10;    &lt;Text style={{ fontSize: 19, color: '#EEF1F6', fontWeight: 'bold', textAlign: 'center', lineHeight: 1.6 }}&gt;&#10;      行源程序已写入&lt;br /&gt;软件著作权申请&#10;    &lt;/Text&gt;&#10;    &lt;Text style={{ fontSize: 14, color: '#666D80', marginTop: 14, textAlign: 'center', lineHeight: 1.7 }}&gt;&#10;      ChiYu AI 销售管理平台 V1.0&lt;br /&gt;决策管道与冲突消解模块已在生产运行&#10;    &lt;/Text&gt;&#10;  &lt;/Box&gt;&#10;&#10;  &lt;Box style={{ flex: 1, flexDirection: 'column', justifyContent: 'center' }}&gt;&#10;    &lt;Box style={{ flexDirection: 'row', alignItems: 'center', gap: 12, marginBottom: 16 }}&gt;&#10;      &lt;Box style={{ width: 36, height: 3, background: '#34D399' }} /&gt;&#10;      &lt;Text style={{ fontSize: 15, color: '#34D399', letterSpacing: 2, fontWeight: 'bold' }}&gt;TRACTION &amp;amp; VALIDATION&lt;/Text&gt;&#10;    &lt;/Box&gt;&#10;&#10;    &lt;Text style={{ fontSize: 32, fontWeight: 'bold', color: '#EEF1F6', lineHeight: 1.35, marginBottom: 22 }}&gt;&#10;      底座已经生产验证，&lt;br /&gt;研判域按三阶段推进&#10;    &lt;/Text&gt;&#10;&#10;    &lt;Box style={{ flexDirection: 'column', gap: 12 }}&gt;&#10;      &lt;Box style={{ background: '#161A24', borderRadius: 12, border: '1px solid #232838', borderLeft: '3px solid #34D399', padding: 16, flexDirection: 'row', alignItems: 'center', gap: 16 }}&gt;&#10;        &lt;Box style={{ paddingTop: 5, paddingBottom: 5, paddingLeft: 12, paddingRight: 12, borderRadius: 6, background: 'rgba(52,211,153,.14)', width: 90, alignItems: 'center' }}&gt;&#10;          &lt;Text style={{ fontSize: 13.5, color: '#34D399', fontWeight: 'bold' }}&gt;已完成&lt;/Text&gt;&#10;        &lt;/Box&gt;&#10;        &lt;Text style={{ fontSize: 15.5, color: '#A4ABBD', flex: 1, lineHeight: 1.6 }}&gt;&#10;          平台底座生产运行：多智能体编排、决策管道、冲突消解五策略、可解释推理链、事件总线与审计日志。&#10;        &lt;/Text&gt;&#10;      &lt;/Box&gt;&#10;&#10;      &lt;Box style={{ background: '#161A24', borderRadius: 12, border: '1px solid #232838', borderLeft: '3px solid #FBBF24', padding: 16, flexDirection: 'row', alignItems: 'center', gap: 16 }}&gt;&#10;        &lt;Box style={{ paddingTop: 5, paddingBottom: 5, paddingLeft: 12, paddingRight: 12, borderRadius: 6, background: 'rgba(251,191,36,.14)', width: 90, alignItems: 'center' }}&gt;&#10;          &lt;Text style={{ fontSize: 13.5, color: '#FBBF24', fontWeight: 'bold' }}&gt;进行中&lt;/Text&gt;&#10;        &lt;/Box&gt;&#10;        &lt;Text style={{ fontSize: 15.5, color: '#A4ABBD', flex: 1, lineHeight: 1.6 }}&gt;&#10;          可信研判域 PoC：三维置信度、证据图谱三级下钻、博弈对抗消解、推理树与人工重算页面。&#10;        &lt;/Text&gt;&#10;      &lt;/Box&gt;&#10;&#10;      &lt;Box style={{ background: '#161A24', borderRadius: 12, border: '1px solid #232838', borderLeft: '3px solid #60A5FA', padding: 16, flexDirection: 'row', alignItems: 'center', gap: 16 }}&gt;&#10;        &lt;Box style={{ paddingTop: 5, paddingBottom: 5, paddingLeft: 12, paddingRight: 12, borderRadius: 6, background: 'rgba(96,165,250,.14)', width: 90, alignItems: 'center' }}&gt;&#10;          &lt;Text style={{ fontSize: 13.5, color: '#60A5FA', fontWeight: 'bold' }}&gt;待实测&lt;/Text&gt;&#10;        &lt;/Box&gt;&#10;        &lt;Text style={{ fontSize: 15.5, color: '#A4ABBD', flex: 1, lineHeight: 1.6 }}&gt;&#10;          在公开研判专题上完成端到端实测，公布冲突识别率、证据覆盖率与人工复核工时变化。&#10;        &lt;/Text&gt;&#10;      &lt;/Box&gt;&#10;    &lt;/Box&gt;&#10;&#10;    &lt;Box style={{ marginTop: 16, background: '#13161E', borderRadius: 12, border: '1px dashed #2C3346', padding: 14, paddingLeft: 20, paddingRight: 20 }}&gt;&#10;      &lt;Text style={{ fontSize: 14.5, color: '#A4ABBD', lineHeight: 1.65 }}&gt;&#10;        &lt;b style={{ color: '#FBBF24' }}&gt;如实说明：&lt;/b&gt;研判域目前&lt;b style={{ color: '#EEF1F6' }}&gt;暂无第三方客户案例&lt;/b&gt;，上述指标为待实测项，我们不预先承诺具体数字。&#10;      &lt;/Text&gt;&#10;    &lt;/Box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04900" y="2047875"/>
            <a:ext cx="28289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34D399"/>
                </a:solidFill>
                <a:latin typeface="Microsoft YaHei"/>
                <a:ea typeface="Microsoft YaHei"/>
              </a:rPr>
              <a:t>60,290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1943100" y="3228975"/>
            <a:ext cx="1143000" cy="381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34D3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885950" y="3438525"/>
            <a:ext cx="1266825" cy="6953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425" b="1">
                <a:solidFill>
                  <a:srgbClr val="EEF1F6"/>
                </a:solidFill>
                <a:latin typeface="Microsoft YaHei"/>
                <a:ea typeface="Microsoft YaHei"/>
              </a:rPr>
              <a:t>行源程序已写入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425" b="1">
                <a:solidFill>
                  <a:srgbClr val="EEF1F6"/>
                </a:solidFill>
                <a:latin typeface="Microsoft YaHei"/>
                <a:ea typeface="Microsoft YaHei"/>
              </a:rPr>
              <a:t>软件著作权申请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381125" y="4267200"/>
            <a:ext cx="2266950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销售管理平台</a:t>
            </a: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 V1.0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决策管道与冲突消解模块已在生产运行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838700" y="971550"/>
            <a:ext cx="342900" cy="28575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295900" y="8953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4D399"/>
                </a:solidFill>
                <a:latin typeface="Microsoft YaHei"/>
                <a:ea typeface="Microsoft YaHei"/>
              </a:rPr>
              <a:t>TRACTION &amp; VALIDATION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838700" y="1219200"/>
            <a:ext cx="6743700" cy="9906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400" b="1">
                <a:solidFill>
                  <a:srgbClr val="EEF1F6"/>
                </a:solidFill>
                <a:latin typeface="Microsoft YaHei"/>
                <a:ea typeface="Microsoft YaHei"/>
              </a:rPr>
              <a:t>底座已经生产验证，</a:t>
            </a:r>
            <a:endParaRPr/>
          </a:p>
          <a:p>
            <a:pPr>
              <a:lnSpc>
                <a:spcPct val="135000"/>
              </a:lnSpc>
            </a:pPr>
            <a:r>
              <a:rPr lang="zh-CN" sz="2400" b="1">
                <a:solidFill>
                  <a:srgbClr val="EEF1F6"/>
                </a:solidFill>
                <a:latin typeface="Microsoft YaHei"/>
                <a:ea typeface="Microsoft YaHei"/>
              </a:rPr>
              <a:t>研判域按三阶段推进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4867275" y="2419350"/>
            <a:ext cx="6743700" cy="876300"/>
          </a:xfrm>
          <a:prstGeom prst="roundRect">
            <a:avLst>
              <a:gd name="adj" fmla="val 13043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4867275" y="2419350"/>
            <a:ext cx="6743700" cy="876300"/>
          </a:xfrm>
          <a:custGeom>
            <a:pathLst>
              <a:path w="708" h="92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83"/>
                </a:lnTo>
                <a:cubicBezTo>
                  <a:pt x="3" y="87"/>
                  <a:pt x="6" y="91"/>
                  <a:pt x="10" y="92"/>
                </a:cubicBezTo>
                <a:cubicBezTo>
                  <a:pt x="4" y="91"/>
                  <a:pt x="0" y="86"/>
                  <a:pt x="0" y="8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5019675" y="2733675"/>
            <a:ext cx="857250" cy="257175"/>
          </a:xfrm>
          <a:prstGeom prst="roundRect">
            <a:avLst>
              <a:gd name="adj" fmla="val 22222"/>
            </a:avLst>
          </a:prstGeom>
          <a:solidFill>
            <a:srgbClr val="34D399">
              <a:alpha val="14000"/>
            </a:srgbClr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257800" y="27813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34D399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29325" y="2571750"/>
            <a:ext cx="54006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A4ABBD"/>
                </a:solidFill>
                <a:latin typeface="Microsoft YaHei"/>
                <a:ea typeface="Microsoft YaHei"/>
              </a:rPr>
              <a:t>平台底座生产运行：多智能体编排、决策管道、冲突消解五策略、可解释推理链、事件总线与审计日志。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867275" y="3409950"/>
            <a:ext cx="6743700" cy="876300"/>
          </a:xfrm>
          <a:prstGeom prst="roundRect">
            <a:avLst>
              <a:gd name="adj" fmla="val 13043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4867275" y="3409950"/>
            <a:ext cx="6743700" cy="876300"/>
          </a:xfrm>
          <a:custGeom>
            <a:pathLst>
              <a:path w="708" h="92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83"/>
                </a:lnTo>
                <a:cubicBezTo>
                  <a:pt x="3" y="87"/>
                  <a:pt x="6" y="91"/>
                  <a:pt x="10" y="92"/>
                </a:cubicBezTo>
                <a:cubicBezTo>
                  <a:pt x="4" y="91"/>
                  <a:pt x="0" y="86"/>
                  <a:pt x="0" y="8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5019675" y="3724275"/>
            <a:ext cx="857250" cy="257175"/>
          </a:xfrm>
          <a:prstGeom prst="roundRect">
            <a:avLst>
              <a:gd name="adj" fmla="val 22222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257800" y="37719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BF24"/>
                </a:solidFill>
                <a:latin typeface="Microsoft YaHei"/>
                <a:ea typeface="Microsoft YaHei"/>
              </a:rPr>
              <a:t>进行中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29325" y="3562350"/>
            <a:ext cx="54006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A4ABBD"/>
                </a:solidFill>
                <a:latin typeface="Microsoft YaHei"/>
                <a:ea typeface="Microsoft YaHei"/>
              </a:rPr>
              <a:t>可信研判域</a:t>
            </a:r>
            <a:r>
              <a:rPr lang="en-US" sz="1163">
                <a:solidFill>
                  <a:srgbClr val="A4ABBD"/>
                </a:solidFill>
                <a:latin typeface="Microsoft YaHei"/>
                <a:ea typeface="Microsoft YaHei"/>
              </a:rPr>
              <a:t> PoC</a:t>
            </a:r>
            <a:r>
              <a:rPr lang="zh-CN" sz="1163">
                <a:solidFill>
                  <a:srgbClr val="A4ABBD"/>
                </a:solidFill>
                <a:latin typeface="Microsoft YaHei"/>
                <a:ea typeface="Microsoft YaHei"/>
              </a:rPr>
              <a:t>：三维置信度、证据图谱三级下钻、博弈对抗消解、推理树与人工重算页面。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867275" y="4400550"/>
            <a:ext cx="6743700" cy="876300"/>
          </a:xfrm>
          <a:prstGeom prst="roundRect">
            <a:avLst>
              <a:gd name="adj" fmla="val 13043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4867275" y="4400550"/>
            <a:ext cx="6743700" cy="876300"/>
          </a:xfrm>
          <a:custGeom>
            <a:pathLst>
              <a:path w="708" h="92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83"/>
                </a:lnTo>
                <a:cubicBezTo>
                  <a:pt x="3" y="87"/>
                  <a:pt x="6" y="91"/>
                  <a:pt x="10" y="92"/>
                </a:cubicBezTo>
                <a:cubicBezTo>
                  <a:pt x="4" y="91"/>
                  <a:pt x="0" y="86"/>
                  <a:pt x="0" y="8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60A5FA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5019675" y="4714875"/>
            <a:ext cx="857250" cy="257175"/>
          </a:xfrm>
          <a:prstGeom prst="roundRect">
            <a:avLst>
              <a:gd name="adj" fmla="val 22222"/>
            </a:avLst>
          </a:prstGeom>
          <a:solidFill>
            <a:srgbClr val="60A5FA">
              <a:alpha val="14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257800" y="47625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60A5FA"/>
                </a:solidFill>
                <a:latin typeface="Microsoft YaHei"/>
                <a:ea typeface="Microsoft YaHei"/>
              </a:rPr>
              <a:t>待实测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29325" y="4552950"/>
            <a:ext cx="54006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A4ABBD"/>
                </a:solidFill>
                <a:latin typeface="Microsoft YaHei"/>
                <a:ea typeface="Microsoft YaHei"/>
              </a:rPr>
              <a:t>在公开研判专题上完成端到端实测，公布冲突识别率、证据覆盖率与人工复核工时变化。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838700" y="5429250"/>
            <a:ext cx="6743700" cy="542925"/>
          </a:xfrm>
          <a:prstGeom prst="roundRect">
            <a:avLst>
              <a:gd name="adj" fmla="val 21053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dash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029200" y="5562600"/>
            <a:ext cx="6362700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如实说明：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研判域目前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暂无第三方客户案例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，上述指标为待实测项，我们不预先承诺具体数字。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style={{ background: '#0C0E14', paddingTop: 36, paddingBottom: 20, paddingLeft: 64, paddingRight: 64, fontFamily: 'Microsoft YaHei', flexDirection: 'column' }}&gt;&#10;&#10;  &lt;Box style={{ height: 68, flexDirection: 'column', justifyContent: 'center' }}&gt;&#10;    &lt;Box style={{ flexDirection: 'row', alignItems: 'center', gap: 12, marginBottom: 6 }}&gt;&#10;      &lt;Box style={{ width: 36, height: 3, background: '#FBBF24' }} /&gt;&#10;      &lt;Text style={{ fontSize: 15, color: '#FBBF24', letterSpacing: 2, fontWeight: 'bold' }}&gt;BENCHMARK&lt;/Text&gt;&#10;    &lt;/Box&gt;&#10;    &lt;Text style={{ fontSize: 32, fontWeight: 'bold', color: '#EEF1F6' }}&gt;对标与边界：差异在可信结构，不在模型本体&lt;/Text&gt;&#10;  &lt;/Box&gt;&#10;&#10;  &lt;Box style={{ flex: 1, marginTop: 10, flexDirection: 'column' }}&gt;&#10;&#10;    &lt;Box style={{ flexDirection: 'row', background: '#1A1F2B', borderRadius: 10, padding: 12, paddingLeft: 18, paddingRight: 18 }}&gt;&#10;      &lt;Box style={{ width: 190 }}&gt;&lt;Text style={{ fontSize: 14, color: '#666D80', fontWeight: 'bold' }}&gt;能力维度&lt;/Text&gt;&lt;/Box&gt;&#10;      &lt;Box style={{ width: 300 }}&gt;&lt;Text style={{ fontSize: 14, color: '#666D80', fontWeight: 'bold' }}&gt;通用大模型研判工具&lt;/Text&gt;&lt;/Box&gt;&#10;      &lt;Box style={{ width: 280 }}&gt;&lt;Text style={{ fontSize: 14, color: '#666D80', fontWeight: 'bold' }}&gt;传统规则引擎 / BI&lt;/Text&gt;&lt;/Box&gt;&#10;      &lt;Box style={{ flex: 1 }}&gt;&lt;Text style={{ fontSize: 14, color: '#666D80', fontWeight: 'bold' }}&gt;ChiYu AI 可信研判系统&lt;/Text&gt;&lt;/Box&gt;&#10;    &lt;/Box&gt;&#10;&#10;    &lt;Box style={{ flexDirection: 'row', borderBottom: '1px solid #232838', padding: 12, paddingLeft: 18, paddingRight: 18, alignItems: 'center' }}&gt;&#10;      &lt;Box style={{ width: 190 }}&gt;&lt;Text style={{ fontSize: 15, color: '#EEF1F6', fontWeight: 'bold' }}&gt;结论形态&lt;/Text&gt;&lt;/Box&gt;&#10;      &lt;Box style={{ width: 300 }}&gt;&lt;Text style={{ fontSize: 14, color: '#FBBF24' }}&gt;△ 生成一段文本结论即结束&lt;/Text&gt;&lt;/Box&gt;&#10;      &lt;Box style={{ width: 280 }}&gt;&lt;Text style={{ fontSize: 14, color: '#F87171' }}&gt;✗ 阈值命中的结果行&lt;/Text&gt;&lt;/Box&gt;&#10;      &lt;Box style={{ flex: 1 }}&gt;&lt;Text style={{ fontSize: 14, color: '#34D399' }}&gt;✓ 结论 + 证据链 + 推理树一并输出&lt;/Text&gt;&lt;/Box&gt;&#10;    &lt;/Box&gt;&#10;&#10;    &lt;Box style={{ flexDirection: 'row', borderBottom: '1px solid #232838', padding: 12, paddingLeft: 18, paddingRight: 18, alignItems: 'center' }}&gt;&#10;      &lt;Box style={{ width: 190 }}&gt;&lt;Text style={{ fontSize: 15, color: '#EEF1F6', fontWeight: 'bold' }}&gt;多智能体协同&lt;/Text&gt;&lt;/Box&gt;&#10;      &lt;Box style={{ width: 300 }}&gt;&lt;Text style={{ fontSize: 14, color: '#FBBF24' }}&gt;△ 单模型或固定角色对话串&lt;/Text&gt;&lt;/Box&gt;&#10;      &lt;Box style={{ width: 280 }}&gt;&lt;Text style={{ fontSize: 14, color: '#F87171' }}&gt;✗ 无&lt;/Text&gt;&lt;/Box&gt;&#10;      &lt;Box style={{ flex: 1 }}&gt;&lt;Text style={{ fontSize: 14, color: '#34D399' }}&gt;✓ 多角色并行研判 + 仲裁智能体消解&lt;/Text&gt;&lt;/Box&gt;&#10;    &lt;/Box&gt;&#10;&#10;    &lt;Box style={{ flexDirection: 'row', borderBottom: '1px solid #232838', padding: 12, paddingLeft: 18, paddingRight: 18, alignItems: 'center' }}&gt;&#10;      &lt;Box style={{ width: 190 }}&gt;&lt;Text style={{ fontSize: 15, color: '#EEF1F6', fontWeight: 'bold' }}&gt;冲突处理&lt;/Text&gt;&lt;/Box&gt;&#10;      &lt;Box style={{ width: 300 }}&gt;&lt;Text style={{ fontSize: 14, color: '#F87171' }}&gt;✗ 无显式机制，靠提示词调和&lt;/Text&gt;&lt;/Box&gt;&#10;      &lt;Box style={{ width: 280 }}&gt;&lt;Text style={{ fontSize: 14, color: '#FBBF24' }}&gt;△ 人工比对，无自动消解&lt;/Text&gt;&lt;/Box&gt;&#10;      &lt;Box style={{ flex: 1 }}&gt;&lt;Text style={{ fontSize: 14, color: '#34D399' }}&gt;✓ 冲突识别 + 五策略消解 + 分歧留档&lt;/Text&gt;&lt;/Box&gt;&#10;    &lt;/Box&gt;&#10;&#10;    &lt;Box style={{ flexDirection: 'row', borderBottom: '1px solid #232838', padding: 12, paddingLeft: 18, paddingRight: 18, alignItems: 'center' }}&gt;&#10;      &lt;Box style={{ width: 190 }}&gt;&lt;Text style={{ fontSize: 15, color: '#EEF1F6', fontWeight: 'bold' }}&gt;过程可审&lt;/Text&gt;&lt;/Box&gt;&#10;      &lt;Box style={{ width: 300 }}&gt;&lt;Text style={{ fontSize: 14, color: '#FBBF24' }}&gt;△ 只有会话记录，不可复现&lt;/Text&gt;&lt;/Box&gt;&#10;      &lt;Box style={{ width: 280 }}&gt;&lt;Text style={{ fontSize: 14, color: '#F87171' }}&gt;✗ 无推理过程可审&lt;/Text&gt;&lt;/Box&gt;&#10;      &lt;Box style={{ flex: 1 }}&gt;&lt;Text style={{ fontSize: 14, color: '#34D399' }}&gt;✓ 推理树 + 审计哈希链 + 可干预重算&lt;/Text&gt;&lt;/Box&gt;&#10;    &lt;/Box&gt;&#10;&#10;    &lt;Box style={{ flexDirection: 'row', borderBottom: '1px solid #232838', padding: 12, paddingLeft: 18, paddingRight: 18, alignItems: 'center', background: 'rgba(251,191,36,.04)' }}&gt;&#10;      &lt;Box style={{ width: 190 }}&gt;&lt;Text style={{ fontSize: 15, color: '#FBBF24', fontWeight: 'bold' }}&gt;模型本体精度&lt;/Text&gt;&lt;/Box&gt;&#10;      &lt;Box style={{ width: 300 }}&gt;&lt;Text style={{ fontSize: 14, color: '#34D399' }}&gt;✓ 头部厂商模型能力更强&lt;/Text&gt;&lt;/Box&gt;&#10;      &lt;Box style={{ width: 280 }}&gt;&lt;Text style={{ fontSize: 14, color: '#666D80' }}&gt;—&lt;/Text&gt;&lt;/Box&gt;&#10;      &lt;Box style={{ flex: 1 }}&gt;&lt;Text style={{ fontSize: 14, color: '#A4ABBD' }}&gt;△ 不宣称更强，采用接入与配置&lt;/Text&gt;&lt;/Box&gt;&#10;    &lt;/Box&gt;&#10;&#10;    &lt;Box style={{ flexDirection: 'row', borderBottom: '1px solid #232838', padding: 12, paddingLeft: 18, paddingRight: 18, alignItems: 'center', background: 'rgba(251,191,36,.04)' }}&gt;&#10;      &lt;Box style={{ width: 190 }}&gt;&lt;Text style={{ fontSize: 15, color: '#FBBF24', fontWeight: 'bold' }}&gt;行业语料规模&lt;/Text&gt;&lt;/Box&gt;&#10;      &lt;Box style={{ width: 300 }}&gt;&lt;Text style={{ fontSize: 14, color: '#A4ABBD' }}&gt;△ 通用语料广，垂直深度有限&lt;/Text&gt;&lt;/Box&gt;&#10;      &lt;Box style={{ width: 280 }}&gt;&lt;Text style={{ fontSize: 14, color: '#34D399' }}&gt;✓ 垂直机构积累更深&lt;/Text&gt;&lt;/Box&gt;&#10;      &lt;Box style={{ flex: 1 }}&gt;&lt;Text style={{ fontSize: 14, color: '#A4ABBD' }}&gt;△ 不宣称更多，用证据图谱组织存量&lt;/Text&gt;&lt;/Box&gt;&#10;    &lt;/Box&gt;&#10;&#10;    &lt;Box style={{ marginTop: 12, background: '#13161E', borderRadius: 12, border: '1px dashed #2C3346', padding: 13, paddingLeft: 20, paddingRight: 20, flexDirection: 'row', alignItems: 'center', gap: 16 }}&gt;&#10;      &lt;Box style={{ paddingTop: 4, paddingBottom: 4, paddingLeft: 12, paddingRight: 12, borderRadius: 6, background: 'rgba(251,191,36,.14)' }}&gt;&#10;        &lt;Text style={{ fontSize: 13.5, color: '#FBBF24', fontWeight: 'bold' }}&gt;主动认弱&lt;/Text&gt;&#10;      &lt;/Box&gt;&#10;      &lt;Text style={{ fontSize: 14.5, color: '#A4ABBD', flex: 1, lineHeight: 1.55 }}&gt;&#10;        模型本体能力与语料规模两项，我们&lt;b&gt;不声称领先&lt;/b&gt;——这两层的分工是接入与组织，我们的差异化在结论之上的可信结构。&#10;      &lt;/Text&gt;&#10;    &lt;/Box&gt;&#10;&#10;  &lt;/Box&gt;&#10;&#10;  &lt;Box style={{ height: 36, flexDirection: 'row', justifyContent: 'space-between', alignItems: 'center', borderTop: '1px solid #232838' }}&gt;&#10;    &lt;Text style={{ fontSize: 13.5, color: '#666D80' }}&gt;对照列为同类能力的一般特征，不针对任何特定厂商或产品 ｜ ✓ / ✗ / △ 为三态对照标记&lt;/Text&gt;&#10;    &lt;Text style={{ fontSize: 13.5, color: '#666D80' }}&gt;12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09600" y="447675"/>
            <a:ext cx="342900" cy="2857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066800" y="3714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FBBF24"/>
                </a:solidFill>
                <a:latin typeface="Microsoft YaHei"/>
                <a:ea typeface="Microsoft YaHei"/>
              </a:rPr>
              <a:t>BENCHMARK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EEF1F6"/>
                </a:solidFill>
                <a:latin typeface="Microsoft YaHei"/>
                <a:ea typeface="Microsoft YaHei"/>
              </a:rPr>
              <a:t>对标与边界：差异在可信结构，不在模型本体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1085850"/>
            <a:ext cx="10972800" cy="390525"/>
          </a:xfrm>
          <a:prstGeom prst="roundRect">
            <a:avLst>
              <a:gd name="adj" fmla="val 24390"/>
            </a:avLst>
          </a:prstGeom>
          <a:solidFill>
            <a:srgbClr val="1A1F2B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81050" y="12001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66D80"/>
                </a:solidFill>
                <a:latin typeface="Microsoft YaHei"/>
                <a:ea typeface="Microsoft YaHei"/>
              </a:rPr>
              <a:t>能力维度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2590800" y="12001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66D80"/>
                </a:solidFill>
                <a:latin typeface="Microsoft YaHei"/>
                <a:ea typeface="Microsoft YaHei"/>
              </a:rPr>
              <a:t>通用大模型研判工具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448300" y="12001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66D80"/>
                </a:solidFill>
                <a:latin typeface="Microsoft YaHei"/>
                <a:ea typeface="Microsoft YaHei"/>
              </a:rPr>
              <a:t>传统规则引擎</a:t>
            </a:r>
            <a:r>
              <a:rPr lang="en-US" sz="1050" b="1">
                <a:solidFill>
                  <a:srgbClr val="666D80"/>
                </a:solidFill>
                <a:latin typeface="Microsoft YaHei"/>
                <a:ea typeface="Microsoft YaHei"/>
              </a:rPr>
              <a:t> / BI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115300" y="120015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66D80"/>
                </a:solidFill>
                <a:latin typeface="Microsoft YaHei"/>
                <a:ea typeface="Microsoft YaHei"/>
              </a:rPr>
              <a:t>ChiYu AI </a:t>
            </a:r>
            <a:r>
              <a:rPr lang="zh-CN" sz="1050" b="1">
                <a:solidFill>
                  <a:srgbClr val="666D80"/>
                </a:solidFill>
                <a:latin typeface="Microsoft YaHei"/>
                <a:ea typeface="Microsoft YaHei"/>
              </a:rPr>
              <a:t>可信研判系统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1476375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81050" y="159067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结论形态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2590800" y="16002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BBF24"/>
                </a:solidFill>
                <a:latin typeface="Microsoft YaHei"/>
                <a:ea typeface="Microsoft YaHei"/>
              </a:rPr>
              <a:t>△ </a:t>
            </a:r>
            <a:r>
              <a:rPr lang="zh-CN" sz="1050">
                <a:solidFill>
                  <a:srgbClr val="FBBF24"/>
                </a:solidFill>
                <a:latin typeface="Microsoft YaHei"/>
                <a:ea typeface="Microsoft YaHei"/>
              </a:rPr>
              <a:t>生成一段文本结论即结束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448300" y="160020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87171"/>
                </a:solidFill>
                <a:latin typeface="Microsoft YaHei"/>
                <a:ea typeface="Microsoft YaHei"/>
              </a:rPr>
              <a:t>✗ </a:t>
            </a:r>
            <a:r>
              <a:rPr lang="zh-CN" sz="1050">
                <a:solidFill>
                  <a:srgbClr val="F87171"/>
                </a:solidFill>
                <a:latin typeface="Microsoft YaHei"/>
                <a:ea typeface="Microsoft YaHei"/>
              </a:rPr>
              <a:t>阈值命中的结果行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115300" y="160020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结论</a:t>
            </a: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证据链</a:t>
            </a: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推理树一并输出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09600" y="1885950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81050" y="20002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多智能体协同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2590800" y="20097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BBF24"/>
                </a:solidFill>
                <a:latin typeface="Microsoft YaHei"/>
                <a:ea typeface="Microsoft YaHei"/>
              </a:rPr>
              <a:t>△ </a:t>
            </a:r>
            <a:r>
              <a:rPr lang="zh-CN" sz="1050">
                <a:solidFill>
                  <a:srgbClr val="FBBF24"/>
                </a:solidFill>
                <a:latin typeface="Microsoft YaHei"/>
                <a:ea typeface="Microsoft YaHei"/>
              </a:rPr>
              <a:t>单模型或固定角色对话串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448300" y="20097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87171"/>
                </a:solidFill>
                <a:latin typeface="Microsoft YaHei"/>
                <a:ea typeface="Microsoft YaHei"/>
              </a:rPr>
              <a:t>✗ </a:t>
            </a:r>
            <a:r>
              <a:rPr lang="zh-CN" sz="1050">
                <a:solidFill>
                  <a:srgbClr val="F87171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115300" y="2009775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多角色并行研判</a:t>
            </a: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仲裁智能体消解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2295525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81050" y="240982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冲突处理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2590800" y="24193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87171"/>
                </a:solidFill>
                <a:latin typeface="Microsoft YaHei"/>
                <a:ea typeface="Microsoft YaHei"/>
              </a:rPr>
              <a:t>✗ </a:t>
            </a:r>
            <a:r>
              <a:rPr lang="zh-CN" sz="1050">
                <a:solidFill>
                  <a:srgbClr val="F87171"/>
                </a:solidFill>
                <a:latin typeface="Microsoft YaHei"/>
                <a:ea typeface="Microsoft YaHei"/>
              </a:rPr>
              <a:t>无显式机制，靠提示词调和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448300" y="24193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BBF24"/>
                </a:solidFill>
                <a:latin typeface="Microsoft YaHei"/>
                <a:ea typeface="Microsoft YaHei"/>
              </a:rPr>
              <a:t>△ </a:t>
            </a:r>
            <a:r>
              <a:rPr lang="zh-CN" sz="1050">
                <a:solidFill>
                  <a:srgbClr val="FBBF24"/>
                </a:solidFill>
                <a:latin typeface="Microsoft YaHei"/>
                <a:ea typeface="Microsoft YaHei"/>
              </a:rPr>
              <a:t>人工比对，无自动消解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115300" y="241935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冲突识别</a:t>
            </a: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五策略消解</a:t>
            </a: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分歧留档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" y="2705100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81050" y="281940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EF1F6"/>
                </a:solidFill>
                <a:latin typeface="Microsoft YaHei"/>
                <a:ea typeface="Microsoft YaHei"/>
              </a:rPr>
              <a:t>过程可审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590800" y="28289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BBF24"/>
                </a:solidFill>
                <a:latin typeface="Microsoft YaHei"/>
                <a:ea typeface="Microsoft YaHei"/>
              </a:rPr>
              <a:t>△ </a:t>
            </a:r>
            <a:r>
              <a:rPr lang="zh-CN" sz="1050">
                <a:solidFill>
                  <a:srgbClr val="FBBF24"/>
                </a:solidFill>
                <a:latin typeface="Microsoft YaHei"/>
                <a:ea typeface="Microsoft YaHei"/>
              </a:rPr>
              <a:t>只有会话记录，不可复现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448300" y="282892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87171"/>
                </a:solidFill>
                <a:latin typeface="Microsoft YaHei"/>
                <a:ea typeface="Microsoft YaHei"/>
              </a:rPr>
              <a:t>✗ </a:t>
            </a:r>
            <a:r>
              <a:rPr lang="zh-CN" sz="1050">
                <a:solidFill>
                  <a:srgbClr val="F87171"/>
                </a:solidFill>
                <a:latin typeface="Microsoft YaHei"/>
                <a:ea typeface="Microsoft YaHei"/>
              </a:rPr>
              <a:t>无推理过程可审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115300" y="2828925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推理树</a:t>
            </a: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审计哈希链</a:t>
            </a: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可干预重算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3114675"/>
            <a:ext cx="10972800" cy="409575"/>
          </a:xfrm>
          <a:prstGeom prst="rect">
            <a:avLst/>
          </a:prstGeom>
          <a:solidFill>
            <a:srgbClr val="FBBF24">
              <a:alpha val="4000"/>
            </a:srgbClr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609600" y="3114675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81050" y="322897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BF24"/>
                </a:solidFill>
                <a:latin typeface="Microsoft YaHei"/>
                <a:ea typeface="Microsoft YaHei"/>
              </a:rPr>
              <a:t>模型本体精度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2590800" y="32385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头部厂商模型能力更强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448300" y="323850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666D80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115300" y="323850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4ABBD"/>
                </a:solidFill>
                <a:latin typeface="Microsoft YaHei"/>
                <a:ea typeface="Microsoft YaHei"/>
              </a:rPr>
              <a:t>△ 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不宣称更强，采用接入与配置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3524250"/>
            <a:ext cx="10972800" cy="409575"/>
          </a:xfrm>
          <a:prstGeom prst="rect">
            <a:avLst/>
          </a:prstGeom>
          <a:solidFill>
            <a:srgbClr val="FBBF24">
              <a:alpha val="4000"/>
            </a:srgbClr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609600" y="3524250"/>
            <a:ext cx="10972800" cy="419100"/>
          </a:xfrm>
          <a:custGeom>
            <a:pathLst>
              <a:path w="1152" h="44">
                <a:moveTo>
                  <a:pt x="0" y="43"/>
                </a:moveTo>
                <a:lnTo>
                  <a:pt x="1152" y="43"/>
                </a:lnTo>
                <a:lnTo>
                  <a:pt x="1152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81050" y="36385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BF24"/>
                </a:solidFill>
                <a:latin typeface="Microsoft YaHei"/>
                <a:ea typeface="Microsoft YaHei"/>
              </a:rPr>
              <a:t>行业语料规模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2590800" y="36480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4ABBD"/>
                </a:solidFill>
                <a:latin typeface="Microsoft YaHei"/>
                <a:ea typeface="Microsoft YaHei"/>
              </a:rPr>
              <a:t>△ 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通用语料广，垂直深度有限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448300" y="36480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4D399"/>
                </a:solidFill>
                <a:latin typeface="Microsoft YaHei"/>
                <a:ea typeface="Microsoft YaHei"/>
              </a:rPr>
              <a:t>✓ </a:t>
            </a:r>
            <a:r>
              <a:rPr lang="zh-CN" sz="1050">
                <a:solidFill>
                  <a:srgbClr val="34D399"/>
                </a:solidFill>
                <a:latin typeface="Microsoft YaHei"/>
                <a:ea typeface="Microsoft YaHei"/>
              </a:rPr>
              <a:t>垂直机构积累更深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115300" y="3648075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4ABBD"/>
                </a:solidFill>
                <a:latin typeface="Microsoft YaHei"/>
                <a:ea typeface="Microsoft YaHei"/>
              </a:rPr>
              <a:t>△ 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不宣称更多，用证据图谱组织存量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4048125"/>
            <a:ext cx="10972800" cy="504825"/>
          </a:xfrm>
          <a:prstGeom prst="roundRect">
            <a:avLst>
              <a:gd name="adj" fmla="val 22642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dash"/>
          </a:ln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800100" y="4181475"/>
            <a:ext cx="742950" cy="238125"/>
          </a:xfrm>
          <a:prstGeom prst="roundRect">
            <a:avLst>
              <a:gd name="adj" fmla="val 24000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14400" y="4219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BF24"/>
                </a:solidFill>
                <a:latin typeface="Microsoft YaHei"/>
                <a:ea typeface="Microsoft YaHei"/>
              </a:rPr>
              <a:t>主动认弱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695450" y="4171950"/>
            <a:ext cx="9696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模型本体能力与语料规模两项，我们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不声称领先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——这两层的分工是接入与组织，我们的差异化在结论之上的可信结构。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6324600"/>
            <a:ext cx="10972800" cy="342900"/>
          </a:xfrm>
          <a:custGeom>
            <a:pathLst>
              <a:path w="1152" h="3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508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666D80"/>
                </a:solidFill>
                <a:latin typeface="Microsoft YaHei"/>
                <a:ea typeface="Microsoft YaHei"/>
              </a:rPr>
              <a:t>对照列为同类能力的一般特征，不针对任何特定厂商或产品</a:t>
            </a:r>
            <a:r>
              <a:rPr lang="en-US" sz="1013">
                <a:solidFill>
                  <a:srgbClr val="666D80"/>
                </a:solidFill>
                <a:latin typeface="Microsoft YaHei"/>
                <a:ea typeface="Microsoft YaHei"/>
              </a:rPr>
              <a:t> </a:t>
            </a:r>
            <a:r>
              <a:rPr lang="zh-CN" sz="1013">
                <a:solidFill>
                  <a:srgbClr val="666D80"/>
                </a:solidFill>
                <a:latin typeface="Microsoft YaHei"/>
                <a:ea typeface="Microsoft YaHei"/>
              </a:rPr>
              <a:t>｜</a:t>
            </a:r>
            <a:r>
              <a:rPr lang="en-US" sz="1013">
                <a:solidFill>
                  <a:srgbClr val="666D80"/>
                </a:solidFill>
                <a:latin typeface="Microsoft YaHei"/>
                <a:ea typeface="Microsoft YaHei"/>
              </a:rPr>
              <a:t> ✓ / ✗ / △ </a:t>
            </a:r>
            <a:r>
              <a:rPr lang="zh-CN" sz="1013">
                <a:solidFill>
                  <a:srgbClr val="666D80"/>
                </a:solidFill>
                <a:latin typeface="Microsoft YaHei"/>
                <a:ea typeface="Microsoft YaHei"/>
              </a:rPr>
              <a:t>为三态对照标记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144250" y="6419850"/>
            <a:ext cx="43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666D80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2" name="" descr="&lt;Slide style={{ background: '#0C0E14', paddingTop: 40, paddingBottom: 20, paddingLeft: 64, paddingRight: 64, fontFamily: 'Microsoft YaHei', flexDirection: 'column' }}&gt;&#10;&#10;  &lt;Box style={{ height: 76, flexDirection: 'column', justifyContent: 'center' }}&gt;&#10;    &lt;Box style={{ flexDirection: 'row', alignItems: 'center', gap: 12, marginBottom: 8 }}&gt;&#10;      &lt;Box style={{ width: 36, height: 3, background: '#22D3EE' }} /&gt;&#10;      &lt;Text style={{ fontSize: 15, color: '#22D3EE', letterSpacing: 2, fontWeight: 'bold' }}&gt;TEAM &amp;amp; IP&lt;/Text&gt;&#10;    &lt;/Box&gt;&#10;    &lt;Text style={{ fontSize: 34, fontWeight: 'bold', color: '#EEF1F6' }}&gt;团队、知识产权与主动声明的边界&lt;/Text&gt;&#10;  &lt;/Box&gt;&#10;&#10;  &lt;Box style={{ flex: 1, marginTop: 14, flexDirection: 'row', gap: 22 }}&gt;&#10;&#10;    &lt;Box style={{ flex: 1, flexDirection: 'column', justifyContent: 'center', gap: 14 }}&gt;&#10;      &lt;Text style={{ fontSize: 15, color: '#666D80', fontWeight: 'bold', letterSpacing: 2 }}&gt;团队构成&lt;/Text&gt;&#10;&#10;      &lt;Box style={{ background: '#161A24', borderRadius: 12, border: '1px solid #232838', padding: 18 }}&gt;&#10;        &lt;Box style={{ flexDirection: 'row', alignItems: 'center', gap: 12 }}&gt;&#10;          &lt;Text style={{ fontSize: 17, fontWeight: 'bold', color: '#EEF1F6' }}&gt;平台与架构&lt;/Text&gt;&#10;          &lt;Box style={{ paddingTop: 3, paddingBottom: 3, paddingLeft: 10, paddingRight: 10, borderRadius: 5, background: 'rgba(251,191,36,.14)' }}&gt;&#10;            &lt;Text style={{ fontSize: 12.5, color: '#FBBF24', fontWeight: 'bold' }}&gt;[待补充]&lt;/Text&gt;&#10;          &lt;/Box&gt;&#10;        &lt;/Box&gt;&#10;        &lt;Text style={{ fontSize: 14.5, color: '#A4ABBD', lineHeight: 1.7, marginTop: 8 }}&gt;&#10;          负责整体架构、多智能体编排、决策管道与冲突消解机制的设计与实现。&#10;        &lt;/Text&gt;&#10;      &lt;/Box&gt;&#10;&#10;      &lt;Box style={{ background: '#161A24', borderRadius: 12, border: '1px solid #232838', padding: 18 }}&gt;&#10;        &lt;Box style={{ flexDirection: 'row', alignItems: 'center', gap: 12 }}&gt;&#10;          &lt;Text style={{ fontSize: 17, fontWeight: 'bold', color: '#EEF1F6' }}&gt;算法与可信度量&lt;/Text&gt;&#10;          &lt;Box style={{ paddingTop: 3, paddingBottom: 3, paddingLeft: 10, paddingRight: 10, borderRadius: 5, background: 'rgba(251,191,36,.14)' }}&gt;&#10;            &lt;Text style={{ fontSize: 12.5, color: '#FBBF24', fontWeight: 'bold' }}&gt;[待补充]&lt;/Text&gt;&#10;          &lt;/Box&gt;&#10;        &lt;/Box&gt;&#10;        &lt;Text style={{ fontSize: 14.5, color: '#A4ABBD', lineHeight: 1.7, marginTop: 8 }}&gt;&#10;          负责三维置信度模型、证据强度算法、因果校验与九尺子评分的实现与校验。&#10;        &lt;/Text&gt;&#10;      &lt;/Box&gt;&#10;&#10;      &lt;Box style={{ background: '#161A24', borderRadius: 12, border: '1px solid #232838', padding: 18 }}&gt;&#10;        &lt;Box style={{ flexDirection: 'row', alignItems: 'center', gap: 12 }}&gt;&#10;          &lt;Text style={{ fontSize: 17, fontWeight: 'bold', color: '#EEF1F6' }}&gt;行业与合规&lt;/Text&gt;&#10;          &lt;Box style={{ paddingTop: 3, paddingBottom: 3, paddingLeft: 10, paddingRight: 10, borderRadius: 5, background: 'rgba(251,191,36,.14)' }}&gt;&#10;            &lt;Text style={{ fontSize: 12.5, color: '#FBBF24', fontWeight: 'bold' }}&gt;[待补充]&lt;/Text&gt;&#10;          &lt;/Box&gt;&#10;        &lt;/Box&gt;&#10;        &lt;Text style={{ fontSize: 14.5, color: '#A4ABBD', lineHeight: 1.7, marginTop: 8 }}&gt;&#10;          负责研判场景定义、行业判据编制、数据合规与人工复核流程设计。&#10;        &lt;/Text&gt;&#10;      &lt;/Box&gt;&#10;    &lt;/Box&gt;&#10;&#10;    &lt;Box style={{ width: 520, flexDirection: 'column', justifyContent: 'center', gap: 14 }}&gt;&#10;      &lt;Text style={{ fontSize: 15, color: '#666D80', fontWeight: 'bold', letterSpacing: 2 }}&gt;知识产权&lt;/Text&gt;&#10;&#10;      &lt;Box style={{ background: '#161A24', borderRadius: 12, border: '1px solid #232838', borderLeft: '3px solid #34D399', padding: 16 }}&gt;&#10;        &lt;Text style={{ fontSize: 16.5, fontWeight: 'bold', color: '#EEF1F6' }}&gt;软件著作权 · V1.0&lt;/Text&gt;&#10;        &lt;Text style={{ fontSize: 14.5, color: '#A4ABBD', lineHeight: 1.7, marginTop: 7 }}&gt;&#10;          ChiYu AI 平台 V1.0 已申请软件著作权，源程序 60,290 行，含决策管道与冲突消解模块。&#10;        &lt;/Text&gt;&#10;      &lt;/Box&gt;&#10;&#10;      &lt;Box style={{ background: '#161A24', borderRadius: 12, border: '1px solid #232838', borderLeft: '3px solid #FBBF24', padding: 16 }}&gt;&#10;        &lt;Text style={{ fontSize: 16.5, fontWeight: 'bold', color: '#EEF1F6' }}&gt;发明专利 · 5 件交底&lt;/Text&gt;&#10;        &lt;Text style={{ fontSize: 14.5, color: '#A4ABBD', lineHeight: 1.7, marginTop: 7 }}&gt;&#10;          围绕记忆治理、认知决策、冲突消解、写库即构建等平台通用能力形成交底材料，分批递交中。&#10;        &lt;/Text&gt;&#10;      &lt;/Box&gt;&#10;&#10;      &lt;Box style={{ background: '#161A24', borderRadius: 12, border: '1px solid #232838', borderLeft: '3px solid #60A5FA', padding: 16 }}&gt;&#10;        &lt;Text style={{ fontSize: 16.5, fontWeight: 'bold', color: '#EEF1F6' }}&gt;商标 · 状态待核实&lt;/Text&gt;&#10;        &lt;Text style={{ fontSize: 14.5, color: '#A4ABBD', lineHeight: 1.7, marginTop: 7 }}&gt;&#10;          &quot;ChiYu AI&quot; 商标注册状态以商标局查询结果为准；未核准前一律表述为&quot;申请中&quot;。&#10;        &lt;/Text&gt;&#10;      &lt;/Box&gt;&#10;&#10;      &lt;Box style={{ background: '#13161E', borderRadius: 12, border: '1px dashed #2C3346', padding: 14 }}&gt;&#10;        &lt;Text style={{ fontSize: 14, color: '#A4ABBD', lineHeight: 1.75 }}&gt;&#10;          边界声明：&lt;b style={{ color: '#EEF1F6' }}&gt;不自动处置&lt;/b&gt;（结论经人工复核闸）、&lt;b style={{ color: '#EEF1F6' }}&gt;不覆盖分歧&lt;/b&gt;（少数意见留档）、&lt;b style={{ color: '#EEF1F6' }}&gt;不虚构实测&lt;/b&gt;（指标待实测公布）。&#10;        &lt;/Text&gt;&#10;      &lt;/Box&gt;&#10;    &lt;/Box&gt;&#10;&#10;  &lt;/Box&gt;&#10;&#10;  &lt;Box style={{ height: 40, flexDirection: 'row', justifyContent: 'space-between', alignItems: 'center', borderTop: '1px solid #232838' }}&gt;&#10;    &lt;Text style={{ fontSize: 14, color: '#666D80' }}&gt;ChiYu AI · 多智能体可信研判与证据链溯源系统&lt;/Text&gt;&#10;    &lt;Text style={{ fontSize: 14, color: '#666D80' }}&gt;13 / 14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609600" y="504825"/>
            <a:ext cx="342900" cy="28575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66800" y="428625"/>
            <a:ext cx="962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22D3EE"/>
                </a:solidFill>
                <a:latin typeface="Microsoft YaHei"/>
                <a:ea typeface="Microsoft YaHei"/>
              </a:rPr>
              <a:t>TEAM &amp; IP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EF1F6"/>
                </a:solidFill>
                <a:latin typeface="Microsoft YaHei"/>
                <a:ea typeface="Microsoft YaHei"/>
              </a:rPr>
              <a:t>团队、知识产权与主动声明的边界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581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666D80"/>
                </a:solidFill>
                <a:latin typeface="Microsoft YaHei"/>
                <a:ea typeface="Microsoft YaHei"/>
              </a:rPr>
              <a:t>团队构成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2428875"/>
            <a:ext cx="5810250" cy="904875"/>
          </a:xfrm>
          <a:prstGeom prst="roundRect">
            <a:avLst>
              <a:gd name="adj" fmla="val 12632"/>
            </a:avLst>
          </a:prstGeom>
          <a:solidFill>
            <a:srgbClr val="161A24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81050" y="26003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平台与架构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1704975" y="2600325"/>
            <a:ext cx="647700" cy="200025"/>
          </a:xfrm>
          <a:prstGeom prst="roundRect">
            <a:avLst>
              <a:gd name="adj" fmla="val 23810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800225" y="26289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BF24"/>
                </a:solidFill>
                <a:latin typeface="Microsoft YaHei"/>
                <a:ea typeface="Microsoft YaHei"/>
              </a:rPr>
              <a:t>[</a:t>
            </a:r>
            <a:r>
              <a:rPr lang="zh-CN" sz="938" b="1">
                <a:solidFill>
                  <a:srgbClr val="FBBF24"/>
                </a:solidFill>
                <a:latin typeface="Microsoft YaHei"/>
                <a:ea typeface="Microsoft YaHei"/>
              </a:rPr>
              <a:t>待补充</a:t>
            </a:r>
            <a:r>
              <a:rPr lang="en-US" sz="938" b="1">
                <a:solidFill>
                  <a:srgbClr val="FBBF24"/>
                </a:solidFill>
                <a:latin typeface="Microsoft YaHei"/>
                <a:ea typeface="Microsoft YaHei"/>
              </a:rPr>
              <a:t>]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81050" y="2876550"/>
            <a:ext cx="5467350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负责整体架构、多智能体编排、决策管道与冲突消解机制的设计与实现。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3467100"/>
            <a:ext cx="5810250" cy="904875"/>
          </a:xfrm>
          <a:prstGeom prst="roundRect">
            <a:avLst>
              <a:gd name="adj" fmla="val 12632"/>
            </a:avLst>
          </a:prstGeom>
          <a:solidFill>
            <a:srgbClr val="161A24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81050" y="36385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算法与可信度量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2028825" y="3638550"/>
            <a:ext cx="647700" cy="200025"/>
          </a:xfrm>
          <a:prstGeom prst="roundRect">
            <a:avLst>
              <a:gd name="adj" fmla="val 23810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2124075" y="3667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BF24"/>
                </a:solidFill>
                <a:latin typeface="Microsoft YaHei"/>
                <a:ea typeface="Microsoft YaHei"/>
              </a:rPr>
              <a:t>[</a:t>
            </a:r>
            <a:r>
              <a:rPr lang="zh-CN" sz="938" b="1">
                <a:solidFill>
                  <a:srgbClr val="FBBF24"/>
                </a:solidFill>
                <a:latin typeface="Microsoft YaHei"/>
                <a:ea typeface="Microsoft YaHei"/>
              </a:rPr>
              <a:t>待补充</a:t>
            </a:r>
            <a:r>
              <a:rPr lang="en-US" sz="938" b="1">
                <a:solidFill>
                  <a:srgbClr val="FBBF24"/>
                </a:solidFill>
                <a:latin typeface="Microsoft YaHei"/>
                <a:ea typeface="Microsoft YaHei"/>
              </a:rPr>
              <a:t>]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81050" y="3914775"/>
            <a:ext cx="5467350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负责三维置信度模型、证据强度算法、因果校验与九尺子评分的实现与校验。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4505325"/>
            <a:ext cx="5810250" cy="904875"/>
          </a:xfrm>
          <a:prstGeom prst="roundRect">
            <a:avLst>
              <a:gd name="adj" fmla="val 12632"/>
            </a:avLst>
          </a:prstGeom>
          <a:solidFill>
            <a:srgbClr val="161A24"/>
          </a:solidFill>
          <a:ln w="12700">
            <a:solidFill>
              <a:srgbClr val="232838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81050" y="46767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EF1F6"/>
                </a:solidFill>
                <a:latin typeface="Microsoft YaHei"/>
                <a:ea typeface="Microsoft YaHei"/>
              </a:rPr>
              <a:t>行业与合规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1704975" y="4676775"/>
            <a:ext cx="647700" cy="200025"/>
          </a:xfrm>
          <a:prstGeom prst="roundRect">
            <a:avLst>
              <a:gd name="adj" fmla="val 23810"/>
            </a:avLst>
          </a:prstGeom>
          <a:solidFill>
            <a:srgbClr val="FBBF24">
              <a:alpha val="14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800225" y="47053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BF24"/>
                </a:solidFill>
                <a:latin typeface="Microsoft YaHei"/>
                <a:ea typeface="Microsoft YaHei"/>
              </a:rPr>
              <a:t>[</a:t>
            </a:r>
            <a:r>
              <a:rPr lang="zh-CN" sz="938" b="1">
                <a:solidFill>
                  <a:srgbClr val="FBBF24"/>
                </a:solidFill>
                <a:latin typeface="Microsoft YaHei"/>
                <a:ea typeface="Microsoft YaHei"/>
              </a:rPr>
              <a:t>待补充</a:t>
            </a:r>
            <a:r>
              <a:rPr lang="en-US" sz="938" b="1">
                <a:solidFill>
                  <a:srgbClr val="FBBF24"/>
                </a:solidFill>
                <a:latin typeface="Microsoft YaHei"/>
                <a:ea typeface="Microsoft YaHei"/>
              </a:rPr>
              <a:t>]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81050" y="4953000"/>
            <a:ext cx="5467350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负责研判场景定义、行业判据编制、数据合规与人工复核流程设计。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629400" y="12954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666D80"/>
                </a:solidFill>
                <a:latin typeface="Microsoft YaHei"/>
                <a:ea typeface="Microsoft YaHei"/>
              </a:rPr>
              <a:t>知识产权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657975" y="1600200"/>
            <a:ext cx="4953000" cy="1133475"/>
          </a:xfrm>
          <a:prstGeom prst="roundRect">
            <a:avLst>
              <a:gd name="adj" fmla="val 1008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657975" y="1600200"/>
            <a:ext cx="4953000" cy="1133475"/>
          </a:xfrm>
          <a:custGeom>
            <a:pathLst>
              <a:path w="520" h="119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10"/>
                </a:lnTo>
                <a:cubicBezTo>
                  <a:pt x="3" y="114"/>
                  <a:pt x="6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4D399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10375" y="1752600"/>
            <a:ext cx="4619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EF1F6"/>
                </a:solidFill>
                <a:latin typeface="Microsoft YaHei"/>
                <a:ea typeface="Microsoft YaHei"/>
              </a:rPr>
              <a:t>软件著作权</a:t>
            </a:r>
            <a:r>
              <a:rPr lang="en-US" sz="1238" b="1">
                <a:solidFill>
                  <a:srgbClr val="EEF1F6"/>
                </a:solidFill>
                <a:latin typeface="Microsoft YaHei"/>
                <a:ea typeface="Microsoft YaHei"/>
              </a:rPr>
              <a:t> · V1.0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810375" y="2009775"/>
            <a:ext cx="4619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88">
                <a:solidFill>
                  <a:srgbClr val="A4ABBD"/>
                </a:solidFill>
                <a:latin typeface="Microsoft YaHei"/>
                <a:ea typeface="Microsoft YaHei"/>
              </a:rPr>
              <a:t>ChiYu AI 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平台</a:t>
            </a:r>
            <a:r>
              <a:rPr lang="en-US" sz="1088">
                <a:solidFill>
                  <a:srgbClr val="A4ABBD"/>
                </a:solidFill>
                <a:latin typeface="Microsoft YaHei"/>
                <a:ea typeface="Microsoft YaHei"/>
              </a:rPr>
              <a:t> V1.0 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已申请软件著作权，源程序</a:t>
            </a:r>
            <a:r>
              <a:rPr lang="en-US" sz="1088">
                <a:solidFill>
                  <a:srgbClr val="A4ABBD"/>
                </a:solidFill>
                <a:latin typeface="Microsoft YaHei"/>
                <a:ea typeface="Microsoft YaHei"/>
              </a:rPr>
              <a:t> 60,290 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行，含决策管道与冲突消解模块。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657975" y="2867025"/>
            <a:ext cx="4953000" cy="1133475"/>
          </a:xfrm>
          <a:prstGeom prst="roundRect">
            <a:avLst>
              <a:gd name="adj" fmla="val 1008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657975" y="2867025"/>
            <a:ext cx="4953000" cy="1133475"/>
          </a:xfrm>
          <a:custGeom>
            <a:pathLst>
              <a:path w="520" h="119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10"/>
                </a:lnTo>
                <a:cubicBezTo>
                  <a:pt x="3" y="114"/>
                  <a:pt x="6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BBF24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810375" y="3019425"/>
            <a:ext cx="4619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EF1F6"/>
                </a:solidFill>
                <a:latin typeface="Microsoft YaHei"/>
                <a:ea typeface="Microsoft YaHei"/>
              </a:rPr>
              <a:t>发明专利</a:t>
            </a:r>
            <a:r>
              <a:rPr lang="en-US" sz="1238" b="1">
                <a:solidFill>
                  <a:srgbClr val="EEF1F6"/>
                </a:solidFill>
                <a:latin typeface="Microsoft YaHei"/>
                <a:ea typeface="Microsoft YaHei"/>
              </a:rPr>
              <a:t> · 5 </a:t>
            </a:r>
            <a:r>
              <a:rPr lang="zh-CN" sz="1238" b="1">
                <a:solidFill>
                  <a:srgbClr val="EEF1F6"/>
                </a:solidFill>
                <a:latin typeface="Microsoft YaHei"/>
                <a:ea typeface="Microsoft YaHei"/>
              </a:rPr>
              <a:t>件交底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810375" y="3276600"/>
            <a:ext cx="4619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围绕记忆治理、认知决策、冲突消解、写库即构建等平台通用能力形成交底材料，分批递交中。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657975" y="4133850"/>
            <a:ext cx="4953000" cy="1133475"/>
          </a:xfrm>
          <a:prstGeom prst="roundRect">
            <a:avLst>
              <a:gd name="adj" fmla="val 10084"/>
            </a:avLst>
          </a:prstGeom>
          <a:solidFill>
            <a:srgbClr val="161A24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6657975" y="4133850"/>
            <a:ext cx="4953000" cy="1133475"/>
          </a:xfrm>
          <a:custGeom>
            <a:pathLst>
              <a:path w="520" h="119">
                <a:moveTo>
                  <a:pt x="11" y="0"/>
                </a:moveTo>
                <a:cubicBezTo>
                  <a:pt x="7" y="0"/>
                  <a:pt x="3" y="4"/>
                  <a:pt x="3" y="9"/>
                </a:cubicBezTo>
                <a:lnTo>
                  <a:pt x="3" y="110"/>
                </a:lnTo>
                <a:cubicBezTo>
                  <a:pt x="3" y="114"/>
                  <a:pt x="6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60A5FA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810375" y="4286250"/>
            <a:ext cx="4619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EF1F6"/>
                </a:solidFill>
                <a:latin typeface="Microsoft YaHei"/>
                <a:ea typeface="Microsoft YaHei"/>
              </a:rPr>
              <a:t>商标</a:t>
            </a:r>
            <a:r>
              <a:rPr lang="en-US" sz="1238" b="1">
                <a:solidFill>
                  <a:srgbClr val="EEF1F6"/>
                </a:solidFill>
                <a:latin typeface="Microsoft YaHei"/>
                <a:ea typeface="Microsoft YaHei"/>
              </a:rPr>
              <a:t> · </a:t>
            </a:r>
            <a:r>
              <a:rPr lang="zh-CN" sz="1238" b="1">
                <a:solidFill>
                  <a:srgbClr val="EEF1F6"/>
                </a:solidFill>
                <a:latin typeface="Microsoft YaHei"/>
                <a:ea typeface="Microsoft YaHei"/>
              </a:rPr>
              <a:t>状态待核实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810375" y="4543425"/>
            <a:ext cx="46196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88">
                <a:solidFill>
                  <a:srgbClr val="A4ABBD"/>
                </a:solidFill>
                <a:latin typeface="Microsoft YaHei"/>
                <a:ea typeface="Microsoft YaHei"/>
              </a:rPr>
              <a:t>"ChiYu AI" 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商标注册状态以商标局查询结果为准；未核准前一律表述为</a:t>
            </a:r>
            <a:r>
              <a:rPr lang="en-US" sz="1088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申请中</a:t>
            </a:r>
            <a:r>
              <a:rPr lang="en-US" sz="1088">
                <a:solidFill>
                  <a:srgbClr val="A4ABBD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A4ABB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629400" y="5400675"/>
            <a:ext cx="4953000" cy="828675"/>
          </a:xfrm>
          <a:prstGeom prst="roundRect">
            <a:avLst>
              <a:gd name="adj" fmla="val 13793"/>
            </a:avLst>
          </a:prstGeom>
          <a:solidFill>
            <a:srgbClr val="13161E"/>
          </a:solidFill>
          <a:ln w="12700">
            <a:solidFill>
              <a:srgbClr val="2C3346"/>
            </a:solidFill>
            <a:prstDash val="dash"/>
          </a:ln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762750" y="5534025"/>
            <a:ext cx="46863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边界声明：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不自动处置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（结论经人工复核闸）、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不覆盖分歧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（少数意见留档）、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不虚构实测</a:t>
            </a:r>
            <a:r>
              <a:rPr lang="zh-CN" sz="1050">
                <a:solidFill>
                  <a:srgbClr val="A4ABBD"/>
                </a:solidFill>
                <a:latin typeface="Microsoft YaHei"/>
                <a:ea typeface="Microsoft YaHei"/>
              </a:rPr>
              <a:t>（指标待实测公布）。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62865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83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ChiYu AI · </a:t>
            </a:r>
            <a:r>
              <a:rPr lang="zh-CN" sz="1050">
                <a:solidFill>
                  <a:srgbClr val="666D80"/>
                </a:solidFill>
                <a:latin typeface="Microsoft YaHei"/>
                <a:ea typeface="Microsoft YaHei"/>
              </a:rPr>
              <a:t>多智能体可信研判与证据链溯源系统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66D80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1" name="" descr="&lt;Slide style={{ background: '#0C0E14', paddingTop: 20, paddingBottom: 20, paddingLeft: 64, paddingRight: 64, fontFamily: 'Microsoft YaHei', flexDirection: 'column', alignItems: 'center', justifyContent: 'center' }}&gt;&#10;&#10;  &lt;svg width={1086} height={44} viewBox='0 0 1086 44' style={{ position: 'absolute', top: 92, left: 64 }}&gt;&#10;    &lt;rect x='493' y='20' width='100' height='4' rx='2' fill='linear-gradient(135deg,#22D3EE 0%,#34D399 100%)' /&gt;&#10;  &lt;/svg&gt;&#10;&#10;  &lt;Text style={{ fontSize: 46, fontWeight: 'bold', color: '#EEF1F6', textAlign: 'center', lineHeight: 1.4 }}&gt;&#10;    让每一条结论都带着它的证据，&lt;br /&gt;让每一次判断都可以被复核，&lt;br /&gt;&lt;span style={{ color: '#34D399' }}&gt;让组织的研判能力可以积累&lt;/span&gt;&#10;  &lt;/Text&gt;&#10;&#10;  &lt;Box style={{ flexDirection: 'row', gap: 16, marginTop: 38 }}&gt;&#10;    &lt;Box style={{ paddingTop: 10, paddingBottom: 10, paddingLeft: 22, paddingRight: 22, borderRadius: 999, border: '1px solid #2C3346', background: 'rgba(34,211,238,.10)' }}&gt;&#10;      &lt;Text style={{ fontSize: 16, color: '#22D3EE', fontWeight: 'bold' }}&gt;可信度量 · 冲突消解 · 证据溯源 · 推理透明&lt;/Text&gt;&#10;    &lt;/Box&gt;&#10;    &lt;Box style={{ paddingTop: 10, paddingBottom: 10, paddingLeft: 22, paddingRight: 22, borderRadius: 999, border: '1px solid #2C3346' }}&gt;&#10;      &lt;Text style={{ fontSize: 16, color: '#A4ABBD', fontWeight: 'bold' }}&gt;MCP 标准接口接入第三方智能体&lt;/Text&gt;&#10;    &lt;/Box&gt;&#10;    &lt;Box style={{ paddingTop: 10, paddingBottom: 10, paddingLeft: 22, paddingRight: 22, borderRadius: 999, border: '1px solid #2C3346' }}&gt;&#10;      &lt;Text style={{ fontSize: 16, color: '#A4ABBD', fontWeight: 'bold' }}&gt;换研判域只换一份配置画像&lt;/Text&gt;&#10;    &lt;/Box&gt;&#10;  &lt;/Box&gt;&#10;&#10;  &lt;Box style={{ marginTop: 52, alignItems: 'center' }}&gt;&#10;    &lt;Text style={{ fontSize: 20, color: '#EEF1F6', fontWeight: 'bold' }}&gt;北京青羽智行科技有限公司 · ChiYu AI&lt;/Text&gt;&#10;    &lt;Text style={{ fontSize: 16, color: '#666D80', marginTop: 10 }}&gt;www.chiyuai.com ｜ 2026 年 9 月&lt;/Text&gt;&#10;  &lt;/Box&gt;&#10;&#10;  &lt;Text style={{ fontSize: 14, color: '#4B5468', marginTop: 24, textAlign: 'center' }}&gt;&#10;    本材料中的场景为能力运行逻辑推演，量化指标需实测后填充，未对外承诺&#10;  &lt;/Text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028950" y="1257300"/>
            <a:ext cx="6134100" cy="22098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3450" b="1">
                <a:solidFill>
                  <a:srgbClr val="EEF1F6"/>
                </a:solidFill>
                <a:latin typeface="Microsoft YaHei"/>
                <a:ea typeface="Microsoft YaHei"/>
              </a:rPr>
              <a:t>让每一条结论都带着它的证据，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3450" b="1">
                <a:solidFill>
                  <a:srgbClr val="EEF1F6"/>
                </a:solidFill>
                <a:latin typeface="Microsoft YaHei"/>
                <a:ea typeface="Microsoft YaHei"/>
              </a:rPr>
              <a:t>让每一次判断都可以被复核，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3450" b="1">
                <a:solidFill>
                  <a:srgbClr val="34D399"/>
                </a:solidFill>
                <a:latin typeface="Microsoft YaHei"/>
                <a:ea typeface="Microsoft YaHei"/>
              </a:rPr>
              <a:t>让组织的研判能力可以积累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1828800" y="3829050"/>
            <a:ext cx="3333750" cy="381000"/>
          </a:xfrm>
          <a:prstGeom prst="roundRect">
            <a:avLst>
              <a:gd name="adj" fmla="val 2497500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2038350" y="3924300"/>
            <a:ext cx="2914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可信度量</a:t>
            </a:r>
            <a:r>
              <a:rPr lang="en-US" sz="1200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冲突消解</a:t>
            </a:r>
            <a:r>
              <a:rPr lang="en-US" sz="1200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证据溯源</a:t>
            </a:r>
            <a:r>
              <a:rPr lang="en-US" sz="1200" b="1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推理透明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314950" y="3829050"/>
            <a:ext cx="2657475" cy="381000"/>
          </a:xfrm>
          <a:prstGeom prst="roundRect">
            <a:avLst>
              <a:gd name="adj" fmla="val 2497500"/>
            </a:avLst>
          </a:prstGeom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524500" y="3924300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A4ABBD"/>
                </a:solidFill>
                <a:latin typeface="Microsoft YaHei"/>
                <a:ea typeface="Microsoft YaHei"/>
              </a:rPr>
              <a:t>MCP </a:t>
            </a:r>
            <a:r>
              <a:rPr lang="zh-CN" sz="1200" b="1">
                <a:solidFill>
                  <a:srgbClr val="A4ABBD"/>
                </a:solidFill>
                <a:latin typeface="Microsoft YaHei"/>
                <a:ea typeface="Microsoft YaHei"/>
              </a:rPr>
              <a:t>标准接口接入第三方智能体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8124825" y="3829050"/>
            <a:ext cx="2247900" cy="381000"/>
          </a:xfrm>
          <a:prstGeom prst="roundRect">
            <a:avLst>
              <a:gd name="adj" fmla="val 2497500"/>
            </a:avLst>
          </a:prstGeom>
          <a:ln w="12700">
            <a:solidFill>
              <a:srgbClr val="2C3346"/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34375" y="392430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4ABBD"/>
                </a:solidFill>
                <a:latin typeface="Microsoft YaHei"/>
                <a:ea typeface="Microsoft YaHei"/>
              </a:rPr>
              <a:t>换研判域只换一份配置画像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448175" y="4705350"/>
            <a:ext cx="3295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EF1F6"/>
                </a:solidFill>
                <a:latin typeface="Microsoft YaHei"/>
                <a:ea typeface="Microsoft YaHei"/>
              </a:rPr>
              <a:t>北京青羽智行科技有限公司</a:t>
            </a:r>
            <a:r>
              <a:rPr lang="en-US" sz="1500" b="1">
                <a:solidFill>
                  <a:srgbClr val="EEF1F6"/>
                </a:solidFill>
                <a:latin typeface="Microsoft YaHei"/>
                <a:ea typeface="Microsoft YaHei"/>
              </a:rPr>
              <a:t> · ChiYu AI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905375" y="5029200"/>
            <a:ext cx="239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www.chiyuai.com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｜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2026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666D80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666D8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895725" y="5448300"/>
            <a:ext cx="440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B5468"/>
                </a:solidFill>
                <a:latin typeface="Microsoft YaHei"/>
                <a:ea typeface="Microsoft YaHei"/>
              </a:rPr>
              <a:t>本材料中的场景为能力运行逻辑推演，量化指标需实测后填充，未对外承诺</a:t>
            </a:r>
            <a:endParaRPr/>
          </a:p>
        </p:txBody>
      </p:sp>
      <p:pic>
        <p:nvPicPr>
          <p:cNvPr id="1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876300"/>
            <a:ext cx="10344150" cy="419100"/>
          </a:xfrm>
          <a:prstGeom prst="rect">
            <a:avLst/>
          </a:prstGeom>
          <a:ln/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2026-09-15T20:54:31Z</dcterms:created>
  <dcterms:modified xsi:type="dcterms:W3CDTF">2026-09-15T20:54:31Z</dcterms:modified>
</cp:coreProperties>
</file>