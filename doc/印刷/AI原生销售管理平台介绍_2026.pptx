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AI-NATIVE SALES EXPERT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>
                <a:solidFill>
                  <a:srgbClr val="E8EAED"/>
                </a:solidFill>
                <a:latin typeface="Microsoft YaHei"/>
              </a:rPr>
              <a:t>AI 原生销售管理助手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BBF24"/>
                </a:solidFill>
                <a:latin typeface="Microsoft YaHei"/>
              </a:rPr>
              <a:t>印刷行业 · 在 WorkBuddy 里直接对话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AA0B0"/>
                </a:solidFill>
                <a:latin typeface="Microsoft YaHei"/>
              </a:rPr>
              <a:t>不是把流程搬到线上，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9AA0B0"/>
                </a:solidFill>
                <a:latin typeface="Microsoft YaHei"/>
              </a:rPr>
              <a:t>而是让报价、跟进、复购、管理，自己推进、自己校验、自己闭环。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9AA0B0"/>
                </a:solidFill>
                <a:latin typeface="Microsoft YaHei"/>
              </a:rPr>
              <a:t>专家已上架技能市场，办公智能体一键召唤。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623560"/>
            <a:ext cx="4023360" cy="502920"/>
          </a:xfrm>
          <a:prstGeom prst="roundRect">
            <a:avLst>
              <a:gd name="adj" fmla="val 50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D3EE"/>
                </a:solidFill>
                <a:latin typeface="Microsoft YaHei"/>
              </a:rPr>
              <a:t>专家包 · 7 方法论 · 多智能体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导读 ·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从行业之痛，到根因之判，再到专家之治与价值之验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本次交流，四件事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146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22D3EE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AED"/>
                </a:solidFill>
                <a:latin typeface="Microsoft YaHei"/>
              </a:rPr>
              <a:t>客户痛点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2336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印刷销售，为什么越来越难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228600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79" y="25146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22D3EE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34290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AED"/>
                </a:solidFill>
                <a:latin typeface="Microsoft YaHei"/>
              </a:rPr>
              <a:t>问题分析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79" y="402336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传统 CRM，为何解不了这些痛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5146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22D3EE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290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AED"/>
                </a:solidFill>
                <a:latin typeface="Microsoft YaHei"/>
              </a:rPr>
              <a:t>解决方案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02336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AI 原生销售管理助手（专家包）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28600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5146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22D3EE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4290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AED"/>
                </a:solidFill>
                <a:latin typeface="Microsoft YaHei"/>
              </a:rPr>
              <a:t>客户价值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02336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痛点如何被逐一化解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01 · 客户痛点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五道关卡同时加压，传统 CRM 却帮不上忙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印刷销售管理，为什么越来越难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BBF24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EAED"/>
                </a:solidFill>
                <a:latin typeface="Microsoft YaHei"/>
              </a:rPr>
              <a:t>报价复杂易错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35808" y="22860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18688" y="25146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BBF24"/>
                </a:solidFill>
                <a:latin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297180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EAED"/>
                </a:solidFill>
                <a:latin typeface="Microsoft YaHei"/>
              </a:rPr>
              <a:t>订单信息断层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48656" y="22860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6" y="25146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BBF24"/>
                </a:solidFill>
                <a:latin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31536" y="297180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EAED"/>
                </a:solidFill>
                <a:latin typeface="Microsoft YaHei"/>
              </a:rPr>
              <a:t>利润核算滞后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61504" y="22860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4383" y="25146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BBF24"/>
                </a:solidFill>
                <a:latin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3" y="297180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EAED"/>
                </a:solidFill>
                <a:latin typeface="Microsoft YaHei"/>
              </a:rPr>
              <a:t>交期产能脱节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74352" y="22860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25146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BBF24"/>
                </a:solidFill>
                <a:latin typeface="Microsoft YaHe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297180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EAED"/>
                </a:solidFill>
                <a:latin typeface="Microsoft YaHei"/>
              </a:rPr>
              <a:t>客户资产分散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233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9AA0B0"/>
                </a:solidFill>
                <a:latin typeface="Microsoft YaHei"/>
              </a:rPr>
              <a:t>印刷品高度定制化（材质、克重、工艺、后道组合万千），依赖人工经验；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9AA0B0"/>
                </a:solidFill>
                <a:latin typeface="Microsoft YaHei"/>
              </a:rPr>
              <a:t>「报高了丢单、报低了亏本」；返工率常超 15%；利润等生产完才知道；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9AA0B0"/>
                </a:solidFill>
                <a:latin typeface="Microsoft YaHei"/>
              </a:rPr>
              <a:t>客户分散、跟进靠 Excel，人员一走客户就丢。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01 · 客户痛点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每一项都直指利润与效率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印刷销售五大核心痛点（详解）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5059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EAED"/>
                </a:solidFill>
                <a:latin typeface="Microsoft YaHei"/>
              </a:rPr>
              <a:t>报价错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44368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定制化组合万千，依赖人工估算，漏项算错损耗，「报高丢单、报低亏本」，周期长影响成交。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28600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245059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EAED"/>
                </a:solidFill>
                <a:latin typeface="Microsoft YaHei"/>
              </a:rPr>
              <a:t>订单断层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944368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工艺参数手写/Excel 流转易遗漏，生产端偏差致返工（行业返工率常超 15%）。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4048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0507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EAED"/>
                </a:solidFill>
                <a:latin typeface="Microsoft YaHei"/>
              </a:rPr>
              <a:t>利润滞后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98848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纸价波动大、损耗生产后才统计，接单时无法预判毛利，「忙季不赚钱」。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84048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400507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EAED"/>
                </a:solidFill>
                <a:latin typeface="Microsoft YaHei"/>
              </a:rPr>
              <a:t>交期冲突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498848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为抢单过度承诺，缺实时产能支撑，插单频繁、延期损信任。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39496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55955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EAED"/>
                </a:solidFill>
                <a:latin typeface="Microsoft YaHei"/>
              </a:rPr>
              <a:t>客资分散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6053328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中小客户靠 Excel/纸质，历史报价偏好未沉淀，离职即流失。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01 · 客户痛点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单点痛点积累，演变为经营层面的结构性问题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衍生管理困境：痛点之上的系统性失血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65176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AED"/>
                </a:solidFill>
                <a:latin typeface="Microsoft YaHei"/>
              </a:rPr>
              <a:t>业财数据割裂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83280"/>
            <a:ext cx="2926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合同、领料、收款不同步，管理层无法实时掌握真实盈利，决策靠滞后报表。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65176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AED"/>
                </a:solidFill>
                <a:latin typeface="Microsoft YaHei"/>
              </a:rPr>
              <a:t>非标难标准化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383280"/>
            <a:ext cx="2926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个性化需求难转标准 SKU，常现「有单无料」或呆滞积压。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37744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65176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AED"/>
                </a:solidFill>
                <a:latin typeface="Microsoft YaHei"/>
              </a:rPr>
              <a:t>价格战利润挤压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383280"/>
            <a:ext cx="2926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同质化竞争无数据支撑差异化报价，被迫低价恶性循环。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02 · 问题分析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鸿沟的本质：人驱动的流程，在复杂度面前到达极限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传统 CRM，方案与落地之间隔着三道鸿沟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65176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2D3EE"/>
                </a:solidFill>
                <a:latin typeface="Microsoft YaHei"/>
              </a:rPr>
              <a:t>场景鸿沟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83280"/>
            <a:ext cx="2926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销售场景千变万化，固定表单与工作流覆盖不了真实场景。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65176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BBF24"/>
                </a:solidFill>
                <a:latin typeface="Microsoft YaHei"/>
              </a:rPr>
              <a:t>数据鸿沟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383280"/>
            <a:ext cx="2926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只记录「发生了什么」，缺失「为什么这样决策」的上下文。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37744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65176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34D399"/>
                </a:solidFill>
                <a:latin typeface="Microsoft YaHei"/>
              </a:rPr>
              <a:t>决策鸿沟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383280"/>
            <a:ext cx="2926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CRM 不替你做判断，资深销售的判断留在人脑，无法沉淀复用。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结论：传统 CRM 把「人填表」自动化了，却没解决「人判断」的问题。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02 · 问题分析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一句话区分 AI 原生 CRM 与传统 CRM 的本质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根因：它是数据库，不是记忆系统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4937760" cy="329184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87171"/>
                </a:solidFill>
                <a:latin typeface="Microsoft YaHei"/>
              </a:rPr>
              <a:t>传统 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4572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AED"/>
                </a:solidFill>
                <a:latin typeface="Microsoft YaHei"/>
              </a:rPr>
              <a:t>· 记录「发生了什么」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AED"/>
                </a:solidFill>
                <a:latin typeface="Microsoft YaHei"/>
              </a:rPr>
              <a:t>· 状态、日志、字段填录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AED"/>
                </a:solidFill>
                <a:latin typeface="Microsoft YaHei"/>
              </a:rPr>
              <a:t>· 人负责判断，系统只负责存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AED"/>
                </a:solidFill>
                <a:latin typeface="Microsoft YaHei"/>
              </a:rPr>
              <a:t>· 越用越臃肿，不越聪明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377440"/>
            <a:ext cx="4937760" cy="329184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606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2D3EE"/>
                </a:solidFill>
                <a:latin typeface="Microsoft YaHei"/>
              </a:rPr>
              <a:t>AI 原生销售管理助手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246120"/>
            <a:ext cx="4572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AED"/>
                </a:solidFill>
                <a:latin typeface="Microsoft YaHei"/>
              </a:rPr>
              <a:t>· 记录「为什么被允许发生」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AED"/>
                </a:solidFill>
                <a:latin typeface="Microsoft YaHei"/>
              </a:rPr>
              <a:t>· 决策事件 + 先例网沉淀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AED"/>
                </a:solidFill>
                <a:latin typeface="Microsoft YaHei"/>
              </a:rPr>
              <a:t>· 智能体负责判断与执行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AED"/>
                </a:solidFill>
                <a:latin typeface="Microsoft YaHei"/>
              </a:rPr>
              <a:t>· 越用越聪明，飞轮自驱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BBF24"/>
                </a:solidFill>
                <a:latin typeface="Microsoft YaHei"/>
              </a:rPr>
              <a:t>判据：只答 What 是数据库；能答 Why 才是记忆系统。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03 · 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在 WorkBuddy 里一键召唤，让系统替销售做判断、做闭环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AI 原生销售管理助手（专家包）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4937760" cy="17373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AED"/>
                </a:solidFill>
                <a:latin typeface="Microsoft YaHei"/>
              </a:rPr>
              <a:t>能力 1 · 意图路由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一句话 → 自动分发到对应技能（查/写/风险）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4937760" cy="17373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AED"/>
                </a:solidFill>
                <a:latin typeface="Microsoft YaHei"/>
              </a:rPr>
              <a:t>能力 2 · 角色自适应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不问你是谁，按对话内容推断角色加载上下文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389120"/>
            <a:ext cx="4937760" cy="17373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4617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AED"/>
                </a:solidFill>
                <a:latin typeface="Microsoft YaHei"/>
              </a:rPr>
              <a:t>能力 3 · 7 大方法论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30352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BANT/MEDDICC/机会矩阵/角色地图/风险权衡/止损点/事实vs话术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377440"/>
            <a:ext cx="4937760" cy="17373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606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AED"/>
                </a:solidFill>
                <a:latin typeface="Microsoft YaHei"/>
              </a:rPr>
              <a:t>能力 4 · 先于提问预警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9184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链断裂/回款逾期/方案缺口，主动 SSE 推送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5C6278"/>
                </a:solidFill>
                <a:latin typeface="Microsoft YaHei"/>
              </a:rPr>
              <a:t>封装：方法论 SKILL + MCP Server + CRM 智能体包 → WorkBuddy 技能市场安装。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03 · 解决方案 · 专家能力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2B 销售每一步决策都有方法，不是拍脑袋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7 大决策方法论，固化进智能体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3317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2D3EE"/>
                </a:solidFill>
                <a:latin typeface="Microsoft YaHei"/>
              </a:rPr>
              <a:t>BANT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8529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预算/权限/需求/时间线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18211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278"/>
                </a:solidFill>
                <a:latin typeface="Microsoft YaHei"/>
              </a:rPr>
              <a:t>用途：线索初筛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9456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23317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A78BFA"/>
                </a:solidFill>
                <a:latin typeface="Microsoft YaHei"/>
              </a:rPr>
              <a:t>MEDDICC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8529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痛点/经济买家/决策标准/流程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18211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278"/>
                </a:solidFill>
                <a:latin typeface="Microsoft YaHei"/>
              </a:rPr>
              <a:t>用途：机会真假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19456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23317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60A5FA"/>
                </a:solidFill>
                <a:latin typeface="Microsoft YaHei"/>
              </a:rPr>
              <a:t>机会矩阵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8529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价值 × 赢率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318211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278"/>
                </a:solidFill>
                <a:latin typeface="Microsoft YaHei"/>
              </a:rPr>
              <a:t>用途：资源投入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7947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BBF24"/>
                </a:solidFill>
                <a:latin typeface="Microsoft YaHei"/>
              </a:rPr>
              <a:t>角色地图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31596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决策链/影响者/使用者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64515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278"/>
                </a:solidFill>
                <a:latin typeface="Microsoft YaHei"/>
              </a:rPr>
              <a:t>用途：主攻谁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65760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37947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87171"/>
                </a:solidFill>
                <a:latin typeface="Microsoft YaHei"/>
              </a:rPr>
              <a:t>风险权衡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31596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风险 × 收益/红线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64515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278"/>
                </a:solidFill>
                <a:latin typeface="Microsoft YaHei"/>
              </a:rPr>
              <a:t>用途：签不签单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365760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73568" y="37947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BBF24"/>
                </a:solidFill>
                <a:latin typeface="Microsoft YaHei"/>
              </a:rPr>
              <a:t>止损点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431596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负净值/投入预算/退出门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464515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278"/>
                </a:solidFill>
                <a:latin typeface="Microsoft YaHei"/>
              </a:rPr>
              <a:t>用途：何时退出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12064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2578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34D399"/>
                </a:solidFill>
                <a:latin typeface="Microsoft YaHei"/>
              </a:rPr>
              <a:t>事实vs话术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5779007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事实/证据/话术/异议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610819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278"/>
                </a:solidFill>
                <a:latin typeface="Microsoft YaHei"/>
              </a:rPr>
              <a:t>用途：不被忽悠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5C6278"/>
                </a:solidFill>
                <a:latin typeface="Microsoft YaHei"/>
              </a:rPr>
              <a:t>每个方法论独立 SKILL（method-*），附 registry + profiles + 评分规则，可独立调用。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03 · 解决方案 · 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对话式报价：专家按规格/成本/损耗自动测算，两方案供客户选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案例一：彩盒报价 5,000 只（两套方案 A/B）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4937760" cy="182880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2D3EE"/>
                </a:solidFill>
                <a:latin typeface="Microsoft YaHei"/>
              </a:rPr>
              <a:t>客户需求（一句话）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4572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E8EAED"/>
                </a:solidFill>
                <a:latin typeface="Microsoft YaHei"/>
              </a:rPr>
              <a:t>「彩盒 5,000 只，20×15×8cm，300g 白卡，覆哑膜，四色，模切+粘盒，杭州交货，开专票」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194560"/>
            <a:ext cx="4937760" cy="155448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331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4D399"/>
                </a:solidFill>
                <a:latin typeface="Microsoft YaHei"/>
              </a:rPr>
              <a:t>方案 A · 经济型（走量让利）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88036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AA0B0"/>
                </a:solidFill>
                <a:latin typeface="Microsoft YaHei"/>
              </a:rPr>
              <a:t>不含税 ¥1.57/只 · 价税合计 ¥8,860（13% 专票）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9AA0B0"/>
                </a:solidFill>
                <a:latin typeface="Microsoft YaHei"/>
              </a:rPr>
              <a:t>适用：预算敏感 / 首批试单 / 长期量大可谈阶梯价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840480"/>
            <a:ext cx="4937760" cy="155448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977639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BBF24"/>
                </a:solidFill>
                <a:latin typeface="Microsoft YaHei"/>
              </a:rPr>
              <a:t>方案 B · 常规商务版（含服务冗余）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52628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AA0B0"/>
                </a:solidFill>
                <a:latin typeface="Microsoft YaHei"/>
              </a:rPr>
              <a:t>不含税 ¥1.84/只 · 价税合计 ¥10,396（13% 专票）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9AA0B0"/>
                </a:solidFill>
                <a:latin typeface="Microsoft YaHei"/>
              </a:rPr>
              <a:t>适用：常规商务合作，含品质管控/优先排产/样品支持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5120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成本结构（专家可透视）：纸张 ¥4,000 + 后道 ¥1,500 + 版费 ¥800 + 运费 ¥600 = 不含税 ¥6,900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商务规则已自动附着：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· 版费归客户所有，返单不再收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· 含放损 3–5%，交付足额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· 首轮改稿免费 1 次，之后 ¥150/次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03 · 解决方案 · 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专家不等废话，主动把工艺必填项问齐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案例二：不干胶标签「一句话需求 → 缺失项自动追问补齐」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4937760" cy="182880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4D399"/>
                </a:solidFill>
                <a:latin typeface="Microsoft YaHei"/>
              </a:rPr>
              <a:t>客户微信原文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E8EAED"/>
                </a:solidFill>
                <a:latin typeface="Microsoft YaHei"/>
              </a:rPr>
              <a:t>「想做点不干胶标签，数量一万，牛皮纸材质，要覆膜，圆角，颜色四色，大概下个月要用，运费你们报进去，发票专票。」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→ 专家自动解析为结构化工艺需求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194560"/>
            <a:ext cx="4937760" cy="146304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331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4D399"/>
                </a:solidFill>
                <a:latin typeface="Microsoft YaHei"/>
              </a:rPr>
              <a:t>已明确（可直接进工艺）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88036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牛皮纸 · 覆膜 · 圆角 · 四色 CMYK · 1 万 · 专票 · 含运费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794760"/>
            <a:ext cx="4937760" cy="17373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9319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87171"/>
                </a:solidFill>
                <a:latin typeface="Microsoft YaHei"/>
              </a:rPr>
              <a:t>缺失项（自动追问，阻塞报价/排产）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480560"/>
            <a:ext cx="4572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AA0B0"/>
                </a:solidFill>
                <a:latin typeface="Microsoft YaHei"/>
              </a:rPr>
              <a:t>① 尺寸（长×宽）② 牛皮纸克重 ③ 光膜/哑膜 ④ 圆角 R 值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9AA0B0"/>
                </a:solidFill>
                <a:latin typeface="Microsoft YaHei"/>
              </a:rPr>
              <a:t>⑤ 数量单位（张/个）⑥ 是否专色 ⑦ 是否打样 ⑧ 精确交货日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FBBF24"/>
                </a:solidFill>
                <a:latin typeface="Microsoft YaHei"/>
              </a:rPr>
              <a:t>价值：一个微信来回，就把「报价前必确认」清单自动生成；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FBBF24"/>
                </a:solidFill>
                <a:latin typeface="Microsoft YaHei"/>
              </a:rPr>
              <a:t>缺尺寸可先报「参考价区间」稳住客户，注明以最终尺寸为准。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03 · 解决方案 · 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专家不等销售问，主动探测链断裂并推送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案例三：交期产能冲突 → 先于提问的预警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4937760" cy="164592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2D3EE"/>
                </a:solidFill>
                <a:latin typeface="Microsoft YaHei"/>
              </a:rPr>
              <a:t>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AED"/>
                </a:solidFill>
                <a:latin typeface="Microsoft YaHei"/>
              </a:rPr>
              <a:t>销售为抢单承诺「7 天交付」，但车间已排满；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AED"/>
                </a:solidFill>
                <a:latin typeface="Microsoft YaHei"/>
              </a:rPr>
              <a:t>商机进入机会阶段 &gt;30 天仍无技术方案；回款逾期 2 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194560"/>
            <a:ext cx="4937760" cy="274320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331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87171"/>
                </a:solidFill>
                <a:latin typeface="Microsoft YaHei"/>
              </a:rPr>
              <a:t>专家主动推送（SSE）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880360"/>
            <a:ext cx="4572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「3 条商机缺技术方案已超 30 天」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「2 笔回款逾期，需按金额与账期定催收优先级」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「交期承诺 vs 产能缺口：本周插单 1 单将挤占 A 客户排期」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→ 建议：重新核算交期 / 升级催收 / 调整排产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5C6278"/>
                </a:solidFill>
                <a:latin typeface="Microsoft YaHei"/>
              </a:rPr>
              <a:t>识别模式：商机→技术方案&gt;30 天 / 赢单前无方案 / 回款逾期 / 阶段只进不退异常。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03 · 解决方案 · 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过程有问题、结果很成功——复盘把问题变成下次盈利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案例四：礼盒订单复盘 → 经验沉淀 → 复购转化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4937760" cy="182880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BBF24"/>
                </a:solidFill>
                <a:latin typeface="Microsoft YaHei"/>
              </a:rPr>
              <a:t>复盘基本盘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4572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AED"/>
                </a:solidFill>
                <a:latin typeface="Microsoft YaHei"/>
              </a:rPr>
              <a:t>礼盒 3,000 套 · 成交 ¥12.6 万（客单价 42 元/套）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AED"/>
                </a:solidFill>
                <a:latin typeface="Microsoft YaHei"/>
              </a:rPr>
              <a:t>客户满意 + 有复购意向；过程中：改稿 3 次 + 打样返工 1 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194560"/>
            <a:ext cx="4937760" cy="274320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331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4D399"/>
                </a:solidFill>
                <a:latin typeface="Microsoft YaHei"/>
              </a:rPr>
              <a:t>专家复盘输出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880360"/>
            <a:ext cx="4572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根因：改稿没设闸门 + 签样未书面锁死（流程问题，非客户难缠）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沉淀：改稿免费 1-2 次、第 3 次起收费 + 工期顺延；签样即锁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复购：满意是「易耗资产」→ 3 天感谢预告 / 7 天翻单价 / 30 天推节日礼盒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客单价 42 元 → 同类报价锚点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04 · 客户价值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前面每一个痛，都有对应的能力来治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痛点如何被逐一化解（闭环咬合）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291840" cy="54864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9572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客户痛点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286000"/>
            <a:ext cx="3291840" cy="54864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39572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BBF24"/>
                </a:solidFill>
                <a:latin typeface="Microsoft YaHei"/>
              </a:rPr>
              <a:t>对应能力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286000"/>
            <a:ext cx="3749039" cy="54864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2395728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4D399"/>
                </a:solidFill>
                <a:latin typeface="Microsoft YaHei"/>
              </a:rPr>
              <a:t>带来的改善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3291840" cy="7132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26664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AED"/>
                </a:solidFill>
                <a:latin typeface="Microsoft YaHei"/>
              </a:rPr>
              <a:t>报价错 / 利润滞后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880360"/>
            <a:ext cx="3291840" cy="7132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026664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方法论报价测算 + 记忆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880360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026664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4D399"/>
                </a:solidFill>
                <a:latin typeface="Microsoft YaHei"/>
              </a:rPr>
              <a:t>接单即预判毛利，A/B 两方案有据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48456"/>
            <a:ext cx="3291840" cy="7132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94759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AED"/>
                </a:solidFill>
                <a:latin typeface="Microsoft YaHei"/>
              </a:rPr>
              <a:t>订单断层 / 返工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648456"/>
            <a:ext cx="3291840" cy="7132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794759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对话即捕获，意图留痕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3648456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794759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4D399"/>
                </a:solidFill>
                <a:latin typeface="Microsoft YaHei"/>
              </a:rPr>
              <a:t>工艺参数不丢，生产端零误解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416552"/>
            <a:ext cx="3291840" cy="7132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562856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AED"/>
                </a:solidFill>
                <a:latin typeface="Microsoft YaHei"/>
              </a:rPr>
              <a:t>交期冲突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416552"/>
            <a:ext cx="3291840" cy="7132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562856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crm-risk 链断裂预警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4416552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4562856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4D399"/>
                </a:solidFill>
                <a:latin typeface="Microsoft YaHei"/>
              </a:rPr>
              <a:t>产能/交期实时可视，先于提问预警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184648"/>
            <a:ext cx="3291840" cy="7132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33095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AED"/>
                </a:solidFill>
                <a:latin typeface="Microsoft YaHei"/>
              </a:rPr>
              <a:t>客资分散 / 流失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5184648"/>
            <a:ext cx="3291840" cy="7132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533095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客户记忆层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5184648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5330952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4D399"/>
                </a:solidFill>
                <a:latin typeface="Microsoft YaHei"/>
              </a:rPr>
              <a:t>历史沉淀不丢，离职带不走客户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952744"/>
            <a:ext cx="3291840" cy="7132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609904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AED"/>
                </a:solidFill>
                <a:latin typeface="Microsoft YaHei"/>
              </a:rPr>
              <a:t>销售越做越累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5952744"/>
            <a:ext cx="3291840" cy="7132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609904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多智能体 + 商机分级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9520" y="5952744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60990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4D399"/>
                </a:solidFill>
                <a:latin typeface="Microsoft YaHei"/>
              </a:rPr>
              <a:t>分级自动跑，人只管关键客户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04 · 客户价值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系统不是工具，而是会自检、会建议、会进化的销售中枢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越用越聪明：记忆飞轮 + 四重价值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4937760" cy="31089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2D3EE"/>
                </a:solidFill>
                <a:latin typeface="Microsoft YaHei"/>
              </a:rPr>
              <a:t>记忆飞轮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45720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AED"/>
                </a:solidFill>
                <a:latin typeface="Microsoft YaHei"/>
              </a:rPr>
              <a:t>捕获 Capture → 拼装 Assemble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AED"/>
                </a:solidFill>
                <a:latin typeface="Microsoft YaHei"/>
              </a:rPr>
              <a:t>→ 决策 Decide → 回流 Feedback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AED"/>
                </a:solidFill>
                <a:latin typeface="Microsoft Ya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AED"/>
                </a:solidFill>
                <a:latin typeface="Microsoft YaHei"/>
              </a:rPr>
              <a:t>每一圈，先例更丰富、判断更准、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AED"/>
                </a:solidFill>
                <a:latin typeface="Microsoft YaHei"/>
              </a:rPr>
              <a:t>人更省心。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377440"/>
            <a:ext cx="2514600" cy="146304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5603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34D399"/>
                </a:solidFill>
                <a:latin typeface="Microsoft YaHei"/>
              </a:rPr>
              <a:t>减负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10896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销售告别手工填表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2377440"/>
            <a:ext cx="2514600" cy="146304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59" y="25603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2D3EE"/>
                </a:solidFill>
                <a:latin typeface="Microsoft YaHei"/>
              </a:rPr>
              <a:t>提效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59" y="310896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报价跟进自动推进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977639"/>
            <a:ext cx="2514600" cy="146304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1605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BBF24"/>
                </a:solidFill>
                <a:latin typeface="Microsoft YaHei"/>
              </a:rPr>
              <a:t>保客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709159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客户资产不流失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3977639"/>
            <a:ext cx="2514600" cy="146304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41605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87171"/>
                </a:solidFill>
                <a:latin typeface="Microsoft YaHei"/>
              </a:rPr>
              <a:t>增收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4709159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数据支撑价值报价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04 · 客户价值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装进技能市场，办公智能体免登录调用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交付方式：在 WorkBuddy 里一键召唤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65176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22D3EE"/>
                </a:solidFill>
                <a:latin typeface="Microsoft YaHei"/>
              </a:rPr>
              <a:t>打开 WorkBuddy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83280"/>
            <a:ext cx="2926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左侧「专家 · 技能 · 连接器」进入技能市场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65176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BBF24"/>
                </a:solidFill>
                <a:latin typeface="Microsoft YaHei"/>
              </a:rPr>
              <a:t>安装「AI 原生销售管理助手」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383280"/>
            <a:ext cx="2926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搜索安装，一键召唤，开启专属对话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37744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65176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34D399"/>
                </a:solidFill>
                <a:latin typeface="Microsoft YaHei"/>
              </a:rPr>
              <a:t>自然语言干活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383280"/>
            <a:ext cx="2926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查商机 / 一句话写入 / 链预警 / 方法论评估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底层：方法论 SKILL（7 个 method-*）+ MCP Server（stdio + StreamableHTTP 双传输）+ CRM 智能体包（crm-native 编排 / crm-query 查询 / crm-write 两阶段写入 / crm-risk 预警）。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04 · 客户价值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不问你是谁，系统自推断角色并加载对应上下文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角色自适应：同一句话，不同视角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0332720" cy="713232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414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4D399"/>
                </a:solidFill>
                <a:latin typeface="Microsoft YaHei"/>
              </a:rPr>
              <a:t>销售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441448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9AA0B0"/>
                </a:solidFill>
                <a:latin typeface="Microsoft YaHei"/>
              </a:rPr>
              <a:t>「看看今天的商机」→ 待办优先级 + 超期预警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72384"/>
            <a:ext cx="10332720" cy="713232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2783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60A5FA"/>
                </a:solidFill>
                <a:latin typeface="Microsoft YaHei"/>
              </a:rPr>
              <a:t>销售经理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227832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9AA0B0"/>
                </a:solidFill>
                <a:latin typeface="Microsoft YaHei"/>
              </a:rPr>
              <a:t>「这周团队情况」→ 团队管道看板 + 低转化成员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58768"/>
            <a:ext cx="10332720" cy="713232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14215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A78BFA"/>
                </a:solidFill>
                <a:latin typeface="Microsoft YaHei"/>
              </a:rPr>
              <a:t>高管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014215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9AA0B0"/>
                </a:solidFill>
                <a:latin typeface="Microsoft YaHei"/>
              </a:rPr>
              <a:t>「华东 vs 华南签约」→ 区域对比 + 季度预测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45152"/>
            <a:ext cx="10332720" cy="713232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006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BBF24"/>
                </a:solidFill>
                <a:latin typeface="Microsoft YaHei"/>
              </a:rPr>
              <a:t>财务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8006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9AA0B0"/>
                </a:solidFill>
                <a:latin typeface="Microsoft YaHei"/>
              </a:rPr>
              <a:t>「看看逾期回款」→ 应收全景 + 催收优先级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431536"/>
            <a:ext cx="10332720" cy="713232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58698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商务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5586984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9AA0B0"/>
                </a:solidFill>
                <a:latin typeface="Microsoft YaHei"/>
              </a:rPr>
              <a:t>「哪些合同快到期」→ 到期清单 + 续约建议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结语 ·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Microsoft YaHei"/>
              </a:rPr>
              <a:t>建议下一步：用真实数据说话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从「数据库」到「记忆系统」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E8EAED"/>
                </a:solidFill>
                <a:latin typeface="Microsoft YaHei"/>
              </a:rPr>
              <a:t>先装「AI 原生销售管理助手」，用 4 周跑通「一般商机全自动闭环」——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E8EAED"/>
                </a:solidFill>
                <a:latin typeface="Microsoft YaHei"/>
              </a:rPr>
              <a:t>自动接诊、标准报价、自动跟进，让销售立刻减负。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9476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D3EE"/>
                </a:solidFill>
                <a:latin typeface="Microsoft YaHei"/>
              </a:rPr>
              <a:t>第一步 · 装专家包试跑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79476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BBF24"/>
                </a:solidFill>
                <a:latin typeface="Microsoft YaHei"/>
              </a:rPr>
              <a:t>第二步 · 4 周跑通自动闭环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79476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4D399"/>
                </a:solidFill>
                <a:latin typeface="Microsoft YaHei"/>
              </a:rPr>
              <a:t>第三步 · 铺方法论与预警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83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BBF24"/>
                </a:solidFill>
                <a:latin typeface="Microsoft YaHei"/>
              </a:rPr>
              <a:t>AI 原生销售管理助手 —— 不是把销售搬上线，而是让销售管理成为增长引擎。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